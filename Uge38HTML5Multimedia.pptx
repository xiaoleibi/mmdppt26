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1"/>
  </p:notesMasterIdLst>
  <p:sldIdLst>
    <p:sldId id="263" r:id="rId5"/>
    <p:sldId id="274" r:id="rId6"/>
    <p:sldId id="314" r:id="rId7"/>
    <p:sldId id="278" r:id="rId8"/>
    <p:sldId id="281" r:id="rId9"/>
    <p:sldId id="283" r:id="rId10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5E559A-687A-4355-B330-A63A5AD11FE2}" v="1" dt="2026-01-20T09:55:37.08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7"/>
  </p:normalViewPr>
  <p:slideViewPr>
    <p:cSldViewPr snapToGrid="0">
      <p:cViewPr varScale="1">
        <p:scale>
          <a:sx n="92" d="100"/>
          <a:sy n="92" d="100"/>
        </p:scale>
        <p:origin x="448" y="19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lei Bi" userId="S::xbi@eamv.dk::4defdd0b-eb6b-464a-acc0-49fc44ef47a7" providerId="AD" clId="Web-{ED5E559A-687A-4355-B330-A63A5AD11FE2}"/>
    <pc:docChg chg="modSld">
      <pc:chgData name="Xiaolei Bi" userId="S::xbi@eamv.dk::4defdd0b-eb6b-464a-acc0-49fc44ef47a7" providerId="AD" clId="Web-{ED5E559A-687A-4355-B330-A63A5AD11FE2}" dt="2026-01-20T09:55:37.085" v="0"/>
      <pc:docMkLst>
        <pc:docMk/>
      </pc:docMkLst>
      <pc:sldChg chg="delSp delAnim">
        <pc:chgData name="Xiaolei Bi" userId="S::xbi@eamv.dk::4defdd0b-eb6b-464a-acc0-49fc44ef47a7" providerId="AD" clId="Web-{ED5E559A-687A-4355-B330-A63A5AD11FE2}" dt="2026-01-20T09:55:37.085" v="0"/>
        <pc:sldMkLst>
          <pc:docMk/>
          <pc:sldMk cId="0" sldId="271"/>
        </pc:sldMkLst>
        <pc:picChg chg="del">
          <ac:chgData name="Xiaolei Bi" userId="S::xbi@eamv.dk::4defdd0b-eb6b-464a-acc0-49fc44ef47a7" providerId="AD" clId="Web-{ED5E559A-687A-4355-B330-A63A5AD11FE2}" dt="2026-01-20T09:55:37.085" v="0"/>
          <ac:picMkLst>
            <pc:docMk/>
            <pc:sldMk cId="0" sldId="271"/>
            <ac:picMk id="6" creationId="{69B69904-56DB-BC39-AEC1-86CBFC70D06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30D099-A020-ED4F-A94A-91073B504CB9}" type="datetimeFigureOut">
              <a:rPr lang="en-DK" smtClean="0"/>
              <a:t>16/09/2026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EF6BF-A7F8-3647-8740-75C1E63D88B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7684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007FA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007FA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007FA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007FA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850900"/>
            <a:ext cx="10388600" cy="5842000"/>
          </a:xfrm>
          <a:custGeom>
            <a:avLst/>
            <a:gdLst/>
            <a:ahLst/>
            <a:cxnLst/>
            <a:rect l="l" t="t" r="r" b="b"/>
            <a:pathLst>
              <a:path w="10388600" h="5842000">
                <a:moveTo>
                  <a:pt x="10388600" y="0"/>
                </a:moveTo>
                <a:lnTo>
                  <a:pt x="0" y="0"/>
                </a:lnTo>
                <a:lnTo>
                  <a:pt x="0" y="5842000"/>
                </a:lnTo>
                <a:lnTo>
                  <a:pt x="10388600" y="5842000"/>
                </a:lnTo>
                <a:lnTo>
                  <a:pt x="1038860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2998" y="591961"/>
            <a:ext cx="7162165" cy="1271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007FA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4465149"/>
            <a:ext cx="10388600" cy="2228215"/>
          </a:xfrm>
          <a:custGeom>
            <a:avLst/>
            <a:gdLst/>
            <a:ahLst/>
            <a:cxnLst/>
            <a:rect l="l" t="t" r="r" b="b"/>
            <a:pathLst>
              <a:path w="10388600" h="2228215">
                <a:moveTo>
                  <a:pt x="10388600" y="0"/>
                </a:moveTo>
                <a:lnTo>
                  <a:pt x="0" y="0"/>
                </a:lnTo>
                <a:lnTo>
                  <a:pt x="0" y="2227750"/>
                </a:lnTo>
                <a:lnTo>
                  <a:pt x="10388600" y="2227750"/>
                </a:lnTo>
                <a:lnTo>
                  <a:pt x="10388600" y="0"/>
                </a:lnTo>
                <a:close/>
              </a:path>
            </a:pathLst>
          </a:custGeom>
          <a:solidFill>
            <a:srgbClr val="9BAFB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3807" y="1396152"/>
            <a:ext cx="4005785" cy="209245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654B53FC-D6C0-8568-9D3D-79287368B12C}"/>
              </a:ext>
            </a:extLst>
          </p:cNvPr>
          <p:cNvSpPr txBox="1">
            <a:spLocks/>
          </p:cNvSpPr>
          <p:nvPr/>
        </p:nvSpPr>
        <p:spPr>
          <a:xfrm>
            <a:off x="698500" y="5226050"/>
            <a:ext cx="7162165" cy="127190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4100" b="1" i="0" spc="125" dirty="0">
                <a:solidFill>
                  <a:srgbClr val="007FA3"/>
                </a:solidFill>
                <a:latin typeface="Arial"/>
                <a:ea typeface="+mj-ea"/>
                <a:cs typeface="Arial"/>
              </a:rPr>
              <a:t> HTML basic  </a:t>
            </a:r>
            <a:endParaRPr lang="en-US" sz="4100" b="1" i="0" spc="130" dirty="0">
              <a:solidFill>
                <a:srgbClr val="007FA3"/>
              </a:solidFill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0312-BA39-BC17-68E9-5BBC80A97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998" y="591961"/>
            <a:ext cx="7162165" cy="630942"/>
          </a:xfrm>
        </p:spPr>
        <p:txBody>
          <a:bodyPr/>
          <a:lstStyle/>
          <a:p>
            <a:r>
              <a:rPr lang="en-GB"/>
              <a:t>B</a:t>
            </a:r>
            <a:r>
              <a:rPr lang="en-DK"/>
              <a:t>lock level html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00A79-F0CC-DE11-B9F1-9374EDA52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1107996"/>
          </a:xfrm>
        </p:spPr>
        <p:txBody>
          <a:bodyPr/>
          <a:lstStyle/>
          <a:p>
            <a:r>
              <a:rPr lang="en-GB" b="1" dirty="0"/>
              <a:t>Block-level</a:t>
            </a:r>
            <a:r>
              <a:rPr lang="en-GB" dirty="0"/>
              <a:t> = defines a larger structure or section (big boxes).</a:t>
            </a:r>
          </a:p>
          <a:p>
            <a:r>
              <a:rPr lang="en-GB" b="1" dirty="0"/>
              <a:t>Inline</a:t>
            </a:r>
            <a:r>
              <a:rPr lang="en-GB" dirty="0"/>
              <a:t> = pieces of text  </a:t>
            </a:r>
          </a:p>
          <a:p>
            <a:endParaRPr lang="en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A1DBE-F98F-1CB7-F2EE-82AE9AE274F9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2215991"/>
          </a:xfrm>
        </p:spPr>
        <p:txBody>
          <a:bodyPr/>
          <a:lstStyle/>
          <a:p>
            <a:r>
              <a:rPr lang="en-GB" b="1" dirty="0"/>
              <a:t>Structural / grouping</a:t>
            </a:r>
            <a:endParaRPr lang="en-GB" dirty="0"/>
          </a:p>
          <a:p>
            <a:r>
              <a:rPr lang="en-GB" dirty="0"/>
              <a:t>&lt;html&gt;, &lt;body&gt;, &lt;head&gt;</a:t>
            </a:r>
          </a:p>
          <a:p>
            <a:r>
              <a:rPr lang="en-GB" dirty="0"/>
              <a:t>&lt;div&gt;, &lt;section&gt;, &lt;article&gt;, &lt;aside&gt;, &lt;main&gt;, &lt;header&gt;, &lt;footer&gt;, &lt;nav&gt;</a:t>
            </a:r>
          </a:p>
          <a:p>
            <a:r>
              <a:rPr lang="en-GB" b="1" dirty="0"/>
              <a:t>Headings &amp; paragraphs</a:t>
            </a:r>
            <a:endParaRPr lang="en-GB" dirty="0"/>
          </a:p>
          <a:p>
            <a:r>
              <a:rPr lang="en-GB" dirty="0"/>
              <a:t>&lt;h1&gt;, &lt;h2&gt;, &lt;h3&gt;, &lt;h4&gt;, &lt;h5&gt;, &lt;h6&gt;</a:t>
            </a:r>
          </a:p>
          <a:p>
            <a:r>
              <a:rPr lang="en-GB" dirty="0"/>
              <a:t>&lt;p&gt;, &lt;div&gt;</a:t>
            </a:r>
          </a:p>
          <a:p>
            <a:endParaRPr lang="en-DK" dirty="0"/>
          </a:p>
        </p:txBody>
      </p:sp>
      <p:pic>
        <p:nvPicPr>
          <p:cNvPr id="5" name="Picture 2" descr="Web Development Made Easy.">
            <a:extLst>
              <a:ext uri="{FF2B5EF4-FFF2-40B4-BE49-F238E27FC236}">
                <a16:creationId xmlns:a16="http://schemas.microsoft.com/office/drawing/2014/main" id="{C649B406-C56D-D776-3442-9752817880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52" r="35100"/>
          <a:stretch>
            <a:fillRect/>
          </a:stretch>
        </p:blipFill>
        <p:spPr bwMode="auto">
          <a:xfrm>
            <a:off x="534670" y="4235450"/>
            <a:ext cx="4203585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205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8561E-ED2A-3DB0-37B8-46BF1B45D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998" y="591961"/>
            <a:ext cx="7162165" cy="630942"/>
          </a:xfrm>
        </p:spPr>
        <p:txBody>
          <a:bodyPr/>
          <a:lstStyle/>
          <a:p>
            <a:r>
              <a:rPr lang="en-GB"/>
              <a:t>K</a:t>
            </a:r>
            <a:r>
              <a:rPr lang="en-DK"/>
              <a:t>ode til Web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0A3E7-F26A-E9A4-FD11-C2539B7B9284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769441"/>
          </a:xfrm>
        </p:spPr>
        <p:txBody>
          <a:bodyPr/>
          <a:lstStyle/>
          <a:p>
            <a:r>
              <a:rPr lang="en-GB" sz="3200" dirty="0"/>
              <a:t>Inline</a:t>
            </a:r>
          </a:p>
          <a:p>
            <a:r>
              <a:rPr lang="en-GB" dirty="0"/>
              <a:t>c406</a:t>
            </a:r>
            <a:endParaRPr lang="en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CAEBC1-E4F6-5DE5-9011-16CD32C7D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8995" y="1737995"/>
            <a:ext cx="4651629" cy="769441"/>
          </a:xfrm>
        </p:spPr>
        <p:txBody>
          <a:bodyPr/>
          <a:lstStyle/>
          <a:p>
            <a:r>
              <a:rPr lang="en-GB" sz="3200" dirty="0"/>
              <a:t>Block</a:t>
            </a:r>
          </a:p>
          <a:p>
            <a:r>
              <a:rPr lang="en-GB" dirty="0"/>
              <a:t>c404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443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998DE-628E-D89D-10D7-FF9608806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998" y="591961"/>
            <a:ext cx="7162165" cy="630942"/>
          </a:xfrm>
        </p:spPr>
        <p:txBody>
          <a:bodyPr/>
          <a:lstStyle/>
          <a:p>
            <a:r>
              <a:rPr lang="en-DK"/>
              <a:t>Web media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9B131E-7BA8-E015-A701-3AB423556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998" y="1720850"/>
            <a:ext cx="9624060" cy="4431983"/>
          </a:xfrm>
        </p:spPr>
        <p:txBody>
          <a:bodyPr/>
          <a:lstStyle/>
          <a:p>
            <a:r>
              <a:rPr lang="en-GB"/>
              <a:t>Web Image  </a:t>
            </a:r>
          </a:p>
          <a:p>
            <a:endParaRPr lang="en-GB"/>
          </a:p>
          <a:p>
            <a:r>
              <a:rPr lang="en-GB"/>
              <a:t>The image formats most commonly used on websites are </a:t>
            </a:r>
          </a:p>
          <a:p>
            <a:endParaRPr lang="en-GB"/>
          </a:p>
          <a:p>
            <a:endParaRPr lang="en-GB"/>
          </a:p>
          <a:p>
            <a:r>
              <a:rPr lang="en-GB"/>
              <a:t>    JPG/JPEG:  Any program that opens .jpg can also open .jpeg.</a:t>
            </a:r>
          </a:p>
          <a:p>
            <a:endParaRPr lang="en-GB"/>
          </a:p>
          <a:p>
            <a:r>
              <a:rPr lang="en-GB"/>
              <a:t>    GIF: Graphics Interchange Format</a:t>
            </a:r>
          </a:p>
          <a:p>
            <a:endParaRPr lang="en-GB"/>
          </a:p>
          <a:p>
            <a:r>
              <a:rPr lang="en-GB"/>
              <a:t>    PNG: Portable Network Graphic</a:t>
            </a:r>
          </a:p>
          <a:p>
            <a:endParaRPr lang="en-GB"/>
          </a:p>
          <a:p>
            <a:r>
              <a:rPr lang="en-GB"/>
              <a:t>    SVG: Scalable Vector Graphic</a:t>
            </a:r>
          </a:p>
          <a:p>
            <a:r>
              <a:rPr lang="en-GB"/>
              <a:t>   </a:t>
            </a:r>
          </a:p>
          <a:p>
            <a:r>
              <a:rPr lang="en-GB"/>
              <a:t>    </a:t>
            </a:r>
          </a:p>
          <a:p>
            <a:endParaRPr lang="en-GB"/>
          </a:p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3079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556A3-86E8-5D44-C0F6-79C92A45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998" y="591961"/>
            <a:ext cx="7162165" cy="630942"/>
          </a:xfrm>
        </p:spPr>
        <p:txBody>
          <a:bodyPr/>
          <a:lstStyle/>
          <a:p>
            <a:r>
              <a:rPr lang="en-GB"/>
              <a:t>V</a:t>
            </a:r>
            <a:r>
              <a:rPr lang="en-DK"/>
              <a:t>ideo formats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0F0CCE-30CD-9FB8-281A-073389BF2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2755900"/>
            <a:ext cx="7772400" cy="201831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77E49E-DEFD-63D0-4D9C-1488DEEBA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8658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F011-367C-6348-4D0F-6CCEA5CC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998" y="591961"/>
            <a:ext cx="7162165" cy="3154710"/>
          </a:xfrm>
        </p:spPr>
        <p:txBody>
          <a:bodyPr/>
          <a:lstStyle/>
          <a:p>
            <a:r>
              <a:rPr lang="en-DK" dirty="0"/>
              <a:t>Hands On Exercise: </a:t>
            </a:r>
            <a:br>
              <a:rPr lang="en-DK" dirty="0"/>
            </a:br>
            <a:br>
              <a:rPr lang="en-DK" dirty="0"/>
            </a:br>
            <a:br>
              <a:rPr lang="en-DK" dirty="0"/>
            </a:br>
            <a:r>
              <a:rPr lang="en-DK" dirty="0"/>
              <a:t>Your startup project folder</a:t>
            </a:r>
            <a:br>
              <a:rPr lang="en-DK" dirty="0"/>
            </a:br>
            <a:endParaRPr lang="en-DK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ECA9865-2341-0ACC-39FD-B4906A270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2998" y="3511377"/>
            <a:ext cx="9624060" cy="498729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z="4100" b="1" i="0" spc="130" dirty="0">
                <a:solidFill>
                  <a:srgbClr val="007FA3"/>
                </a:solidFill>
                <a:latin typeface="Arial"/>
                <a:ea typeface="+mj-ea"/>
                <a:cs typeface="Arial"/>
              </a:rPr>
              <a:t>Download from –MS teams-&gt;</a:t>
            </a:r>
          </a:p>
        </p:txBody>
      </p:sp>
    </p:spTree>
    <p:extLst>
      <p:ext uri="{BB962C8B-B14F-4D97-AF65-F5344CB8AC3E}">
        <p14:creationId xmlns:p14="http://schemas.microsoft.com/office/powerpoint/2010/main" val="155794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849f5a5-735c-42fe-b98c-e71ffb699442">
      <Terms xmlns="http://schemas.microsoft.com/office/infopath/2007/PartnerControls"/>
    </lcf76f155ced4ddcb4097134ff3c332f>
    <TaxCatchAll xmlns="92085a0b-995c-4352-a904-96fa709bce5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EB4FDFDDEF084D824E2343C1FDD94C" ma:contentTypeVersion="12" ma:contentTypeDescription="Create a new document." ma:contentTypeScope="" ma:versionID="c61ce0d62721950094d3f1e82d2b003d">
  <xsd:schema xmlns:xsd="http://www.w3.org/2001/XMLSchema" xmlns:xs="http://www.w3.org/2001/XMLSchema" xmlns:p="http://schemas.microsoft.com/office/2006/metadata/properties" xmlns:ns2="e849f5a5-735c-42fe-b98c-e71ffb699442" xmlns:ns3="92085a0b-995c-4352-a904-96fa709bce5d" targetNamespace="http://schemas.microsoft.com/office/2006/metadata/properties" ma:root="true" ma:fieldsID="6ecf9a8dd387c710eaa4bd46aa8c1577" ns2:_="" ns3:_="">
    <xsd:import namespace="e849f5a5-735c-42fe-b98c-e71ffb699442"/>
    <xsd:import namespace="92085a0b-995c-4352-a904-96fa709bce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49f5a5-735c-42fe-b98c-e71ffb6994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d5c13d8-c446-4f20-8680-8f99546cc0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085a0b-995c-4352-a904-96fa709bce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44ef0c5-35ef-4487-9715-50fcb9f14da1}" ma:internalName="TaxCatchAll" ma:showField="CatchAllData" ma:web="92085a0b-995c-4352-a904-96fa709bce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111B61-F481-44B2-9CDB-7BD7448F1D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61F93C-4043-4F08-BA78-74CBB273BFA4}">
  <ds:schemaRefs>
    <ds:schemaRef ds:uri="92085a0b-995c-4352-a904-96fa709bce5d"/>
    <ds:schemaRef ds:uri="e849f5a5-735c-42fe-b98c-e71ffb699442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ACAD775-4CC8-4130-A33B-6C078334EC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49f5a5-735c-42fe-b98c-e71ffb699442"/>
    <ds:schemaRef ds:uri="92085a0b-995c-4352-a904-96fa709bc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167</Words>
  <Application>Microsoft Macintosh PowerPoint</Application>
  <PresentationFormat>Custom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Block level html element</vt:lpstr>
      <vt:lpstr>Kode til Web</vt:lpstr>
      <vt:lpstr>Web media</vt:lpstr>
      <vt:lpstr>Video formats</vt:lpstr>
      <vt:lpstr>Hands On Exercise:    Your startup project folder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ConnollyHoar_3rdEd_Chapter 3HTML</dc:title>
  <dc:creator>Xiaolei Bi</dc:creator>
  <cp:lastModifiedBy>Xiaolei Bi</cp:lastModifiedBy>
  <cp:revision>4</cp:revision>
  <dcterms:created xsi:type="dcterms:W3CDTF">2025-09-19T11:08:00Z</dcterms:created>
  <dcterms:modified xsi:type="dcterms:W3CDTF">2026-09-16T09:31:05Z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2022-09-20T00:00:00Z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2025-09-19T00:00:00Z</vt:filetime>
  </property>
  <property fmtid="{D5CDD505-2E9C-101B-9397-08002B2CF9AE}" pid="5" name="Producer">
    <vt:lpwstr>macOS Version 12.6 (Build 21G115) Quartz PDFContext</vt:lpwstr>
  </property>
  <property fmtid="{D5CDD505-2E9C-101B-9397-08002B2CF9AE}" pid="6" name="ContentTypeId">
    <vt:lpwstr>0x0101008FEB4FDFDDEF084D824E2343C1FDD94C</vt:lpwstr>
  </property>
  <property fmtid="{D5CDD505-2E9C-101B-9397-08002B2CF9AE}" pid="7" name="MediaServiceImageTags">
    <vt:lpwstr/>
  </property>
</Properties>
</file>