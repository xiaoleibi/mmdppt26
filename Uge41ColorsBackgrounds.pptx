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6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Ligh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398CCE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3797C6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12700" cap="flat">
              <a:solidFill>
                <a:srgbClr val="B8B8B8"/>
              </a:solidFill>
              <a:prstDash val="solid"/>
              <a:miter lim="400000"/>
            </a:ln>
          </a:top>
          <a:bottom>
            <a:ln w="12700" cap="flat">
              <a:solidFill>
                <a:srgbClr val="B8B8B8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E1E0DA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rgbClr val="5AC831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B8B8B8"/>
              </a:solidFill>
              <a:prstDash val="solid"/>
              <a:miter lim="400000"/>
            </a:ln>
          </a:left>
          <a:right>
            <a:ln w="12700" cap="flat">
              <a:solidFill>
                <a:srgbClr val="B8B8B8"/>
              </a:solidFill>
              <a:prstDash val="solid"/>
              <a:miter lim="400000"/>
            </a:ln>
          </a:right>
          <a:top>
            <a:ln w="254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B8B8B8"/>
              </a:solidFill>
              <a:prstDash val="solid"/>
              <a:miter lim="400000"/>
            </a:ln>
          </a:insideH>
          <a:insideV>
            <a:ln w="12700" cap="flat">
              <a:solidFill>
                <a:srgbClr val="B8B8B8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606060"/>
              </a:solidFill>
              <a:prstDash val="solid"/>
              <a:miter lim="400000"/>
            </a:ln>
          </a:left>
          <a:right>
            <a:ln w="12700" cap="flat">
              <a:solidFill>
                <a:srgbClr val="606060"/>
              </a:solidFill>
              <a:prstDash val="solid"/>
              <a:miter lim="400000"/>
            </a:ln>
          </a:right>
          <a:top>
            <a:ln w="12700" cap="flat">
              <a:solidFill>
                <a:srgbClr val="606060"/>
              </a:solidFill>
              <a:prstDash val="solid"/>
              <a:miter lim="400000"/>
            </a:ln>
          </a:top>
          <a:bottom>
            <a:ln w="12700" cap="flat">
              <a:solidFill>
                <a:srgbClr val="606060"/>
              </a:solidFill>
              <a:prstDash val="solid"/>
              <a:miter lim="400000"/>
            </a:ln>
          </a:bottom>
          <a:insideH>
            <a:ln w="12700" cap="flat">
              <a:solidFill>
                <a:srgbClr val="606060"/>
              </a:solidFill>
              <a:prstDash val="solid"/>
              <a:miter lim="400000"/>
            </a:ln>
          </a:insideH>
          <a:insideV>
            <a:ln w="12700" cap="flat">
              <a:solidFill>
                <a:srgbClr val="606060"/>
              </a:solidFill>
              <a:prstDash val="solid"/>
              <a:miter lim="400000"/>
            </a:ln>
          </a:insideV>
        </a:tcBdr>
        <a:fill>
          <a:solidFill>
            <a:schemeClr val="accent2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5D5D5D"/>
              </a:solidFill>
              <a:custDash>
                <a:ds d="200000" sp="200000"/>
              </a:custDash>
              <a:miter lim="400000"/>
            </a:ln>
          </a:insideV>
        </a:tcBdr>
        <a:fill>
          <a:solidFill>
            <a:srgbClr val="E6E3D7"/>
          </a:solidFill>
        </a:fill>
      </a:tcStyle>
    </a:wholeTbl>
    <a:band2H>
      <a:tcTxStyle/>
      <a:tcStyle>
        <a:tcBdr/>
        <a:fill>
          <a:solidFill>
            <a:srgbClr val="C3C2C2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09C99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5D5D5D"/>
              </a:solidFill>
              <a:prstDash val="solid"/>
              <a:miter lim="400000"/>
            </a:ln>
          </a:left>
          <a:right>
            <a:ln w="12700" cap="flat">
              <a:solidFill>
                <a:srgbClr val="5D5D5D"/>
              </a:solidFill>
              <a:prstDash val="solid"/>
              <a:miter lim="400000"/>
            </a:ln>
          </a:right>
          <a:top>
            <a:ln w="12700" cap="flat">
              <a:solidFill>
                <a:srgbClr val="5D5D5D"/>
              </a:solidFill>
              <a:prstDash val="solid"/>
              <a:miter lim="400000"/>
            </a:ln>
          </a:top>
          <a:bottom>
            <a:ln w="12700" cap="flat">
              <a:solidFill>
                <a:srgbClr val="5D5D5D"/>
              </a:solidFill>
              <a:prstDash val="solid"/>
              <a:miter lim="400000"/>
            </a:ln>
          </a:bottom>
          <a:insideH>
            <a:ln w="12700" cap="flat">
              <a:solidFill>
                <a:srgbClr val="5D5D5D"/>
              </a:solidFill>
              <a:prstDash val="solid"/>
              <a:miter lim="400000"/>
            </a:ln>
          </a:insideH>
          <a:insideV>
            <a:ln w="12700" cap="flat">
              <a:solidFill>
                <a:srgbClr val="5D5D5D"/>
              </a:solidFill>
              <a:prstDash val="solid"/>
              <a:miter lim="400000"/>
            </a:ln>
          </a:insideV>
        </a:tcBdr>
        <a:fill>
          <a:solidFill>
            <a:srgbClr val="97764E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EBEBEB"/>
          </a:solidFill>
        </a:fill>
      </a:tcStyle>
    </a:wholeTbl>
    <a:band2H>
      <a:tcTxStyle/>
      <a:tcStyle>
        <a:tcBdr/>
        <a:fill>
          <a:solidFill>
            <a:srgbClr val="DCE5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5E779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D0D1D2"/>
          </a:solidFill>
        </a:fill>
      </a:tcStyle>
    </a:wholeTbl>
    <a:band2H>
      <a:tcTxStyle/>
      <a:tcStyle>
        <a:tcBdr/>
        <a:fill>
          <a:solidFill>
            <a:srgbClr val="DEDED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53576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909398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miter lim="400000"/>
            </a:ln>
          </a:left>
          <a:right>
            <a:ln w="12700" cap="flat">
              <a:solidFill>
                <a:srgbClr val="FFFFFF"/>
              </a:solidFill>
              <a:prstDash val="solid"/>
              <a:miter lim="400000"/>
            </a:ln>
          </a:right>
          <a:top>
            <a:ln w="12700" cap="flat">
              <a:solidFill>
                <a:srgbClr val="FFFFFF"/>
              </a:solidFill>
              <a:prstDash val="solid"/>
              <a:miter lim="400000"/>
            </a:ln>
          </a:top>
          <a:bottom>
            <a:ln w="12700" cap="flat">
              <a:solidFill>
                <a:srgbClr val="FFFFFF"/>
              </a:solidFill>
              <a:prstDash val="solid"/>
              <a:miter lim="400000"/>
            </a:ln>
          </a:bottom>
          <a:insideH>
            <a:ln w="12700" cap="flat">
              <a:solidFill>
                <a:srgbClr val="FFFFFF"/>
              </a:solidFill>
              <a:prstDash val="solid"/>
              <a:miter lim="400000"/>
            </a:ln>
          </a:insideH>
          <a:insideV>
            <a:ln w="12700" cap="flat">
              <a:solidFill>
                <a:srgbClr val="FFFFFF"/>
              </a:solidFill>
              <a:prstDash val="solid"/>
              <a:miter lim="400000"/>
            </a:ln>
          </a:insideV>
        </a:tcBdr>
        <a:fill>
          <a:solidFill>
            <a:srgbClr val="767C85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left>
          <a:right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57"/>
  </p:normalViewPr>
  <p:slideViewPr>
    <p:cSldViewPr snapToGrid="0">
      <p:cViewPr varScale="1">
        <p:scale>
          <a:sx n="72" d="100"/>
          <a:sy n="72" d="100"/>
        </p:scale>
        <p:origin x="194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86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87" name="Shape 87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PART I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# CHAPTER TITLE"/>
          <p:cNvSpPr txBox="1">
            <a:spLocks noGrp="1"/>
          </p:cNvSpPr>
          <p:nvPr>
            <p:ph type="body" sz="half" idx="21"/>
          </p:nvPr>
        </p:nvSpPr>
        <p:spPr>
          <a:xfrm>
            <a:off x="519633" y="2527300"/>
            <a:ext cx="11965534" cy="3302000"/>
          </a:xfrm>
          <a:prstGeom prst="rect">
            <a:avLst/>
          </a:prstGeom>
        </p:spPr>
        <p:txBody>
          <a:bodyPr anchor="b"/>
          <a:lstStyle/>
          <a:p>
            <a:pPr marL="0" indent="0" algn="ctr">
              <a:spcBef>
                <a:spcPts val="0"/>
              </a:spcBef>
              <a:buSzTx/>
              <a:buNone/>
              <a:defRPr sz="8000">
                <a:latin typeface="+mj-lt"/>
                <a:ea typeface="+mj-ea"/>
                <a:cs typeface="+mj-cs"/>
                <a:sym typeface="Helvetica"/>
              </a:defRPr>
            </a:pPr>
            <a:r>
              <a:rPr sz="9000" b="1">
                <a:solidFill>
                  <a:srgbClr val="42D0D0"/>
                </a:solidFill>
              </a:rPr>
              <a:t>#</a:t>
            </a:r>
            <a:br>
              <a:rPr sz="4000"/>
            </a:br>
            <a:r>
              <a:rPr sz="6000"/>
              <a:t>CHAPTER TITLE</a:t>
            </a:r>
          </a:p>
        </p:txBody>
      </p:sp>
      <p:pic>
        <p:nvPicPr>
          <p:cNvPr id="19" name="partIII_header.png" descr="partIII_hea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3004801" cy="1676400"/>
          </a:xfrm>
          <a:prstGeom prst="rect">
            <a:avLst/>
          </a:prstGeom>
          <a:ln w="12700">
            <a:miter lim="400000"/>
          </a:ln>
        </p:spPr>
      </p:pic>
      <p:sp>
        <p:nvSpPr>
          <p:cNvPr id="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ART I title + bullets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he internet vs. the web…"/>
          <p:cNvSpPr txBox="1">
            <a:spLocks noGrp="1"/>
          </p:cNvSpPr>
          <p:nvPr>
            <p:ph type="body" sz="half" idx="21"/>
          </p:nvPr>
        </p:nvSpPr>
        <p:spPr>
          <a:xfrm>
            <a:off x="2270621" y="3094260"/>
            <a:ext cx="9781679" cy="5105848"/>
          </a:xfrm>
          <a:prstGeom prst="rect">
            <a:avLst/>
          </a:prstGeom>
        </p:spPr>
        <p:txBody>
          <a:bodyPr/>
          <a:lstStyle/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The internet vs. the web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History of the web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What servers do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What browsers do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URLs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How web pages are constructed </a:t>
            </a:r>
          </a:p>
        </p:txBody>
      </p:sp>
      <p:sp>
        <p:nvSpPr>
          <p:cNvPr id="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RT I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27BDB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7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3D71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RT I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7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27BDB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3D71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RT I title +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7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9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27BDB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0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3D71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PART I title, centered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70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27BDB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1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09850"/>
            <a:ext cx="11099800" cy="62865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None/>
              <a:defRPr sz="4000"/>
            </a:lvl1pPr>
            <a:lvl2pPr marL="0" indent="228600" algn="ctr">
              <a:buSzTx/>
              <a:buNone/>
              <a:defRPr sz="4000"/>
            </a:lvl2pPr>
            <a:lvl3pPr marL="0" indent="457200" algn="ctr">
              <a:buSzTx/>
              <a:buNone/>
              <a:defRPr sz="4000"/>
            </a:lvl3pPr>
            <a:lvl4pPr marL="0" indent="685800" algn="ctr">
              <a:buSzTx/>
              <a:buNone/>
              <a:defRPr sz="4000"/>
            </a:lvl4pPr>
            <a:lvl5pPr marL="0" indent="914400" algn="ctr">
              <a:buSzTx/>
              <a:buNone/>
              <a:defRPr sz="40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2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3D71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27BDBE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" name="OVERVIEW"/>
          <p:cNvSpPr txBox="1"/>
          <p:nvPr/>
        </p:nvSpPr>
        <p:spPr>
          <a:xfrm>
            <a:off x="952500" y="5334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>
            <a:lvl1pPr>
              <a:defRPr sz="4800" b="1">
                <a:solidFill>
                  <a:srgbClr val="53585F"/>
                </a:solidFill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r>
              <a:t>OVERVIEW</a:t>
            </a:r>
          </a:p>
        </p:txBody>
      </p:sp>
      <p:sp>
        <p:nvSpPr>
          <p:cNvPr id="5" name="Line"/>
          <p:cNvSpPr/>
          <p:nvPr/>
        </p:nvSpPr>
        <p:spPr>
          <a:xfrm>
            <a:off x="1197470" y="2074763"/>
            <a:ext cx="1060986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6" name="Line"/>
          <p:cNvSpPr/>
          <p:nvPr/>
        </p:nvSpPr>
        <p:spPr>
          <a:xfrm>
            <a:off x="1197470" y="1146323"/>
            <a:ext cx="1060986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400"/>
            </a:pPr>
            <a:endParaRPr/>
          </a:p>
        </p:txBody>
      </p:sp>
      <p:sp>
        <p:nvSpPr>
          <p:cNvPr id="7" name="Rectangle"/>
          <p:cNvSpPr/>
          <p:nvPr/>
        </p:nvSpPr>
        <p:spPr>
          <a:xfrm>
            <a:off x="-12700" y="0"/>
            <a:ext cx="13124359" cy="230585"/>
          </a:xfrm>
          <a:prstGeom prst="rect">
            <a:avLst/>
          </a:prstGeom>
          <a:solidFill>
            <a:srgbClr val="3D71B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8" name="Title Text"/>
          <p:cNvSpPr txBox="1">
            <a:spLocks noGrp="1"/>
          </p:cNvSpPr>
          <p:nvPr>
            <p:ph type="title"/>
          </p:nvPr>
        </p:nvSpPr>
        <p:spPr>
          <a:xfrm>
            <a:off x="952500" y="4445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9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0350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11798" y="9251950"/>
            <a:ext cx="368504" cy="3810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ransition spd="med"/>
  <p:txStyles>
    <p:title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228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685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1143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1600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1" i="0" u="none" strike="noStrike" cap="none" spc="0" baseline="0">
          <a:solidFill>
            <a:srgbClr val="53585F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4445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1pPr>
      <a:lvl2pPr marL="8890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2pPr>
      <a:lvl3pPr marL="13335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3pPr>
      <a:lvl4pPr marL="17780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4pPr>
      <a:lvl5pPr marL="22225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5pPr>
      <a:lvl6pPr marL="26670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6pPr>
      <a:lvl7pPr marL="31115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7pPr>
      <a:lvl8pPr marL="35560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8pPr>
      <a:lvl9pPr marL="4000500" marR="0" indent="-444500" algn="l" defTabSz="584200" latinLnBrk="0">
        <a:lnSpc>
          <a:spcPct val="100000"/>
        </a:lnSpc>
        <a:spcBef>
          <a:spcPts val="4200"/>
        </a:spcBef>
        <a:spcAft>
          <a:spcPts val="0"/>
        </a:spcAft>
        <a:buClrTx/>
        <a:buSzPct val="75000"/>
        <a:buFontTx/>
        <a:buChar char="•"/>
        <a:tabLst/>
        <a:defRPr sz="3600" b="0" i="0" u="none" strike="noStrike" cap="none" spc="0" baseline="0">
          <a:solidFill>
            <a:srgbClr val="53585F"/>
          </a:solidFill>
          <a:uFillTx/>
          <a:latin typeface="+mn-lt"/>
          <a:ea typeface="+mn-ea"/>
          <a:cs typeface="+mn-cs"/>
          <a:sym typeface="Helvetica Light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1pPr>
      <a:lvl2pPr marL="0" marR="0" indent="228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2pPr>
      <a:lvl3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3pPr>
      <a:lvl4pPr marL="0" marR="0" indent="685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4pPr>
      <a:lvl5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5pPr>
      <a:lvl6pPr marL="0" marR="0" indent="1143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6pPr>
      <a:lvl7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7pPr>
      <a:lvl8pPr marL="0" marR="0" indent="1600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8pPr>
      <a:lvl9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Ligh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://learningwebdesign.com/colornames.html" TargetMode="Externa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://oklch.com" TargetMode="Externa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13 COLORS AND BACKGROUND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0" indent="0" algn="ctr">
              <a:spcBef>
                <a:spcPts val="0"/>
              </a:spcBef>
              <a:buSzTx/>
              <a:buNone/>
              <a:defRPr sz="8000">
                <a:latin typeface="+mj-lt"/>
                <a:ea typeface="+mj-ea"/>
                <a:cs typeface="+mj-cs"/>
                <a:sym typeface="Helvetica"/>
              </a:defRPr>
            </a:pPr>
            <a:r>
              <a:rPr sz="9000" b="1">
                <a:solidFill>
                  <a:srgbClr val="3D71B8"/>
                </a:solidFill>
              </a:rPr>
              <a:t>13</a:t>
            </a:r>
            <a:br>
              <a:rPr sz="4000"/>
            </a:br>
            <a:r>
              <a:rPr sz="6000">
                <a:latin typeface="+mn-lt"/>
                <a:ea typeface="+mn-ea"/>
                <a:cs typeface="+mn-cs"/>
                <a:sym typeface="Helvetica Light"/>
              </a:rPr>
              <a:t>COLORS AND BACKGROUNDS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Color spaces and models…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Color spaces and models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CSS color names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RGB and HSL color values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Foreground and background colors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Tiling background images</a:t>
            </a:r>
          </a:p>
          <a:p>
            <a:pPr marL="373379" indent="-373379" defTabSz="490727">
              <a:spcBef>
                <a:spcPts val="3500"/>
              </a:spcBef>
              <a:defRPr sz="3024" b="1">
                <a:latin typeface="+mj-lt"/>
                <a:ea typeface="+mj-ea"/>
                <a:cs typeface="+mj-cs"/>
                <a:sym typeface="Helvetica"/>
              </a:defRPr>
            </a:pPr>
            <a:r>
              <a:t>More selectors and external style sheets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Color Spaces and Mode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Color Spaces and Models</a:t>
            </a:r>
          </a:p>
        </p:txBody>
      </p:sp>
      <p:sp>
        <p:nvSpPr>
          <p:cNvPr id="94" name="A color space is a vocabulary for defining and reproducing colors (like Pantone for ink colors, or RGB for screen colors)…"/>
          <p:cNvSpPr txBox="1">
            <a:spLocks noGrp="1"/>
          </p:cNvSpPr>
          <p:nvPr>
            <p:ph type="body" idx="1"/>
          </p:nvPr>
        </p:nvSpPr>
        <p:spPr>
          <a:xfrm>
            <a:off x="952500" y="3105150"/>
            <a:ext cx="11099800" cy="4927253"/>
          </a:xfrm>
          <a:prstGeom prst="rect">
            <a:avLst/>
          </a:prstGeom>
        </p:spPr>
        <p:txBody>
          <a:bodyPr anchor="t"/>
          <a:lstStyle/>
          <a:p>
            <a:pPr marL="0" indent="0" defTabSz="543305">
              <a:spcBef>
                <a:spcPts val="3900"/>
              </a:spcBef>
              <a:buSzTx/>
              <a:buNone/>
              <a:defRPr sz="2790"/>
            </a:pPr>
            <a:r>
              <a:t>A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color space </a:t>
            </a:r>
            <a:r>
              <a:t>is a vocabulary for defining and reproducing colors (like Pantone for ink colors, or RGB for screen colors)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790"/>
            </a:pPr>
            <a:r>
              <a:t>A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color model</a:t>
            </a:r>
            <a:r>
              <a:t> is a system for describing colors numerically. It is one way to describe the colors in a particular color space.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79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Gamut</a:t>
            </a:r>
            <a:r>
              <a:t> refers to the range of colors a color model or a screen can represent.</a:t>
            </a:r>
          </a:p>
          <a:p>
            <a:pPr marL="0" indent="0" defTabSz="543305">
              <a:spcBef>
                <a:spcPts val="3900"/>
              </a:spcBef>
              <a:buSzTx/>
              <a:buNone/>
              <a:defRPr sz="2790"/>
            </a:pPr>
            <a:r>
              <a:t>CSS Color Module Level 4 expands the options for specifying colors to accommodate wide-gamut devices.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Named Color Valu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Named Color Values</a:t>
            </a:r>
          </a:p>
        </p:txBody>
      </p:sp>
      <p:sp>
        <p:nvSpPr>
          <p:cNvPr id="97" name="Specify foreground or background color using one of 140 predefined CSS3 color names:…"/>
          <p:cNvSpPr txBox="1">
            <a:spLocks noGrp="1"/>
          </p:cNvSpPr>
          <p:nvPr>
            <p:ph type="body" idx="1"/>
          </p:nvPr>
        </p:nvSpPr>
        <p:spPr>
          <a:xfrm>
            <a:off x="952500" y="2609850"/>
            <a:ext cx="11099800" cy="5599559"/>
          </a:xfrm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Specify foreground or background color using one of 140 predefined CSS3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color names</a:t>
            </a:r>
            <a:r>
              <a:t>:</a:t>
            </a:r>
          </a:p>
          <a:p>
            <a:pPr marL="0" indent="0" algn="ctr"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h1 { color: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red</a:t>
            </a:r>
            <a:r>
              <a:t>; }</a:t>
            </a:r>
          </a:p>
          <a:p>
            <a:pPr marL="0" indent="0" algn="ctr"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h2 { color: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darkviolet</a:t>
            </a:r>
            <a:r>
              <a:t>; }</a:t>
            </a:r>
          </a:p>
          <a:p>
            <a:pPr marL="0" indent="0" algn="ctr"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body { background-color: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papayawhip</a:t>
            </a:r>
            <a:r>
              <a:t>; }</a:t>
            </a:r>
          </a:p>
          <a:p>
            <a:pPr marL="0" indent="0" algn="ctr">
              <a:spcBef>
                <a:spcPts val="6000"/>
              </a:spcBef>
              <a:buSzTx/>
              <a:buNone/>
              <a:defRPr sz="3000">
                <a:solidFill>
                  <a:schemeClr val="accent1"/>
                </a:solidFill>
                <a:latin typeface="+mj-lt"/>
                <a:ea typeface="+mj-ea"/>
                <a:cs typeface="+mj-cs"/>
                <a:sym typeface="Helvetica"/>
              </a:defRPr>
            </a:pPr>
            <a:r>
              <a:rPr u="sng">
                <a:hlinkClick r:id="rId2"/>
              </a:rPr>
              <a:t>learningwebdesign.com/colornames.html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umeric Color Valu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Numeric Color Values</a:t>
            </a:r>
          </a:p>
        </p:txBody>
      </p:sp>
      <p:sp>
        <p:nvSpPr>
          <p:cNvPr id="100" name="For more control, define colors numerically. Color models include:…"/>
          <p:cNvSpPr txBox="1">
            <a:spLocks noGrp="1"/>
          </p:cNvSpPr>
          <p:nvPr>
            <p:ph type="body" idx="1"/>
          </p:nvPr>
        </p:nvSpPr>
        <p:spPr>
          <a:xfrm>
            <a:off x="952500" y="2603500"/>
            <a:ext cx="11099800" cy="5706666"/>
          </a:xfrm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For more control, define colors numerically. Color models include:</a:t>
            </a:r>
          </a:p>
          <a:p>
            <a:pPr lvl="1"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RGB</a:t>
            </a:r>
            <a:r>
              <a:t> (combination of red, green, and blue light values)</a:t>
            </a:r>
          </a:p>
          <a:p>
            <a:pPr lvl="1"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HSL</a:t>
            </a:r>
            <a:r>
              <a:t> (hue, saturation, and luminosity)</a:t>
            </a:r>
          </a:p>
          <a:p>
            <a:pPr lvl="1">
              <a:defRPr sz="3000" b="1">
                <a:latin typeface="+mj-lt"/>
                <a:ea typeface="+mj-ea"/>
                <a:cs typeface="+mj-cs"/>
                <a:sym typeface="Helvetica"/>
              </a:defRPr>
            </a:pPr>
            <a:r>
              <a:t>OKLCH </a:t>
            </a:r>
            <a:r>
              <a:rPr b="0">
                <a:latin typeface="+mn-lt"/>
                <a:ea typeface="+mn-ea"/>
                <a:cs typeface="+mn-cs"/>
                <a:sym typeface="Helvetica Light"/>
              </a:rPr>
              <a:t>(lightness, chroma, hue)</a:t>
            </a:r>
          </a:p>
          <a:p>
            <a:pPr lvl="1">
              <a:defRPr sz="3000" b="1">
                <a:latin typeface="+mj-lt"/>
                <a:ea typeface="+mj-ea"/>
                <a:cs typeface="+mj-cs"/>
                <a:sym typeface="Helvetica"/>
              </a:defRPr>
            </a:pPr>
            <a:r>
              <a:rPr b="0">
                <a:latin typeface="+mn-lt"/>
                <a:ea typeface="+mn-ea"/>
                <a:cs typeface="+mn-cs"/>
                <a:sym typeface="Helvetica Light"/>
              </a:rPr>
              <a:t>Each model may include an </a:t>
            </a:r>
            <a:r>
              <a:t>alpha transparency</a:t>
            </a:r>
            <a:r>
              <a:rPr b="0">
                <a:latin typeface="+mn-lt"/>
                <a:ea typeface="+mn-ea"/>
                <a:cs typeface="+mn-cs"/>
                <a:sym typeface="Helvetica Light"/>
              </a:rPr>
              <a:t> value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GB Col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RGB Color</a:t>
            </a:r>
          </a:p>
        </p:txBody>
      </p:sp>
      <p:sp>
        <p:nvSpPr>
          <p:cNvPr id="103" name="The RGB color model mixes color with red, green, and blue light.…"/>
          <p:cNvSpPr txBox="1">
            <a:spLocks noGrp="1"/>
          </p:cNvSpPr>
          <p:nvPr>
            <p:ph type="body" sz="quarter" idx="1"/>
          </p:nvPr>
        </p:nvSpPr>
        <p:spPr>
          <a:xfrm>
            <a:off x="857423" y="2633067"/>
            <a:ext cx="11384113" cy="2159001"/>
          </a:xfrm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The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RGB color model</a:t>
            </a:r>
            <a:r>
              <a:t> mixes color with red, green, and blue light.</a:t>
            </a:r>
          </a:p>
          <a:p>
            <a:pPr marL="0" indent="0">
              <a:buSzTx/>
              <a:buNone/>
              <a:defRPr sz="3000"/>
            </a:pPr>
            <a:r>
              <a:t>Each channel can have 256 shades, for millions of color options.</a:t>
            </a:r>
          </a:p>
        </p:txBody>
      </p:sp>
      <p:pic>
        <p:nvPicPr>
          <p:cNvPr id="104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79" y="4890642"/>
            <a:ext cx="11099801" cy="359930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RGB Values in Style Rul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RGB Values in Style Rules</a:t>
            </a:r>
          </a:p>
        </p:txBody>
      </p:sp>
      <p:sp>
        <p:nvSpPr>
          <p:cNvPr id="107" name="There are four formats for providing RGB color values:…"/>
          <p:cNvSpPr txBox="1">
            <a:spLocks noGrp="1"/>
          </p:cNvSpPr>
          <p:nvPr>
            <p:ph type="body" idx="1"/>
          </p:nvPr>
        </p:nvSpPr>
        <p:spPr>
          <a:xfrm>
            <a:off x="952500" y="2616200"/>
            <a:ext cx="11099800" cy="6273800"/>
          </a:xfrm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There are four formats for providing RGB color values:</a:t>
            </a:r>
          </a:p>
          <a:p>
            <a:pPr lvl="1">
              <a:defRPr sz="3000"/>
            </a:pPr>
            <a:r>
              <a:t>RGB values (0 to 255): 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rgb(200 178 230)</a:t>
            </a:r>
          </a:p>
          <a:p>
            <a:pPr marL="0" lvl="1" indent="228600">
              <a:spcBef>
                <a:spcPts val="200"/>
              </a:spcBef>
              <a:buSzTx/>
              <a:buNone/>
              <a:defRPr sz="3000"/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</a:t>
            </a:r>
            <a:r>
              <a:rPr sz="2000" b="1">
                <a:solidFill>
                  <a:srgbClr val="A6AAA9"/>
                </a:solidFill>
                <a:latin typeface="+mj-lt"/>
                <a:ea typeface="+mj-ea"/>
                <a:cs typeface="+mj-cs"/>
                <a:sym typeface="Helvetica"/>
              </a:rPr>
              <a:t>NOTE: Old browsers require commas between values</a:t>
            </a:r>
            <a:endParaRPr>
              <a:solidFill>
                <a:srgbClr val="A6AAA9"/>
              </a:solidFill>
            </a:endParaRPr>
          </a:p>
          <a:p>
            <a:pPr lvl="1">
              <a:defRPr sz="3000"/>
            </a:pPr>
            <a:r>
              <a:t>Percentage values: 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rgb(78% 70% 90%)</a:t>
            </a:r>
          </a:p>
          <a:p>
            <a:pPr marL="0" lvl="1" indent="228600">
              <a:spcBef>
                <a:spcPts val="200"/>
              </a:spcBef>
              <a:buSzTx/>
              <a:buNone/>
              <a:defRPr sz="3000"/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</a:t>
            </a:r>
            <a:r>
              <a:rPr sz="2000" b="1">
                <a:solidFill>
                  <a:srgbClr val="A6AAA9"/>
                </a:solidFill>
                <a:latin typeface="+mj-lt"/>
                <a:ea typeface="+mj-ea"/>
                <a:cs typeface="+mj-cs"/>
                <a:sym typeface="Helvetica"/>
              </a:rPr>
              <a:t>NOTE: Old browsers require commas between values</a:t>
            </a:r>
          </a:p>
          <a:p>
            <a:pPr lvl="1">
              <a:defRPr sz="3000"/>
            </a:pPr>
            <a:r>
              <a:t>Hexadecimal values: 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#C8B2E6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lvl="1">
              <a:defRPr sz="3000"/>
            </a:pPr>
            <a:r>
              <a:t>Condensed hexadecimal values (for double-digits only):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#F06</a:t>
            </a:r>
            <a:r>
              <a:t> is the same as 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#FF0066</a:t>
            </a:r>
            <a:r>
              <a:t>  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exadecimal RGB Valu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Hexadecimal RGB Values</a:t>
            </a:r>
          </a:p>
        </p:txBody>
      </p:sp>
      <p:sp>
        <p:nvSpPr>
          <p:cNvPr id="110" name="Red, green, and blue values converted to hexadecimal and preceded by the # symbol."/>
          <p:cNvSpPr txBox="1">
            <a:spLocks noGrp="1"/>
          </p:cNvSpPr>
          <p:nvPr>
            <p:ph type="body" idx="1"/>
          </p:nvPr>
        </p:nvSpPr>
        <p:spPr>
          <a:xfrm>
            <a:off x="825500" y="2305050"/>
            <a:ext cx="11099800" cy="6286500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/>
            </a:pPr>
            <a:r>
              <a:t>Red, green, and blue values converted to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hexadecimal</a:t>
            </a:r>
            <a:r>
              <a:t> and preceded by the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#</a:t>
            </a:r>
            <a:r>
              <a:t> symbol.</a:t>
            </a:r>
          </a:p>
        </p:txBody>
      </p:sp>
      <p:pic>
        <p:nvPicPr>
          <p:cNvPr id="111" name="lwd5_1305_rgbdiagram.png" descr="lwd5_1305_rgb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6308" y="3798385"/>
            <a:ext cx="6186342" cy="198736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2" name="lwd5_1306_hex.png" descr="lwd5_1306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0115" y="6120980"/>
            <a:ext cx="7624570" cy="289733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HS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HSL</a:t>
            </a:r>
          </a:p>
        </p:txBody>
      </p:sp>
      <p:sp>
        <p:nvSpPr>
          <p:cNvPr id="115" name="Colors described by values for hue (°), saturation (%), and luminosity (%)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anchor="t"/>
          <a:lstStyle/>
          <a:p>
            <a:pPr>
              <a:defRPr sz="3000"/>
            </a:pPr>
            <a:r>
              <a:t>Colors described by values for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hue</a:t>
            </a:r>
            <a:r>
              <a:t> (°),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saturation</a:t>
            </a:r>
            <a:r>
              <a:t> (%), and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luminosity</a:t>
            </a:r>
            <a:r>
              <a:t> (%):</a:t>
            </a:r>
          </a:p>
          <a:p>
            <a:pPr marL="0" indent="0" algn="ctr">
              <a:spcBef>
                <a:spcPts val="1200"/>
              </a:spcBef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hsl(180 50% 75%)</a:t>
            </a:r>
          </a:p>
          <a:p>
            <a:pPr>
              <a:defRPr sz="3000"/>
            </a:pPr>
            <a:r>
              <a:t>Hue specifies the position on a color wheel (in degrees) that has red at 0°, green at 120°, and blue at 240°.</a:t>
            </a:r>
          </a:p>
          <a:p>
            <a:pPr>
              <a:defRPr sz="3000"/>
            </a:pPr>
            <a:r>
              <a:t>HSL is less commonly used than RGB, but some find it more intuitive.</a:t>
            </a:r>
          </a:p>
          <a:p>
            <a:pPr>
              <a:defRPr sz="3000"/>
            </a:pPr>
            <a:r>
              <a:t>Older browsers require commas between values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HSL, continued"/>
          <p:cNvSpPr txBox="1">
            <a:spLocks noGrp="1"/>
          </p:cNvSpPr>
          <p:nvPr>
            <p:ph type="title"/>
          </p:nvPr>
        </p:nvSpPr>
        <p:spPr>
          <a:xfrm>
            <a:off x="952500" y="444499"/>
            <a:ext cx="11099800" cy="1222228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HSL, continued</a:t>
            </a:r>
          </a:p>
        </p:txBody>
      </p:sp>
      <p:pic>
        <p:nvPicPr>
          <p:cNvPr id="118" name="lwd6_13a08.png" descr="lwd6_13a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000" y="2908300"/>
            <a:ext cx="9017000" cy="55118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19" name="lwd6_13a07.png" descr="lwd6_13a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1880641"/>
            <a:ext cx="12026900" cy="68453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HSL, continued"/>
          <p:cNvSpPr txBox="1">
            <a:spLocks noGrp="1"/>
          </p:cNvSpPr>
          <p:nvPr>
            <p:ph type="title"/>
          </p:nvPr>
        </p:nvSpPr>
        <p:spPr>
          <a:xfrm>
            <a:off x="999579" y="457200"/>
            <a:ext cx="11099801" cy="1222227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HSL, continued</a:t>
            </a:r>
          </a:p>
        </p:txBody>
      </p:sp>
      <p:pic>
        <p:nvPicPr>
          <p:cNvPr id="122" name="lwd6_13a08.png" descr="lwd6_13a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979" y="2760588"/>
            <a:ext cx="9017001" cy="5511801"/>
          </a:xfrm>
          <a:prstGeom prst="rect">
            <a:avLst/>
          </a:prstGeom>
          <a:ln w="12700">
            <a:miter lim="400000"/>
          </a:ln>
        </p:spPr>
      </p:pic>
      <p:sp>
        <p:nvSpPr>
          <p:cNvPr id="123" name="One hue in the HSL color model, with its associated saturation and lightness values"/>
          <p:cNvSpPr txBox="1"/>
          <p:nvPr/>
        </p:nvSpPr>
        <p:spPr>
          <a:xfrm>
            <a:off x="639012" y="1985057"/>
            <a:ext cx="11447375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/>
            </a:lvl1pPr>
          </a:lstStyle>
          <a:p>
            <a:r>
              <a:t>One hue in the HSL color model, with its associated saturation and lightness values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OKLC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OKLCH</a:t>
            </a:r>
          </a:p>
        </p:txBody>
      </p:sp>
      <p:sp>
        <p:nvSpPr>
          <p:cNvPr id="126" name="Colors described by values for perceived lightness (%), chroma (from 0.0 to 0.37), and hue (0deg to 360deg)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anchor="t"/>
          <a:lstStyle/>
          <a:p>
            <a:pPr>
              <a:defRPr sz="3000"/>
            </a:pPr>
            <a:r>
              <a:t>Colors described by values for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perceived lightness</a:t>
            </a:r>
            <a:r>
              <a:t> (%),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chroma</a:t>
            </a:r>
            <a:r>
              <a:t> (from 0.0 to 0.37), and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hue</a:t>
            </a:r>
            <a:r>
              <a:t> (0deg to 360deg):</a:t>
            </a:r>
          </a:p>
          <a:p>
            <a:pPr marL="0" indent="0" algn="ctr">
              <a:spcBef>
                <a:spcPts val="1200"/>
              </a:spcBef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oklch(79.96% 0.076 304.01)</a:t>
            </a:r>
          </a:p>
          <a:p>
            <a:pPr>
              <a:defRPr sz="3000"/>
            </a:pPr>
            <a:r>
              <a:t>Provides the ability to access the brighter colors on high dynamic range (HDR) monitors</a:t>
            </a:r>
          </a:p>
          <a:p>
            <a:pPr>
              <a:defRPr sz="3000"/>
            </a:pPr>
            <a:r>
              <a:t>Not as well supported as RGB and HSL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OKLCH, continued"/>
          <p:cNvSpPr txBox="1">
            <a:spLocks noGrp="1"/>
          </p:cNvSpPr>
          <p:nvPr>
            <p:ph type="title"/>
          </p:nvPr>
        </p:nvSpPr>
        <p:spPr>
          <a:xfrm>
            <a:off x="999579" y="457200"/>
            <a:ext cx="11099801" cy="1222227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OKLCH, continued</a:t>
            </a:r>
          </a:p>
        </p:txBody>
      </p:sp>
      <p:sp>
        <p:nvSpPr>
          <p:cNvPr id="129" name="The OKLCH color picker (oklch.com)"/>
          <p:cNvSpPr txBox="1"/>
          <p:nvPr/>
        </p:nvSpPr>
        <p:spPr>
          <a:xfrm>
            <a:off x="3926248" y="2069302"/>
            <a:ext cx="5246463" cy="4699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>
              <a:defRPr sz="2400"/>
            </a:pPr>
            <a:r>
              <a:t>The OKLCH color picker (</a:t>
            </a:r>
            <a:r>
              <a:rPr b="1" u="sng">
                <a:solidFill>
                  <a:schemeClr val="accent1"/>
                </a:solidFill>
                <a:latin typeface="+mj-lt"/>
                <a:ea typeface="+mj-ea"/>
                <a:cs typeface="+mj-cs"/>
                <a:sym typeface="Helvetica"/>
                <a:hlinkClick r:id="rId2"/>
              </a:rPr>
              <a:t>oklch.com</a:t>
            </a:r>
            <a:r>
              <a:t>)</a:t>
            </a:r>
          </a:p>
        </p:txBody>
      </p:sp>
      <p:pic>
        <p:nvPicPr>
          <p:cNvPr id="130" name="lwd6_1309_oklch.png" descr="lwd6_1309_okl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957" y="2929084"/>
            <a:ext cx="9537045" cy="517480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Adding Transparenc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Adding Transparency</a:t>
            </a:r>
          </a:p>
        </p:txBody>
      </p:sp>
      <p:sp>
        <p:nvSpPr>
          <p:cNvPr id="133" name="Specify an alpha transparency value for any color model by adding a transparency value after a slash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Specify an alpha transparency value for any color model by adding a transparency value after a slash:</a:t>
            </a:r>
          </a:p>
          <a:p>
            <a:pPr marL="0" indent="0" algn="ctr"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rgb(0 0 0 </a:t>
            </a:r>
            <a:r>
              <a:rPr b="1">
                <a:solidFill>
                  <a:schemeClr val="accent1"/>
                </a:solidFill>
              </a:rPr>
              <a:t>/ .5</a:t>
            </a:r>
            <a:r>
              <a:t>)</a:t>
            </a:r>
          </a:p>
          <a:p>
            <a:pPr marL="0" indent="0" algn="ctr"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hsl(0 0% 0% </a:t>
            </a:r>
            <a:r>
              <a:rPr b="1">
                <a:solidFill>
                  <a:schemeClr val="accent1"/>
                </a:solidFill>
              </a:rPr>
              <a:t>/ 50%</a:t>
            </a:r>
            <a:r>
              <a:t>)</a:t>
            </a:r>
          </a:p>
          <a:p>
            <a:pPr marL="0" indent="0" algn="ctr">
              <a:buSzTx/>
              <a:buNone/>
              <a:defRPr sz="3000">
                <a:latin typeface="Courier"/>
                <a:ea typeface="Courier"/>
                <a:cs typeface="Courier"/>
                <a:sym typeface="Courier"/>
              </a:defRPr>
            </a:pPr>
            <a:r>
              <a:t>oklch(0% 0 0 </a:t>
            </a:r>
            <a:r>
              <a:rPr b="1">
                <a:solidFill>
                  <a:schemeClr val="accent1"/>
                </a:solidFill>
              </a:rPr>
              <a:t>/ .5</a:t>
            </a:r>
            <a:r>
              <a:t>)</a:t>
            </a:r>
          </a:p>
          <a:p>
            <a:pPr marL="0" indent="0">
              <a:spcBef>
                <a:spcPts val="6700"/>
              </a:spcBef>
              <a:buSzTx/>
              <a:buNone/>
              <a:defRPr sz="3000">
                <a:latin typeface="+mj-lt"/>
                <a:ea typeface="+mj-ea"/>
                <a:cs typeface="+mj-cs"/>
                <a:sym typeface="Helvetica"/>
              </a:defRPr>
            </a:pPr>
            <a:r>
              <a:rPr>
                <a:solidFill>
                  <a:schemeClr val="accent5"/>
                </a:solidFill>
              </a:rPr>
              <a:t>NOTE:</a:t>
            </a:r>
            <a:r>
              <a:t> </a:t>
            </a:r>
            <a:r>
              <a:rPr>
                <a:latin typeface="+mn-lt"/>
                <a:ea typeface="+mn-ea"/>
                <a:cs typeface="+mn-cs"/>
                <a:sym typeface="Helvetica Light"/>
              </a:rPr>
              <a:t>To support older browsers, use the specialized </a:t>
            </a:r>
            <a:br>
              <a:rPr>
                <a:latin typeface="+mn-lt"/>
                <a:ea typeface="+mn-ea"/>
                <a:cs typeface="+mn-cs"/>
                <a:sym typeface="Helvetica Light"/>
              </a:rPr>
            </a:br>
            <a:r>
              <a:rPr>
                <a:latin typeface="Courier"/>
                <a:ea typeface="Courier"/>
                <a:cs typeface="Courier"/>
                <a:sym typeface="Courier"/>
              </a:rPr>
              <a:t>rgba()</a:t>
            </a:r>
            <a:r>
              <a:rPr>
                <a:latin typeface="+mn-lt"/>
                <a:ea typeface="+mn-ea"/>
                <a:cs typeface="+mn-cs"/>
                <a:sym typeface="Helvetica Light"/>
              </a:rPr>
              <a:t> or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hsla()</a:t>
            </a:r>
            <a:r>
              <a:rPr>
                <a:latin typeface="+mn-lt"/>
                <a:ea typeface="+mn-ea"/>
                <a:cs typeface="+mn-cs"/>
                <a:sym typeface="Helvetica Light"/>
              </a:rPr>
              <a:t> notation; e.g. 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rgba(0, 0, 0, .5)</a:t>
            </a:r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oreground Col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Foreground Color</a:t>
            </a:r>
          </a:p>
        </p:txBody>
      </p:sp>
      <p:sp>
        <p:nvSpPr>
          <p:cNvPr id="136" name="color…"/>
          <p:cNvSpPr txBox="1">
            <a:spLocks noGrp="1"/>
          </p:cNvSpPr>
          <p:nvPr>
            <p:ph type="body" idx="1"/>
          </p:nvPr>
        </p:nvSpPr>
        <p:spPr>
          <a:xfrm>
            <a:off x="852983" y="2157015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color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r>
              <a:rPr i="1">
                <a:latin typeface="+mj-lt"/>
                <a:ea typeface="+mj-ea"/>
                <a:cs typeface="+mj-cs"/>
                <a:sym typeface="Helvetica"/>
              </a:rPr>
              <a:t>Color value</a:t>
            </a:r>
            <a:r>
              <a:t> (named or numeric)</a:t>
            </a: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Example: 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blockquote {border: 4px dashed; </a:t>
            </a:r>
            <a:r>
              <a:rPr sz="2700"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color: green;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}</a:t>
            </a:r>
            <a:endParaRPr b="1"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t>The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foreground</a:t>
            </a:r>
            <a:r>
              <a:t> of an element consists of its text and border </a:t>
            </a:r>
            <a:br/>
            <a:r>
              <a:t>(if one is specified).</a:t>
            </a:r>
          </a:p>
        </p:txBody>
      </p:sp>
      <p:pic>
        <p:nvPicPr>
          <p:cNvPr id="137" name="lwd5_1309_color.png" descr="lwd5_1309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945" y="6430547"/>
            <a:ext cx="6976910" cy="255035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Background Colo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Background Color</a:t>
            </a:r>
          </a:p>
        </p:txBody>
      </p:sp>
      <p:sp>
        <p:nvSpPr>
          <p:cNvPr id="140" name="background-color…"/>
          <p:cNvSpPr txBox="1">
            <a:spLocks noGrp="1"/>
          </p:cNvSpPr>
          <p:nvPr>
            <p:ph type="body" idx="4294967295"/>
          </p:nvPr>
        </p:nvSpPr>
        <p:spPr>
          <a:xfrm>
            <a:off x="852983" y="2157015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background-color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r>
              <a:rPr i="1">
                <a:latin typeface="+mj-lt"/>
                <a:ea typeface="+mj-ea"/>
                <a:cs typeface="+mj-cs"/>
                <a:sym typeface="Helvetica"/>
              </a:rPr>
              <a:t>Color value</a:t>
            </a:r>
            <a:r>
              <a:t> (named or numeric)</a:t>
            </a: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Example: 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blockquote {border: 4px dashed; </a:t>
            </a:r>
            <a:br>
              <a:rPr sz="2700">
                <a:latin typeface="Courier"/>
                <a:ea typeface="Courier"/>
                <a:cs typeface="Courier"/>
                <a:sym typeface="Courier"/>
              </a:rPr>
            </a:br>
            <a:r>
              <a:rPr sz="2700">
                <a:latin typeface="Courier"/>
                <a:ea typeface="Courier"/>
                <a:cs typeface="Courier"/>
                <a:sym typeface="Courier"/>
              </a:rPr>
              <a:t>                     </a:t>
            </a:r>
            <a:r>
              <a:rPr sz="2700"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background-color: lightgreen;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}</a:t>
            </a:r>
            <a:endParaRPr b="1"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t>The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background painting area</a:t>
            </a:r>
            <a:r>
              <a:t> of an element fills the area behind the text to the outer edge of the border.</a:t>
            </a:r>
          </a:p>
        </p:txBody>
      </p:sp>
      <p:pic>
        <p:nvPicPr>
          <p:cNvPr id="141" name="lwd5_1310_background.png" descr="lwd5_1310_backgr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25" y="6299209"/>
            <a:ext cx="6850509" cy="24990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Clipping the Backgroun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Clipping the Background</a:t>
            </a:r>
          </a:p>
        </p:txBody>
      </p:sp>
      <p:sp>
        <p:nvSpPr>
          <p:cNvPr id="144" name="background-clip…"/>
          <p:cNvSpPr txBox="1">
            <a:spLocks noGrp="1"/>
          </p:cNvSpPr>
          <p:nvPr>
            <p:ph type="body" idx="4294967295"/>
          </p:nvPr>
        </p:nvSpPr>
        <p:spPr>
          <a:xfrm>
            <a:off x="852983" y="2157015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background-clip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border-box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padding-box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content-box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t>Specifies where the background painting area ends.</a:t>
            </a:r>
          </a:p>
        </p:txBody>
      </p:sp>
      <p:pic>
        <p:nvPicPr>
          <p:cNvPr id="145" name="lwd5_1312_clip.png" descr="lwd5_1312_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3178" y="4675338"/>
            <a:ext cx="6932603" cy="437341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Opacit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Opacity</a:t>
            </a:r>
          </a:p>
        </p:txBody>
      </p:sp>
      <p:sp>
        <p:nvSpPr>
          <p:cNvPr id="148" name="opacity…"/>
          <p:cNvSpPr txBox="1">
            <a:spLocks noGrp="1"/>
          </p:cNvSpPr>
          <p:nvPr>
            <p:ph type="body" idx="1"/>
          </p:nvPr>
        </p:nvSpPr>
        <p:spPr>
          <a:xfrm>
            <a:off x="754087" y="2169715"/>
            <a:ext cx="11590785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opacity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r>
              <a:rPr i="1">
                <a:latin typeface="+mj-lt"/>
                <a:ea typeface="+mj-ea"/>
                <a:cs typeface="+mj-cs"/>
                <a:sym typeface="Helvetica"/>
              </a:rPr>
              <a:t>number</a:t>
            </a:r>
            <a:r>
              <a:t> (0 to 1)</a:t>
            </a: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Example: </a:t>
            </a:r>
            <a:br>
              <a:rPr b="1">
                <a:latin typeface="+mj-lt"/>
                <a:ea typeface="+mj-ea"/>
                <a:cs typeface="+mj-cs"/>
                <a:sym typeface="Helvetica"/>
              </a:rPr>
            </a:br>
            <a:r>
              <a:rPr sz="2700">
                <a:latin typeface="Courier"/>
                <a:ea typeface="Courier"/>
                <a:cs typeface="Courier"/>
                <a:sym typeface="Courier"/>
              </a:rPr>
              <a:t>h1 {color: gold; background: white; </a:t>
            </a:r>
            <a:r>
              <a:rPr sz="2700"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opacity: .25;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}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t>Specifies the transparency level from 0 (transparent) to 1 (opaque):</a:t>
            </a:r>
          </a:p>
        </p:txBody>
      </p:sp>
      <p:pic>
        <p:nvPicPr>
          <p:cNvPr id="149" name="lwd5_1313_opacity.png" descr="lwd5_1313_o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094" y="5923653"/>
            <a:ext cx="7897170" cy="30107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Tiling Background Imag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Tiling Background Images</a:t>
            </a:r>
          </a:p>
        </p:txBody>
      </p:sp>
      <p:sp>
        <p:nvSpPr>
          <p:cNvPr id="152" name="background-image…"/>
          <p:cNvSpPr txBox="1">
            <a:spLocks noGrp="1"/>
          </p:cNvSpPr>
          <p:nvPr>
            <p:ph type="body" idx="4294967295"/>
          </p:nvPr>
        </p:nvSpPr>
        <p:spPr>
          <a:xfrm>
            <a:off x="852983" y="2115988"/>
            <a:ext cx="11392993" cy="682590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background-image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url(</a:t>
            </a:r>
            <a:r>
              <a:rPr i="1">
                <a:latin typeface="+mj-lt"/>
                <a:ea typeface="+mj-ea"/>
                <a:cs typeface="+mj-cs"/>
                <a:sym typeface="Helvetica"/>
              </a:rPr>
              <a:t>location of image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)</a:t>
            </a:r>
            <a: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none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Example:  </a:t>
            </a:r>
            <a:r>
              <a:rPr sz="2700" b="1">
                <a:latin typeface="+mj-lt"/>
                <a:ea typeface="+mj-ea"/>
                <a:cs typeface="+mj-cs"/>
                <a:sym typeface="Helvetica"/>
              </a:rPr>
              <a:t> 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body {</a:t>
            </a:r>
            <a:r>
              <a:rPr sz="2700"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background-image:</a:t>
            </a:r>
            <a:r>
              <a:rPr sz="2700">
                <a:latin typeface="Courier"/>
                <a:ea typeface="Courier"/>
                <a:cs typeface="Courier"/>
                <a:sym typeface="Courier"/>
              </a:rPr>
              <a:t> url(star.png);}</a:t>
            </a:r>
            <a:endParaRPr>
              <a:latin typeface="Courier"/>
              <a:ea typeface="Courier"/>
              <a:cs typeface="Courier"/>
              <a:sym typeface="Courier"/>
            </a:endParaRPr>
          </a:p>
          <a:p>
            <a:pPr marL="0" indent="0">
              <a:spcBef>
                <a:spcPts val="2400"/>
              </a:spcBef>
              <a:buSzTx/>
              <a:buNone/>
              <a:defRPr sz="2800"/>
            </a:pPr>
            <a:r>
              <a:t>Locates an image to be used as a tiling background image behind an element. By default, it starts at the top, left corner and repeats horizontally and vertically:</a:t>
            </a:r>
            <a:endParaRPr b="1">
              <a:latin typeface="+mj-lt"/>
              <a:ea typeface="+mj-ea"/>
              <a:cs typeface="+mj-cs"/>
              <a:sym typeface="Helvetica"/>
            </a:endParaRPr>
          </a:p>
        </p:txBody>
      </p:sp>
      <p:pic>
        <p:nvPicPr>
          <p:cNvPr id="153" name="lwd5_1318_tiling.png" descr="lwd5_1318_t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00" y="5492750"/>
            <a:ext cx="6941460" cy="371368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Background Repeatin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Background Repeating</a:t>
            </a:r>
          </a:p>
        </p:txBody>
      </p:sp>
      <p:sp>
        <p:nvSpPr>
          <p:cNvPr id="156" name="background-repeat…"/>
          <p:cNvSpPr txBox="1">
            <a:spLocks noGrp="1"/>
          </p:cNvSpPr>
          <p:nvPr>
            <p:ph type="body" idx="1"/>
          </p:nvPr>
        </p:nvSpPr>
        <p:spPr>
          <a:xfrm>
            <a:off x="852983" y="2157015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background-repeat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br/>
            <a:r>
              <a:rPr>
                <a:latin typeface="Courier"/>
                <a:ea typeface="Courier"/>
                <a:cs typeface="Courier"/>
                <a:sym typeface="Courier"/>
              </a:rPr>
              <a:t>repeat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no-repeat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repeat-x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repeat-y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space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round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t>Specifies how the background image repeats and can restrict it to tiling in one direction or not at all:</a:t>
            </a:r>
          </a:p>
          <a:p>
            <a:pPr marL="814916" lvl="1" indent="-370416">
              <a:spcBef>
                <a:spcPts val="1600"/>
              </a:spcBef>
              <a:defRPr sz="3000"/>
            </a:pPr>
            <a:r>
              <a:rPr b="1">
                <a:latin typeface="Courier"/>
                <a:ea typeface="Courier"/>
                <a:cs typeface="Courier"/>
                <a:sym typeface="Courier"/>
              </a:rPr>
              <a:t>repeat-x</a:t>
            </a:r>
            <a:r>
              <a:t>: Tiles horizontally only</a:t>
            </a:r>
          </a:p>
          <a:p>
            <a:pPr marL="814916" lvl="1" indent="-370416">
              <a:spcBef>
                <a:spcPts val="1600"/>
              </a:spcBef>
              <a:defRPr sz="3000"/>
            </a:pPr>
            <a:r>
              <a:rPr b="1">
                <a:latin typeface="Courier"/>
                <a:ea typeface="Courier"/>
                <a:cs typeface="Courier"/>
                <a:sym typeface="Courier"/>
              </a:rPr>
              <a:t>repeat-y</a:t>
            </a:r>
            <a:r>
              <a:t>: Tiles vertically only</a:t>
            </a:r>
          </a:p>
          <a:p>
            <a:pPr marL="814916" lvl="1" indent="-370416">
              <a:spcBef>
                <a:spcPts val="1600"/>
              </a:spcBef>
              <a:defRPr sz="3000"/>
            </a:pPr>
            <a:r>
              <a:rPr b="1">
                <a:latin typeface="Courier"/>
                <a:ea typeface="Courier"/>
                <a:cs typeface="Courier"/>
                <a:sym typeface="Courier"/>
              </a:rPr>
              <a:t>space</a:t>
            </a:r>
            <a:r>
              <a:t>: Adds space around images so they fit in the window with no clipping</a:t>
            </a:r>
          </a:p>
          <a:p>
            <a:pPr marL="814916" lvl="1" indent="-370416">
              <a:spcBef>
                <a:spcPts val="1600"/>
              </a:spcBef>
              <a:defRPr sz="3000"/>
            </a:pPr>
            <a:r>
              <a:rPr b="1">
                <a:latin typeface="Courier"/>
                <a:ea typeface="Courier"/>
                <a:cs typeface="Courier"/>
                <a:sym typeface="Courier"/>
              </a:rPr>
              <a:t>round</a:t>
            </a:r>
            <a:r>
              <a:t>: Distorts the image so it fits without clipping</a:t>
            </a:r>
          </a:p>
        </p:txBody>
      </p:sp>
    </p:spTree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Background Repeating (cont’d)"/>
          <p:cNvSpPr txBox="1">
            <a:spLocks noGrp="1"/>
          </p:cNvSpPr>
          <p:nvPr>
            <p:ph type="title"/>
          </p:nvPr>
        </p:nvSpPr>
        <p:spPr>
          <a:xfrm>
            <a:off x="952500" y="444500"/>
            <a:ext cx="11099800" cy="1190774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Background Repeating (cont’d)</a:t>
            </a:r>
          </a:p>
        </p:txBody>
      </p:sp>
      <p:pic>
        <p:nvPicPr>
          <p:cNvPr id="159" name="lwd5_1320_repeat.png" descr="lwd5_1320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112" y="1634173"/>
            <a:ext cx="7776576" cy="733639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Background Posi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Background Position</a:t>
            </a:r>
          </a:p>
        </p:txBody>
      </p:sp>
      <p:sp>
        <p:nvSpPr>
          <p:cNvPr id="162" name="background-position…"/>
          <p:cNvSpPr txBox="1">
            <a:spLocks noGrp="1"/>
          </p:cNvSpPr>
          <p:nvPr>
            <p:ph type="body" idx="4294967295"/>
          </p:nvPr>
        </p:nvSpPr>
        <p:spPr>
          <a:xfrm>
            <a:off x="852983" y="2157015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background-position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br/>
            <a:r>
              <a:rPr i="1"/>
              <a:t>Length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 i="1"/>
              <a:t>percentage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left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center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right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top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bottom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t>Specifies the position of the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 origin image</a:t>
            </a:r>
            <a:r>
              <a:t>, the first image that is placed in the background from which tiling images extend.</a:t>
            </a:r>
          </a:p>
          <a:p>
            <a:pPr marL="0" indent="0">
              <a:spcBef>
                <a:spcPts val="3000"/>
              </a:spcBef>
              <a:buSzTx/>
              <a:buNone/>
              <a:defRPr sz="3000" b="1">
                <a:latin typeface="+mj-lt"/>
                <a:ea typeface="+mj-ea"/>
                <a:cs typeface="+mj-cs"/>
                <a:sym typeface="Helvetica"/>
              </a:defRPr>
            </a:pPr>
            <a:r>
              <a:t>Examples </a:t>
            </a:r>
            <a:r>
              <a:rPr b="0">
                <a:latin typeface="+mn-lt"/>
                <a:ea typeface="+mn-ea"/>
                <a:cs typeface="+mn-cs"/>
                <a:sym typeface="Helvetica Light"/>
              </a:rPr>
              <a:t>(horizontal position goes first):</a:t>
            </a:r>
          </a:p>
          <a:p>
            <a:pPr marL="0" indent="0" algn="ctr">
              <a:spcBef>
                <a:spcPts val="300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background-position:</a:t>
            </a:r>
            <a:r>
              <a:t> left bottom;</a:t>
            </a:r>
          </a:p>
          <a:p>
            <a:pPr marL="0" indent="0" algn="ctr">
              <a:spcBef>
                <a:spcPts val="300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background-position:</a:t>
            </a:r>
            <a:r>
              <a:t> 300px 100px;</a:t>
            </a:r>
          </a:p>
          <a:p>
            <a:pPr marL="0" indent="0" algn="ctr">
              <a:spcBef>
                <a:spcPts val="300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background-position:</a:t>
            </a:r>
            <a:r>
              <a:t> 25% 100%;</a:t>
            </a:r>
          </a:p>
        </p:txBody>
      </p: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Background Position (cont’d)"/>
          <p:cNvSpPr txBox="1">
            <a:spLocks noGrp="1"/>
          </p:cNvSpPr>
          <p:nvPr>
            <p:ph type="title"/>
          </p:nvPr>
        </p:nvSpPr>
        <p:spPr>
          <a:xfrm>
            <a:off x="952500" y="444500"/>
            <a:ext cx="11099800" cy="1096070"/>
          </a:xfrm>
          <a:prstGeom prst="rect">
            <a:avLst/>
          </a:prstGeom>
        </p:spPr>
        <p:txBody>
          <a:bodyPr/>
          <a:lstStyle>
            <a:lvl1pPr>
              <a:defRPr sz="3600"/>
            </a:lvl1pPr>
          </a:lstStyle>
          <a:p>
            <a:r>
              <a:t>Background Position (cont’d)</a:t>
            </a:r>
          </a:p>
        </p:txBody>
      </p:sp>
      <p:pic>
        <p:nvPicPr>
          <p:cNvPr id="165" name="lwd5_1323_position.png" descr="lwd5_1323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2850" y="2087909"/>
            <a:ext cx="8039100" cy="671830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Background Attach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Background Attachment</a:t>
            </a:r>
          </a:p>
        </p:txBody>
      </p:sp>
      <p:sp>
        <p:nvSpPr>
          <p:cNvPr id="168" name="background-attachment…"/>
          <p:cNvSpPr txBox="1">
            <a:spLocks noGrp="1"/>
          </p:cNvSpPr>
          <p:nvPr>
            <p:ph type="body" idx="4294967295"/>
          </p:nvPr>
        </p:nvSpPr>
        <p:spPr>
          <a:xfrm>
            <a:off x="852983" y="2268388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background-attachment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scroll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fixed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local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t>Specifies whether the background image scrolls with the content or stays in a fixed position relative to the viewport.</a:t>
            </a:r>
          </a:p>
        </p:txBody>
      </p:sp>
      <p:pic>
        <p:nvPicPr>
          <p:cNvPr id="169" name="lwd5_1326_attachment.png" descr="lwd5_1326_attac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479" y="5187950"/>
            <a:ext cx="10160001" cy="397510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Background Siz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Background Size</a:t>
            </a:r>
          </a:p>
        </p:txBody>
      </p:sp>
      <p:sp>
        <p:nvSpPr>
          <p:cNvPr id="172" name="background-size…"/>
          <p:cNvSpPr txBox="1">
            <a:spLocks noGrp="1"/>
          </p:cNvSpPr>
          <p:nvPr>
            <p:ph type="body" idx="4294967295"/>
          </p:nvPr>
        </p:nvSpPr>
        <p:spPr>
          <a:xfrm>
            <a:off x="852983" y="2157015"/>
            <a:ext cx="11392993" cy="6969424"/>
          </a:xfrm>
          <a:prstGeom prst="rect">
            <a:avLst/>
          </a:prstGeom>
        </p:spPr>
        <p:txBody>
          <a:bodyPr anchor="t"/>
          <a:lstStyle/>
          <a:p>
            <a:pPr marL="0" indent="0" algn="ctr">
              <a:buSzTx/>
              <a:buNone/>
              <a:defRPr sz="300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background-size</a:t>
            </a:r>
          </a:p>
          <a:p>
            <a:pPr marL="0" indent="0">
              <a:spcBef>
                <a:spcPts val="2400"/>
              </a:spcBef>
              <a:buSzTx/>
              <a:buNone/>
              <a:defRPr sz="300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br/>
            <a:r>
              <a:rPr i="1"/>
              <a:t>Length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 i="1"/>
              <a:t>percentage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auto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cover</a:t>
            </a:r>
            <a:r>
              <a:rPr>
                <a:latin typeface="+mj-lt"/>
                <a:ea typeface="+mj-ea"/>
                <a:cs typeface="+mj-cs"/>
                <a:sym typeface="Helvetica"/>
              </a:rP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contain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0" indent="0">
              <a:spcBef>
                <a:spcPts val="3000"/>
              </a:spcBef>
              <a:buSzTx/>
              <a:buNone/>
              <a:defRPr sz="3000"/>
            </a:pPr>
            <a:r>
              <a:t>Specifies the size of the tiling image:</a:t>
            </a:r>
          </a:p>
        </p:txBody>
      </p:sp>
      <p:pic>
        <p:nvPicPr>
          <p:cNvPr id="173" name="lwd5_1327_target.png" descr="lwd5_1327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0051" y="3878325"/>
            <a:ext cx="2894549" cy="1554480"/>
          </a:xfrm>
          <a:prstGeom prst="rect">
            <a:avLst/>
          </a:prstGeom>
          <a:ln w="12700">
            <a:miter lim="400000"/>
          </a:ln>
        </p:spPr>
      </p:pic>
      <p:pic>
        <p:nvPicPr>
          <p:cNvPr id="174" name="lwd5_1328_covercontain.png" descr="lwd5_1328_covercont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79" y="5732778"/>
            <a:ext cx="10977842" cy="332079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Shorthand background Propert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Shorthand background Property</a:t>
            </a:r>
          </a:p>
        </p:txBody>
      </p:sp>
      <p:sp>
        <p:nvSpPr>
          <p:cNvPr id="177" name="background…"/>
          <p:cNvSpPr txBox="1">
            <a:spLocks noGrp="1"/>
          </p:cNvSpPr>
          <p:nvPr>
            <p:ph type="body" idx="1"/>
          </p:nvPr>
        </p:nvSpPr>
        <p:spPr>
          <a:xfrm>
            <a:off x="952500" y="2120900"/>
            <a:ext cx="11099800" cy="6885286"/>
          </a:xfrm>
          <a:prstGeom prst="rect">
            <a:avLst/>
          </a:prstGeom>
        </p:spPr>
        <p:txBody>
          <a:bodyPr/>
          <a:lstStyle/>
          <a:p>
            <a:pPr marL="0" indent="0" algn="ctr" defTabSz="566674">
              <a:spcBef>
                <a:spcPts val="4000"/>
              </a:spcBef>
              <a:buSzTx/>
              <a:buNone/>
              <a:defRPr sz="2910" b="1">
                <a:solidFill>
                  <a:schemeClr val="accent1"/>
                </a:solidFill>
                <a:latin typeface="Courier"/>
                <a:ea typeface="Courier"/>
                <a:cs typeface="Courier"/>
                <a:sym typeface="Courier"/>
              </a:defRPr>
            </a:pPr>
            <a:r>
              <a:t>background</a:t>
            </a:r>
          </a:p>
          <a:p>
            <a:pPr marL="0" indent="0" defTabSz="566674">
              <a:spcBef>
                <a:spcPts val="2300"/>
              </a:spcBef>
              <a:buSzTx/>
              <a:buNone/>
              <a:defRPr sz="291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Values:</a:t>
            </a:r>
            <a:r>
              <a:t> </a:t>
            </a:r>
            <a:br/>
            <a:r>
              <a:rPr i="1"/>
              <a:t>background-color  background-image  background-repeat  background-attachment  background-position  background-clip  background-origin  background-size</a:t>
            </a:r>
            <a:endParaRPr>
              <a:latin typeface="+mj-lt"/>
              <a:ea typeface="+mj-ea"/>
              <a:cs typeface="+mj-cs"/>
              <a:sym typeface="Helvetica"/>
            </a:endParaRPr>
          </a:p>
          <a:p>
            <a:pPr marL="431165" indent="-431165" defTabSz="566674">
              <a:spcBef>
                <a:spcPts val="4000"/>
              </a:spcBef>
              <a:defRPr sz="2910"/>
            </a:pPr>
            <a:r>
              <a:t>Specifies all background properties in one declaration</a:t>
            </a:r>
          </a:p>
          <a:p>
            <a:pPr marL="0" lvl="3" indent="665226" defTabSz="566674">
              <a:spcBef>
                <a:spcPts val="2900"/>
              </a:spcBef>
              <a:buSzTx/>
              <a:buNone/>
              <a:defRPr sz="2619">
                <a:latin typeface="Courier"/>
                <a:ea typeface="Courier"/>
                <a:cs typeface="Courier"/>
                <a:sym typeface="Courier"/>
              </a:defRPr>
            </a:pP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background:</a:t>
            </a:r>
            <a:r>
              <a:t> white url(star.png) no-repeat top center fixed;</a:t>
            </a:r>
          </a:p>
          <a:p>
            <a:pPr marL="431165" indent="-431165" defTabSz="566674">
              <a:spcBef>
                <a:spcPts val="2900"/>
              </a:spcBef>
              <a:defRPr sz="2910"/>
            </a:pPr>
            <a:r>
              <a:t>Properties are optional and may appear in any order</a:t>
            </a:r>
          </a:p>
          <a:p>
            <a:pPr marL="431165" indent="-431165" defTabSz="566674">
              <a:spcBef>
                <a:spcPts val="2900"/>
              </a:spcBef>
              <a:defRPr sz="2910"/>
            </a:pPr>
            <a:r>
              <a:t>Properties not represented reset to their defaults—</a:t>
            </a:r>
            <a:r>
              <a:rPr>
                <a:solidFill>
                  <a:schemeClr val="accent4"/>
                </a:solidFill>
              </a:rPr>
              <a:t>be careful it doesn’t overwrite previous background settings.</a:t>
            </a:r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Multiple Background Imag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Multiple Background Images</a:t>
            </a:r>
          </a:p>
        </p:txBody>
      </p:sp>
      <p:sp>
        <p:nvSpPr>
          <p:cNvPr id="180" name="You can place more than one background image in a single image (separated by commas):…"/>
          <p:cNvSpPr txBox="1">
            <a:spLocks noGrp="1"/>
          </p:cNvSpPr>
          <p:nvPr>
            <p:ph type="body" idx="1"/>
          </p:nvPr>
        </p:nvSpPr>
        <p:spPr>
          <a:xfrm>
            <a:off x="952500" y="2603500"/>
            <a:ext cx="11099800" cy="5677893"/>
          </a:xfrm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You can place more than one background image in a single image (separated by commas):</a:t>
            </a:r>
          </a:p>
          <a:p>
            <a:pPr marL="0" lvl="2" indent="457200">
              <a:spcBef>
                <a:spcPts val="600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t>body {</a:t>
            </a:r>
          </a:p>
          <a:p>
            <a:pPr marL="0" lvl="2" indent="457200">
              <a:spcBef>
                <a:spcPts val="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t>  background:</a:t>
            </a:r>
          </a:p>
          <a:p>
            <a:pPr marL="0" lvl="2" indent="457200">
              <a:spcBef>
                <a:spcPts val="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t>    url(image1.png) left top no-repeat,</a:t>
            </a:r>
          </a:p>
          <a:p>
            <a:pPr marL="0" lvl="2" indent="457200">
              <a:spcBef>
                <a:spcPts val="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t>    url(image2.png) center center no-repeat,</a:t>
            </a:r>
          </a:p>
          <a:p>
            <a:pPr marL="0" lvl="2" indent="457200">
              <a:spcBef>
                <a:spcPts val="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t>    url(image3.png) right bottom no-repeat;</a:t>
            </a:r>
          </a:p>
          <a:p>
            <a:pPr marL="0" lvl="2" indent="457200">
              <a:spcBef>
                <a:spcPts val="0"/>
              </a:spcBef>
              <a:buSzTx/>
              <a:buNone/>
              <a:defRPr sz="2700">
                <a:latin typeface="Courier"/>
                <a:ea typeface="Courier"/>
                <a:cs typeface="Courier"/>
                <a:sym typeface="Courier"/>
              </a:defRPr>
            </a:pPr>
            <a:r>
              <a:t>  }</a:t>
            </a:r>
          </a:p>
        </p:txBody>
      </p:sp>
    </p:spTree>
  </p:cSld>
  <p:clrMapOvr>
    <a:masterClrMapping/>
  </p:clrMapOvr>
  <p:transition spd="med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radient Fill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Gradient Fills</a:t>
            </a:r>
          </a:p>
        </p:txBody>
      </p:sp>
      <p:sp>
        <p:nvSpPr>
          <p:cNvPr id="183" name="A gradient is a transition from one color to another.…"/>
          <p:cNvSpPr txBox="1">
            <a:spLocks noGrp="1"/>
          </p:cNvSpPr>
          <p:nvPr>
            <p:ph type="body" idx="1"/>
          </p:nvPr>
        </p:nvSpPr>
        <p:spPr>
          <a:xfrm>
            <a:off x="999579" y="2476500"/>
            <a:ext cx="11099801" cy="6706146"/>
          </a:xfrm>
          <a:prstGeom prst="rect">
            <a:avLst/>
          </a:prstGeom>
        </p:spPr>
        <p:txBody>
          <a:bodyPr/>
          <a:lstStyle/>
          <a:p>
            <a:pPr marL="422275" indent="-422275" defTabSz="554990">
              <a:spcBef>
                <a:spcPts val="3900"/>
              </a:spcBef>
              <a:defRPr sz="2850"/>
            </a:pPr>
            <a:r>
              <a:t>A </a:t>
            </a:r>
            <a:r>
              <a:rPr b="1">
                <a:latin typeface="+mj-lt"/>
                <a:ea typeface="+mj-ea"/>
                <a:cs typeface="+mj-cs"/>
                <a:sym typeface="Helvetica"/>
              </a:rPr>
              <a:t>gradient</a:t>
            </a:r>
            <a:r>
              <a:t> is a transition from one color to another.</a:t>
            </a:r>
          </a:p>
          <a:p>
            <a:pPr marL="422275" indent="-422275" defTabSz="554990">
              <a:spcBef>
                <a:spcPts val="2800"/>
              </a:spcBef>
              <a:defRPr sz="285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Linear gradients</a:t>
            </a:r>
            <a:r>
              <a:t> change colors along a line.</a:t>
            </a:r>
          </a:p>
          <a:p>
            <a:pPr marL="422275" indent="-422275" defTabSz="554990">
              <a:spcBef>
                <a:spcPts val="2800"/>
              </a:spcBef>
              <a:defRPr sz="2850"/>
            </a:pPr>
            <a:r>
              <a:rPr b="1">
                <a:latin typeface="+mj-lt"/>
                <a:ea typeface="+mj-ea"/>
                <a:cs typeface="+mj-cs"/>
                <a:sym typeface="Helvetica"/>
              </a:rPr>
              <a:t>Radial gradients</a:t>
            </a:r>
            <a:r>
              <a:t> start at a point and spread outward in a circular or elliptical shape.</a:t>
            </a:r>
          </a:p>
          <a:p>
            <a:pPr marL="422275" indent="-422275" defTabSz="554990">
              <a:spcBef>
                <a:spcPts val="2800"/>
              </a:spcBef>
              <a:defRPr sz="2850"/>
            </a:pPr>
            <a:r>
              <a:t>You can generate a gradient image for use as a background using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linear-gradient()</a:t>
            </a:r>
            <a:r>
              <a:t> and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radial-gradient()</a:t>
            </a:r>
            <a:r>
              <a:t> notation.</a:t>
            </a:r>
          </a:p>
          <a:p>
            <a:pPr marL="0" indent="0" defTabSz="554990">
              <a:spcBef>
                <a:spcPts val="3900"/>
              </a:spcBef>
              <a:buSzTx/>
              <a:buNone/>
              <a:defRPr sz="2850" b="1">
                <a:latin typeface="+mj-lt"/>
                <a:ea typeface="+mj-ea"/>
                <a:cs typeface="+mj-cs"/>
                <a:sym typeface="Helvetica"/>
              </a:defRPr>
            </a:pPr>
            <a:r>
              <a:t>Example:</a:t>
            </a:r>
          </a:p>
          <a:p>
            <a:pPr marL="0" lvl="1" indent="217170" defTabSz="554990">
              <a:spcBef>
                <a:spcPts val="1100"/>
              </a:spcBef>
              <a:buSzTx/>
              <a:buNone/>
              <a:defRPr sz="2470">
                <a:latin typeface="Courier"/>
                <a:ea typeface="Courier"/>
                <a:cs typeface="Courier"/>
                <a:sym typeface="Courier"/>
              </a:defRPr>
            </a:pPr>
            <a:r>
              <a:t>#banner {</a:t>
            </a:r>
          </a:p>
          <a:p>
            <a:pPr marL="0" lvl="1" indent="217170" defTabSz="554990">
              <a:spcBef>
                <a:spcPts val="0"/>
              </a:spcBef>
              <a:buSzTx/>
              <a:buNone/>
              <a:defRPr sz="2470">
                <a:latin typeface="Courier"/>
                <a:ea typeface="Courier"/>
                <a:cs typeface="Courier"/>
                <a:sym typeface="Courier"/>
              </a:defRPr>
            </a:pPr>
            <a:r>
              <a:t>  background-image: </a:t>
            </a:r>
            <a:r>
              <a:rPr b="1">
                <a:solidFill>
                  <a:schemeClr val="accent4">
                    <a:hueOff val="384618"/>
                    <a:satOff val="3869"/>
                    <a:lumOff val="5802"/>
                  </a:schemeClr>
                </a:solidFill>
              </a:rPr>
              <a:t>linear-gradient(180deg, aqua, green)</a:t>
            </a:r>
            <a:r>
              <a:t>; </a:t>
            </a:r>
          </a:p>
          <a:p>
            <a:pPr marL="0" lvl="1" indent="217170" defTabSz="554990">
              <a:spcBef>
                <a:spcPts val="0"/>
              </a:spcBef>
              <a:buSzTx/>
              <a:buNone/>
              <a:defRPr sz="2470">
                <a:latin typeface="Courier"/>
                <a:ea typeface="Courier"/>
                <a:cs typeface="Courier"/>
                <a:sym typeface="Courier"/>
              </a:defRPr>
            </a:pPr>
            <a:r>
              <a:t>}</a:t>
            </a:r>
          </a:p>
        </p:txBody>
      </p:sp>
    </p:spTree>
  </p:cSld>
  <p:clrMapOvr>
    <a:masterClrMapping/>
  </p:clrMapOvr>
  <p:transition spd="med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Linear Gradi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Gradient</a:t>
            </a:r>
          </a:p>
        </p:txBody>
      </p:sp>
      <p:sp>
        <p:nvSpPr>
          <p:cNvPr id="186" name="The linear-gradient() notation provides the angle of a gradient line and the colors the line passes through.…"/>
          <p:cNvSpPr txBox="1">
            <a:spLocks noGrp="1"/>
          </p:cNvSpPr>
          <p:nvPr>
            <p:ph type="body" sz="half" idx="1"/>
          </p:nvPr>
        </p:nvSpPr>
        <p:spPr>
          <a:xfrm>
            <a:off x="850900" y="3145432"/>
            <a:ext cx="5903814" cy="5215336"/>
          </a:xfrm>
          <a:prstGeom prst="rect">
            <a:avLst/>
          </a:prstGeom>
        </p:spPr>
        <p:txBody>
          <a:bodyPr anchor="t"/>
          <a:lstStyle/>
          <a:p>
            <a:pPr marL="0" indent="0">
              <a:buSzTx/>
              <a:buNone/>
              <a:defRPr sz="3000"/>
            </a:pPr>
            <a:r>
              <a:t>The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linear-gradient()</a:t>
            </a:r>
            <a:r>
              <a:t> notation provides the angle of a gradient line and the colors the line passes through.</a:t>
            </a:r>
          </a:p>
          <a:p>
            <a:pPr marL="0" indent="0">
              <a:buSzTx/>
              <a:buNone/>
              <a:defRPr sz="3000"/>
            </a:pPr>
            <a:r>
              <a:t>It is specified in degrees (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deg</a:t>
            </a:r>
            <a:r>
              <a:t>) or keywords (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to top</a:t>
            </a:r>
            <a: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to right</a:t>
            </a:r>
            <a: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to bottom</a:t>
            </a:r>
            <a:r>
              <a:t>, </a:t>
            </a:r>
            <a:r>
              <a:rPr>
                <a:latin typeface="Courier"/>
                <a:ea typeface="Courier"/>
                <a:cs typeface="Courier"/>
                <a:sym typeface="Courier"/>
              </a:rPr>
              <a:t>to left</a:t>
            </a:r>
            <a:r>
              <a:t>).</a:t>
            </a:r>
          </a:p>
        </p:txBody>
      </p:sp>
      <p:pic>
        <p:nvPicPr>
          <p:cNvPr id="187" name="lwd5_1331_linear.png" descr="lwd5_1331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8335" y="2286956"/>
            <a:ext cx="5447515" cy="6932288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Radial Gradien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Radial Gradients</a:t>
            </a:r>
          </a:p>
        </p:txBody>
      </p:sp>
      <p:sp>
        <p:nvSpPr>
          <p:cNvPr id="190" name="The radial-gradient() notation provides the color values and optional size, shape, and position information."/>
          <p:cNvSpPr txBox="1">
            <a:spLocks noGrp="1"/>
          </p:cNvSpPr>
          <p:nvPr>
            <p:ph type="body" sz="quarter" idx="4294967295"/>
          </p:nvPr>
        </p:nvSpPr>
        <p:spPr>
          <a:xfrm>
            <a:off x="698500" y="2540000"/>
            <a:ext cx="5412135" cy="2281337"/>
          </a:xfrm>
          <a:prstGeom prst="rect">
            <a:avLst/>
          </a:prstGeom>
        </p:spPr>
        <p:txBody>
          <a:bodyPr/>
          <a:lstStyle/>
          <a:p>
            <a:pPr marL="0" indent="0" defTabSz="566674">
              <a:spcBef>
                <a:spcPts val="4000"/>
              </a:spcBef>
              <a:buSzTx/>
              <a:buNone/>
              <a:defRPr sz="2910"/>
            </a:pPr>
            <a:r>
              <a:t>The </a:t>
            </a:r>
            <a:r>
              <a:rPr b="1">
                <a:latin typeface="Courier"/>
                <a:ea typeface="Courier"/>
                <a:cs typeface="Courier"/>
                <a:sym typeface="Courier"/>
              </a:rPr>
              <a:t>radial-gradient()</a:t>
            </a:r>
            <a:r>
              <a:t> notation provides the color values and optional size, shape, and position information.</a:t>
            </a:r>
          </a:p>
        </p:txBody>
      </p:sp>
      <p:pic>
        <p:nvPicPr>
          <p:cNvPr id="191" name="lwd5_1334_radialexamples.png" descr="lwd5_1334_radial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2664" y="2559311"/>
            <a:ext cx="5164837" cy="6489439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/Relationships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3585F"/>
      </a:dk2>
      <a:lt2>
        <a:srgbClr val="DCDEE0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 Light"/>
        <a:ea typeface="Helvetica Light"/>
        <a:cs typeface="Helvetica Light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127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blipFill rotWithShape="1">
          <a:blip xmlns:r="http://schemas.openxmlformats.org/officeDocument/2006/relationships" r:embed="rId1"/>
          <a:srcRect/>
          <a:tile tx="0" ty="0" sx="100000" sy="100000" flip="none" algn="tl"/>
        </a:blipFill>
        <a:ln w="12700" cap="flat">
          <a:noFill/>
          <a:miter lim="400000"/>
        </a:ln>
        <a:effectLst>
          <a:outerShdw blurRad="38100" dist="25400" dir="5400000" rotWithShape="0">
            <a:srgbClr val="000000">
              <a:alpha val="50000"/>
            </a:srgbClr>
          </a:outerShdw>
        </a:effectLst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4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6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1246</Words>
  <Application>Microsoft Macintosh PowerPoint</Application>
  <PresentationFormat>Custom</PresentationFormat>
  <Paragraphs>138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5" baseType="lpstr">
      <vt:lpstr>Courier</vt:lpstr>
      <vt:lpstr>Helvetica</vt:lpstr>
      <vt:lpstr>Helvetica Light</vt:lpstr>
      <vt:lpstr>Helvetica Neue</vt:lpstr>
      <vt:lpstr>White</vt:lpstr>
      <vt:lpstr>PowerPoint Presentation</vt:lpstr>
      <vt:lpstr>PowerPoint Presentation</vt:lpstr>
      <vt:lpstr>Color Spaces and Models</vt:lpstr>
      <vt:lpstr>Named Color Values</vt:lpstr>
      <vt:lpstr>Numeric Color Values</vt:lpstr>
      <vt:lpstr>RGB Color</vt:lpstr>
      <vt:lpstr>RGB Values in Style Rules</vt:lpstr>
      <vt:lpstr>Hexadecimal RGB Values</vt:lpstr>
      <vt:lpstr>HSL</vt:lpstr>
      <vt:lpstr>HSL, continued</vt:lpstr>
      <vt:lpstr>HSL, continued</vt:lpstr>
      <vt:lpstr>OKLCH</vt:lpstr>
      <vt:lpstr>OKLCH, continued</vt:lpstr>
      <vt:lpstr>Adding Transparency</vt:lpstr>
      <vt:lpstr>Foreground Color</vt:lpstr>
      <vt:lpstr>Background Color</vt:lpstr>
      <vt:lpstr>Clipping the Background</vt:lpstr>
      <vt:lpstr>Opacity</vt:lpstr>
      <vt:lpstr>Tiling Background Images</vt:lpstr>
      <vt:lpstr>Background Repeating</vt:lpstr>
      <vt:lpstr>Background Repeating (cont’d)</vt:lpstr>
      <vt:lpstr>Background Position</vt:lpstr>
      <vt:lpstr>Background Position (cont’d)</vt:lpstr>
      <vt:lpstr>Background Attachment</vt:lpstr>
      <vt:lpstr>Background Size</vt:lpstr>
      <vt:lpstr>Shorthand background Property</vt:lpstr>
      <vt:lpstr>Multiple Background Images</vt:lpstr>
      <vt:lpstr>Gradient Fills</vt:lpstr>
      <vt:lpstr>Linear Gradient</vt:lpstr>
      <vt:lpstr>Radial Gradients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1</cp:revision>
  <dcterms:modified xsi:type="dcterms:W3CDTF">2026-09-23T06:46:48Z</dcterms:modified>
</cp:coreProperties>
</file>