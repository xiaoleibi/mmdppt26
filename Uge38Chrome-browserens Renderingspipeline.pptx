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9"/>
  </p:notesMasterIdLst>
  <p:sldIdLst>
    <p:sldId id="256" r:id="rId3"/>
    <p:sldId id="257" r:id="rId4"/>
    <p:sldId id="258" r:id="rId5"/>
    <p:sldId id="259" r:id="rId6"/>
    <p:sldId id="260" r:id="rId7"/>
    <p:sldId id="270" r:id="rId8"/>
    <p:sldId id="271"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0"/>
  </p:normalViewPr>
  <p:slideViewPr>
    <p:cSldViewPr snapToGrid="0">
      <p:cViewPr varScale="1">
        <p:scale>
          <a:sx n="99" d="100"/>
          <a:sy n="99" d="100"/>
        </p:scale>
        <p:origin x="96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Velkommen</a:t>
            </a:r>
            <a:r>
              <a:rPr lang="en-US" sz="1400" b="0" i="0" u="none" strike="noStrike" dirty="0">
                <a:solidFill>
                  <a:srgbClr val="000000"/>
                </a:solidFill>
              </a:rPr>
              <a:t> </a:t>
            </a:r>
            <a:r>
              <a:rPr lang="en-US" sz="1400" b="0" i="0" u="none" strike="noStrike" dirty="0" err="1">
                <a:solidFill>
                  <a:srgbClr val="000000"/>
                </a:solidFill>
              </a:rPr>
              <a:t>til</a:t>
            </a:r>
            <a:r>
              <a:rPr lang="en-US" sz="1400" b="0" i="0" u="none" strike="noStrike" dirty="0">
                <a:solidFill>
                  <a:srgbClr val="000000"/>
                </a:solidFill>
              </a:rPr>
              <a:t> </a:t>
            </a:r>
            <a:r>
              <a:rPr lang="en-US" sz="1400" b="0" i="0" u="none" strike="noStrike" dirty="0" err="1">
                <a:solidFill>
                  <a:srgbClr val="000000"/>
                </a:solidFill>
              </a:rPr>
              <a:t>denne</a:t>
            </a:r>
            <a:r>
              <a:rPr lang="en-US" sz="1400" b="0" i="0" u="none" strike="noStrike" dirty="0">
                <a:solidFill>
                  <a:srgbClr val="000000"/>
                </a:solidFill>
              </a:rPr>
              <a:t> </a:t>
            </a:r>
            <a:r>
              <a:rPr lang="en-US" sz="1400" b="0" i="0" u="none" strike="noStrike" dirty="0" err="1">
                <a:solidFill>
                  <a:srgbClr val="000000"/>
                </a:solidFill>
              </a:rPr>
              <a:t>tekniske</a:t>
            </a:r>
            <a:r>
              <a:rPr lang="en-US" sz="1400" b="0" i="0" u="none" strike="noStrike" dirty="0">
                <a:solidFill>
                  <a:srgbClr val="000000"/>
                </a:solidFill>
              </a:rPr>
              <a:t> </a:t>
            </a:r>
            <a:r>
              <a:rPr lang="en-US" sz="1400" b="0" i="0" u="none" strike="noStrike" dirty="0" err="1">
                <a:solidFill>
                  <a:srgbClr val="000000"/>
                </a:solidFill>
              </a:rPr>
              <a:t>dybdykning</a:t>
            </a:r>
            <a:r>
              <a:rPr lang="en-US" sz="1400" b="0" i="0" u="none" strike="noStrike" dirty="0">
                <a:solidFill>
                  <a:srgbClr val="000000"/>
                </a:solidFill>
              </a:rPr>
              <a:t> </a:t>
            </a:r>
            <a:r>
              <a:rPr lang="en-US" sz="1400" b="0" i="0" u="none" strike="noStrike" dirty="0" err="1">
                <a:solidFill>
                  <a:srgbClr val="000000"/>
                </a:solidFill>
              </a:rPr>
              <a:t>i</a:t>
            </a:r>
            <a:r>
              <a:rPr lang="en-US" sz="1400" b="0" i="0" u="none" strike="noStrike" dirty="0">
                <a:solidFill>
                  <a:srgbClr val="000000"/>
                </a:solidFill>
              </a:rPr>
              <a:t> Chrome-browsers </a:t>
            </a:r>
            <a:r>
              <a:rPr lang="en-US" sz="1400" b="0" i="0" u="none" strike="noStrike" dirty="0" err="1">
                <a:solidFill>
                  <a:srgbClr val="000000"/>
                </a:solidFill>
              </a:rPr>
              <a:t>indre</a:t>
            </a:r>
            <a:r>
              <a:rPr lang="en-US" sz="1400" b="0" i="0" u="none" strike="noStrike" dirty="0">
                <a:solidFill>
                  <a:srgbClr val="000000"/>
                </a:solidFill>
              </a:rPr>
              <a:t> </a:t>
            </a:r>
            <a:r>
              <a:rPr lang="en-US" sz="1400" b="0" i="0" u="none" strike="noStrike" dirty="0" err="1">
                <a:solidFill>
                  <a:srgbClr val="000000"/>
                </a:solidFill>
              </a:rPr>
              <a:t>funktion</a:t>
            </a:r>
            <a:r>
              <a:rPr lang="en-US" sz="1400" b="0" i="0" u="none" strike="noStrike" dirty="0">
                <a:solidFill>
                  <a:srgbClr val="000000"/>
                </a:solidFill>
              </a:rPr>
              <a:t>. I </a:t>
            </a:r>
            <a:r>
              <a:rPr lang="en-US" sz="1400" b="0" i="0" u="none" strike="noStrike" dirty="0" err="1">
                <a:solidFill>
                  <a:srgbClr val="000000"/>
                </a:solidFill>
              </a:rPr>
              <a:t>dag</a:t>
            </a:r>
            <a:r>
              <a:rPr lang="en-US" sz="1400" b="0" i="0" u="none" strike="noStrike" dirty="0">
                <a:solidFill>
                  <a:srgbClr val="000000"/>
                </a:solidFill>
              </a:rPr>
              <a:t> </a:t>
            </a:r>
            <a:r>
              <a:rPr lang="en-US" sz="1400" b="0" i="0" u="none" strike="noStrike" dirty="0" err="1">
                <a:solidFill>
                  <a:srgbClr val="000000"/>
                </a:solidFill>
              </a:rPr>
              <a:t>vil</a:t>
            </a:r>
            <a:r>
              <a:rPr lang="en-US" sz="1400" b="0" i="0" u="none" strike="noStrike" dirty="0">
                <a:solidFill>
                  <a:srgbClr val="000000"/>
                </a:solidFill>
              </a:rPr>
              <a:t> vi </a:t>
            </a:r>
            <a:r>
              <a:rPr lang="en-US" sz="1400" b="0" i="0" u="none" strike="noStrike" dirty="0" err="1">
                <a:solidFill>
                  <a:srgbClr val="000000"/>
                </a:solidFill>
              </a:rPr>
              <a:t>udforske</a:t>
            </a:r>
            <a:r>
              <a:rPr lang="en-US" sz="1400" b="0" i="0" u="none" strike="noStrike" dirty="0">
                <a:solidFill>
                  <a:srgbClr val="000000"/>
                </a:solidFill>
              </a:rPr>
              <a:t>, </a:t>
            </a:r>
            <a:r>
              <a:rPr lang="en-US" sz="1400" b="0" i="0" u="none" strike="noStrike" dirty="0" err="1">
                <a:solidFill>
                  <a:srgbClr val="000000"/>
                </a:solidFill>
              </a:rPr>
              <a:t>hvordan</a:t>
            </a:r>
            <a:r>
              <a:rPr lang="en-US" sz="1400" b="0" i="0" u="none" strike="noStrike" dirty="0">
                <a:solidFill>
                  <a:srgbClr val="000000"/>
                </a:solidFill>
              </a:rPr>
              <a:t> </a:t>
            </a:r>
            <a:r>
              <a:rPr lang="en-US" sz="1400" b="0" i="0" u="none" strike="noStrike" dirty="0" err="1">
                <a:solidFill>
                  <a:srgbClr val="000000"/>
                </a:solidFill>
              </a:rPr>
              <a:t>en</a:t>
            </a:r>
            <a:r>
              <a:rPr lang="en-US" sz="1400" b="0" i="0" u="none" strike="noStrike" dirty="0">
                <a:solidFill>
                  <a:srgbClr val="000000"/>
                </a:solidFill>
              </a:rPr>
              <a:t> </a:t>
            </a:r>
            <a:r>
              <a:rPr lang="en-US" sz="1400" b="0" i="0" u="none" strike="noStrike" dirty="0" err="1">
                <a:solidFill>
                  <a:srgbClr val="000000"/>
                </a:solidFill>
              </a:rPr>
              <a:t>simpel</a:t>
            </a:r>
            <a:r>
              <a:rPr lang="en-US" sz="1400" b="0" i="0" u="none" strike="noStrike" dirty="0">
                <a:solidFill>
                  <a:srgbClr val="000000"/>
                </a:solidFill>
              </a:rPr>
              <a:t> HTML-fil </a:t>
            </a:r>
            <a:r>
              <a:rPr lang="en-US" sz="1400" b="0" i="0" u="none" strike="noStrike" dirty="0" err="1">
                <a:solidFill>
                  <a:srgbClr val="000000"/>
                </a:solidFill>
              </a:rPr>
              <a:t>bliver</a:t>
            </a:r>
            <a:r>
              <a:rPr lang="en-US" sz="1400" b="0" i="0" u="none" strike="noStrike" dirty="0">
                <a:solidFill>
                  <a:srgbClr val="000000"/>
                </a:solidFill>
              </a:rPr>
              <a:t> </a:t>
            </a:r>
            <a:r>
              <a:rPr lang="en-US" sz="1400" b="0" i="0" u="none" strike="noStrike" dirty="0" err="1">
                <a:solidFill>
                  <a:srgbClr val="000000"/>
                </a:solidFill>
              </a:rPr>
              <a:t>omdannet</a:t>
            </a:r>
            <a:r>
              <a:rPr lang="en-US" sz="1400" b="0" i="0" u="none" strike="noStrike" dirty="0">
                <a:solidFill>
                  <a:srgbClr val="000000"/>
                </a:solidFill>
              </a:rPr>
              <a:t> </a:t>
            </a:r>
            <a:r>
              <a:rPr lang="en-US" sz="1400" b="0" i="0" u="none" strike="noStrike" dirty="0" err="1">
                <a:solidFill>
                  <a:srgbClr val="000000"/>
                </a:solidFill>
              </a:rPr>
              <a:t>til</a:t>
            </a:r>
            <a:r>
              <a:rPr lang="en-US" sz="1400" b="0" i="0" u="none" strike="noStrike" dirty="0">
                <a:solidFill>
                  <a:srgbClr val="000000"/>
                </a:solidFill>
              </a:rPr>
              <a:t> den </a:t>
            </a:r>
            <a:r>
              <a:rPr lang="en-US" sz="1400" b="0" i="0" u="none" strike="noStrike" dirty="0" err="1">
                <a:solidFill>
                  <a:srgbClr val="000000"/>
                </a:solidFill>
              </a:rPr>
              <a:t>dynamiske</a:t>
            </a:r>
            <a:r>
              <a:rPr lang="en-US" sz="1400" b="0" i="0" u="none" strike="noStrike" dirty="0">
                <a:solidFill>
                  <a:srgbClr val="000000"/>
                </a:solidFill>
              </a:rPr>
              <a:t> </a:t>
            </a:r>
            <a:r>
              <a:rPr lang="en-US" sz="1400" b="0" i="0" u="none" strike="noStrike" dirty="0" err="1">
                <a:solidFill>
                  <a:srgbClr val="000000"/>
                </a:solidFill>
              </a:rPr>
              <a:t>og</a:t>
            </a:r>
            <a:r>
              <a:rPr lang="en-US" sz="1400" b="0" i="0" u="none" strike="noStrike" dirty="0">
                <a:solidFill>
                  <a:srgbClr val="000000"/>
                </a:solidFill>
              </a:rPr>
              <a:t> </a:t>
            </a:r>
            <a:r>
              <a:rPr lang="en-US" sz="1400" b="0" i="0" u="none" strike="noStrike" dirty="0" err="1">
                <a:solidFill>
                  <a:srgbClr val="000000"/>
                </a:solidFill>
              </a:rPr>
              <a:t>interaktive</a:t>
            </a:r>
            <a:r>
              <a:rPr lang="en-US" sz="1400" b="0" i="0" u="none" strike="noStrike" dirty="0">
                <a:solidFill>
                  <a:srgbClr val="000000"/>
                </a:solidFill>
              </a:rPr>
              <a:t> side, du ser </a:t>
            </a:r>
            <a:r>
              <a:rPr lang="en-US" sz="1400" b="0" i="0" u="none" strike="noStrike" dirty="0" err="1">
                <a:solidFill>
                  <a:srgbClr val="000000"/>
                </a:solidFill>
              </a:rPr>
              <a:t>på</a:t>
            </a:r>
            <a:r>
              <a:rPr lang="en-US" sz="1400" b="0" i="0" u="none" strike="noStrike" dirty="0">
                <a:solidFill>
                  <a:srgbClr val="000000"/>
                </a:solidFill>
              </a:rPr>
              <a:t> </a:t>
            </a:r>
            <a:r>
              <a:rPr lang="en-US" sz="1400" b="0" i="0" u="none" strike="noStrike" dirty="0" err="1">
                <a:solidFill>
                  <a:srgbClr val="000000"/>
                </a:solidFill>
              </a:rPr>
              <a:t>skærmen</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Dette er det overordnede program for i dag. Vi vil starte med en indledning til rendering, derefter gå igennem hvert trin i pipeline'en, og til sidst opsummere og drøfte nøglekoncepter.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Først og fremmest: hvad er rendering? Det er browserens måde at omdanne kode til en synlig side. Processen følger en klar pipeline, som vi nu vil dykke ned i. Forståelsen af denne pipeline er afgørende for at udvikle hurtigere webapplikationer.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 er en visuel repræsentation af hele renderingspipeline'en. Det starter med at hente filerne, derefter parseres de, styles, layout beregnes, maling sker, og til sidst sammensættes alt til det endelige billede på skærmen.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Første trin er at hente dataen. Chrome sender en HTTP-forespørgsel og modtager en byte-strøm. Disse bytes skal herefter dekodes til tegn, som browseren kan forstå, typisk ved hjælp af UTF-8.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Når bytes er blevet omdannet til tegn, tager HTML Parseren over. Den opdeler teksten i tokens og bygger derefter et DOM-træ, som er browserens interne forståelse af dokumentet. Bemærk, at JavaScript kan blokere denne proces.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Samtidig med HTML-parsing parse'es også CSS. Resultatet er et CSSOM-træ, der holder styr på alle stilarter for dokumentet. Dette er essentielt for at kunne bestemme, hvordan elementerne skal se ud.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Næste trin er at kombinere DOM-træet med CSSOM-træet for at skabe et Render-træ. Dette træ inkluderer kun de elementer, der er synlige på skærmen, og deres endelige stilarter.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Nu ved browseren, hvad der skal vises og med hvilke stilarter. Næste trin er at beregne, hvor hvert element skal placeres. Dette kaldes Layout eller Reflow, og det omfatter beregning af størrelse, position og andre geometriske egenskaber.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Efter layout er det tid til at male. Browseren registrerer malingsinstruktioner for hvert element, som f.eks. baggrund, tekst og grænser. Disse instruktioner opdeles i lag, men tegnes endnu ikke direkte på skærmen.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Sidste trin er sammensætning. Chrome opdeler siden i lag, som sendes til GPU'en. En separat sammensætningstråd kombinerer derefter lagene til det endelige billede. Dette gør det muligt at have glatte animationer, selv når hovedtråden er optaget.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For at forstå ydeevne er det vigtigt at forstå forskellen mellem hovedtråden og sammensætningstråden. Hovedtråden håndterer parsing og JS, og kan blive blokeret. Sammensætningstråden kører separat og håndterer animationer, hvilket er afgørende for en god brugeroplevelse.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Lad os opsummere. Hele processen går fra at hente filerne, parse dem til DOM og CSSOM, bygge et Render-træ, beregne layout, male elementerne i lag, og til sidst sammensætte lagene til det endelige billede på skærmen.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Tak for din opmærksomhed. Jeg håber, at denne guide har givet dig en bedre forståelse af, hvordan Chrome renderer websider. Har du nogle spørgsmål?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8.jpeg"/><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0.jpeg"/><Relationship Id="rId5" Type="http://schemas.openxmlformats.org/officeDocument/2006/relationships/image" Target="../media/image19.sv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6.sv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4.svg"/><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6.jpeg"/><Relationship Id="rId5" Type="http://schemas.openxmlformats.org/officeDocument/2006/relationships/image" Target="../media/image25.sv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8.svg"/><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Poppins"/>
                <a:ea typeface="Poppins"/>
                <a:cs typeface="Poppins"/>
                <a:sym typeface="Poppins"/>
              </a:rPr>
              <a:t>Hvorledes Chrome-browseren parser HTML</a:t>
            </a:r>
            <a:endParaRPr lang="en-US" sz="1100"/>
          </a:p>
        </p:txBody>
      </p:sp>
      <p:sp>
        <p:nvSpPr>
          <p:cNvPr id="4" name="AutoShape 4"/>
          <p:cNvSpPr/>
          <p:nvPr/>
        </p:nvSpPr>
        <p:spPr>
          <a:xfrm>
            <a:off x="1016000" y="4127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FFFFFF">
                    <a:alpha val="85098"/>
                  </a:srgbClr>
                </a:solidFill>
                <a:latin typeface="Poppins"/>
                <a:ea typeface="Poppins"/>
                <a:cs typeface="Poppins"/>
                <a:sym typeface="Poppins"/>
              </a:rPr>
              <a:t>En dybdegående guide til renderingspipeline</a:t>
            </a:r>
            <a:endParaRPr lang="en-US" sz="1100"/>
          </a:p>
        </p:txBody>
      </p:sp>
      <p:sp>
        <p:nvSpPr>
          <p:cNvPr id="5" name="AutoShape 5"/>
          <p:cNvSpPr/>
          <p:nvPr/>
        </p:nvSpPr>
        <p:spPr>
          <a:xfrm>
            <a:off x="1016000" y="5435600"/>
            <a:ext cx="50800" cy="508000"/>
          </a:xfrm>
          <a:prstGeom prst="roundRect">
            <a:avLst>
              <a:gd name="adj" fmla="val 0"/>
            </a:avLst>
          </a:prstGeom>
          <a:solidFill>
            <a:srgbClr val="34D399">
              <a:alpha val="100000"/>
            </a:srgbClr>
          </a:solidFill>
          <a:ln cap="flat" cmpd="sng">
            <a:solidFill>
              <a:srgbClr val="1BB980">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5397500"/>
            <a:ext cx="990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dirty="0" err="1">
                <a:solidFill>
                  <a:srgbClr val="FFFFFF">
                    <a:alpha val="70196"/>
                  </a:srgbClr>
                </a:solidFill>
                <a:latin typeface="Poppins"/>
                <a:ea typeface="Poppins"/>
                <a:cs typeface="Poppins"/>
                <a:sym typeface="Poppins"/>
              </a:rPr>
              <a:t>Præsentant</a:t>
            </a:r>
            <a:r>
              <a:rPr lang="en-US" sz="1600" b="0" i="0" u="none" strike="noStrike" dirty="0">
                <a:solidFill>
                  <a:srgbClr val="FFFFFF">
                    <a:alpha val="70196"/>
                  </a:srgbClr>
                </a:solidFill>
                <a:latin typeface="Poppins"/>
                <a:ea typeface="Poppins"/>
                <a:cs typeface="Poppins"/>
                <a:sym typeface="Poppins"/>
              </a:rPr>
              <a:t>: [XBI] • Dato: 18.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Indholdsfortegnelse</a:t>
            </a:r>
            <a:endParaRPr lang="en-US" sz="1100"/>
          </a:p>
        </p:txBody>
      </p:sp>
      <p:sp>
        <p:nvSpPr>
          <p:cNvPr id="4" name="AutoShape 4"/>
          <p:cNvSpPr/>
          <p:nvPr/>
        </p:nvSpPr>
        <p:spPr>
          <a:xfrm>
            <a:off x="762000" y="15240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15240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Poppins"/>
                <a:ea typeface="Poppins"/>
                <a:cs typeface="Poppins"/>
                <a:sym typeface="Poppins"/>
              </a:rPr>
              <a:t>01</a:t>
            </a:r>
            <a:endParaRPr lang="en-US" sz="1100"/>
          </a:p>
        </p:txBody>
      </p:sp>
      <p:sp>
        <p:nvSpPr>
          <p:cNvPr id="6" name="AutoShape 6"/>
          <p:cNvSpPr/>
          <p:nvPr/>
        </p:nvSpPr>
        <p:spPr>
          <a:xfrm>
            <a:off x="1587500" y="15240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Indledning: Hvad er rendering?</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Processen bag kode-til-pixels omdannelse og den overordnede pipeline.</a:t>
            </a:r>
            <a:endParaRPr lang="en-US" sz="1100"/>
          </a:p>
        </p:txBody>
      </p:sp>
      <p:sp>
        <p:nvSpPr>
          <p:cNvPr id="7" name="AutoShape 7"/>
          <p:cNvSpPr/>
          <p:nvPr/>
        </p:nvSpPr>
        <p:spPr>
          <a:xfrm>
            <a:off x="762000" y="25654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25654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Poppins"/>
                <a:ea typeface="Poppins"/>
                <a:cs typeface="Poppins"/>
                <a:sym typeface="Poppins"/>
              </a:rPr>
              <a:t>02</a:t>
            </a:r>
            <a:endParaRPr lang="en-US" sz="1100"/>
          </a:p>
        </p:txBody>
      </p:sp>
      <p:sp>
        <p:nvSpPr>
          <p:cNvPr id="9" name="AutoShape 9"/>
          <p:cNvSpPr/>
          <p:nvPr/>
        </p:nvSpPr>
        <p:spPr>
          <a:xfrm>
            <a:off x="1587500" y="25654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Netværk &amp; Decoding</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HTTP-hentning af HTML/CSS og omdannelse af bytes til Unicode-tegn.</a:t>
            </a:r>
            <a:endParaRPr lang="en-US" sz="1100"/>
          </a:p>
        </p:txBody>
      </p:sp>
      <p:sp>
        <p:nvSpPr>
          <p:cNvPr id="10" name="AutoShape 10"/>
          <p:cNvSpPr/>
          <p:nvPr/>
        </p:nvSpPr>
        <p:spPr>
          <a:xfrm>
            <a:off x="762000" y="36068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36068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Poppins"/>
                <a:ea typeface="Poppins"/>
                <a:cs typeface="Poppins"/>
                <a:sym typeface="Poppins"/>
              </a:rPr>
              <a:t>03</a:t>
            </a:r>
            <a:endParaRPr lang="en-US" sz="1100"/>
          </a:p>
        </p:txBody>
      </p:sp>
      <p:sp>
        <p:nvSpPr>
          <p:cNvPr id="12" name="AutoShape 12"/>
          <p:cNvSpPr/>
          <p:nvPr/>
        </p:nvSpPr>
        <p:spPr>
          <a:xfrm>
            <a:off x="1587500" y="36068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HTML Parser &amp; DOM-træet</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Tokenization, tree construction og opbygning af DOM-strukturen.</a:t>
            </a:r>
            <a:endParaRPr lang="en-US" sz="1100"/>
          </a:p>
        </p:txBody>
      </p:sp>
      <p:sp>
        <p:nvSpPr>
          <p:cNvPr id="13" name="AutoShape 13"/>
          <p:cNvSpPr/>
          <p:nvPr/>
        </p:nvSpPr>
        <p:spPr>
          <a:xfrm>
            <a:off x="762000" y="46482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89000" y="46482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Poppins"/>
                <a:ea typeface="Poppins"/>
                <a:cs typeface="Poppins"/>
                <a:sym typeface="Poppins"/>
              </a:rPr>
              <a:t>04</a:t>
            </a:r>
            <a:endParaRPr lang="en-US" sz="1100"/>
          </a:p>
        </p:txBody>
      </p:sp>
      <p:sp>
        <p:nvSpPr>
          <p:cNvPr id="15" name="AutoShape 15"/>
          <p:cNvSpPr/>
          <p:nvPr/>
        </p:nvSpPr>
        <p:spPr>
          <a:xfrm>
            <a:off x="1587500" y="46482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CSS Parser &amp; CSSOM</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Analysering af stilarter og skabelse af CSS Object Model.</a:t>
            </a:r>
            <a:endParaRPr lang="en-US" sz="1100"/>
          </a:p>
        </p:txBody>
      </p:sp>
      <p:sp>
        <p:nvSpPr>
          <p:cNvPr id="16" name="AutoShape 16"/>
          <p:cNvSpPr/>
          <p:nvPr/>
        </p:nvSpPr>
        <p:spPr>
          <a:xfrm>
            <a:off x="762000" y="56896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89000" y="56896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Poppins"/>
                <a:ea typeface="Poppins"/>
                <a:cs typeface="Poppins"/>
                <a:sym typeface="Poppins"/>
              </a:rPr>
              <a:t>05</a:t>
            </a:r>
            <a:endParaRPr lang="en-US" sz="1100"/>
          </a:p>
        </p:txBody>
      </p:sp>
      <p:sp>
        <p:nvSpPr>
          <p:cNvPr id="18" name="AutoShape 18"/>
          <p:cNvSpPr/>
          <p:nvPr/>
        </p:nvSpPr>
        <p:spPr>
          <a:xfrm>
            <a:off x="1587500" y="56896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Bygge Render-træet</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Kombination af DOM og CSSOM til et visuelt render-træ.</a:t>
            </a:r>
            <a:endParaRPr lang="en-US" sz="1100"/>
          </a:p>
        </p:txBody>
      </p:sp>
      <p:sp>
        <p:nvSpPr>
          <p:cNvPr id="19" name="AutoShape 19"/>
          <p:cNvSpPr/>
          <p:nvPr/>
        </p:nvSpPr>
        <p:spPr>
          <a:xfrm>
            <a:off x="6477000" y="15240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04000" y="15240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Poppins"/>
                <a:ea typeface="Poppins"/>
                <a:cs typeface="Poppins"/>
                <a:sym typeface="Poppins"/>
              </a:rPr>
              <a:t>06</a:t>
            </a:r>
            <a:endParaRPr lang="en-US" sz="1100"/>
          </a:p>
        </p:txBody>
      </p:sp>
      <p:sp>
        <p:nvSpPr>
          <p:cNvPr id="21" name="AutoShape 21"/>
          <p:cNvSpPr/>
          <p:nvPr/>
        </p:nvSpPr>
        <p:spPr>
          <a:xfrm>
            <a:off x="7302500" y="15240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Layout (Reflow) Processen</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Beregning af geometri, størrelse og positionering af elementer.</a:t>
            </a:r>
            <a:endParaRPr lang="en-US" sz="1100"/>
          </a:p>
        </p:txBody>
      </p:sp>
      <p:sp>
        <p:nvSpPr>
          <p:cNvPr id="22" name="AutoShape 22"/>
          <p:cNvSpPr/>
          <p:nvPr/>
        </p:nvSpPr>
        <p:spPr>
          <a:xfrm>
            <a:off x="6477000" y="25654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solidFill>
                <a:schemeClr val="tx2"/>
              </a:solidFill>
              <a:highlight>
                <a:srgbClr val="C0C0C0"/>
              </a:highlight>
            </a:endParaRPr>
          </a:p>
        </p:txBody>
      </p:sp>
      <p:sp>
        <p:nvSpPr>
          <p:cNvPr id="23" name="AutoShape 23"/>
          <p:cNvSpPr/>
          <p:nvPr/>
        </p:nvSpPr>
        <p:spPr>
          <a:xfrm>
            <a:off x="6604000" y="25654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chemeClr val="tx2"/>
                </a:solidFill>
                <a:highlight>
                  <a:srgbClr val="C0C0C0"/>
                </a:highlight>
                <a:latin typeface="Poppins"/>
                <a:ea typeface="Poppins"/>
                <a:cs typeface="Poppins"/>
                <a:sym typeface="Poppins"/>
              </a:rPr>
              <a:t>07</a:t>
            </a:r>
            <a:endParaRPr lang="en-US" sz="1100" dirty="0">
              <a:solidFill>
                <a:schemeClr val="tx2"/>
              </a:solidFill>
              <a:highlight>
                <a:srgbClr val="C0C0C0"/>
              </a:highlight>
            </a:endParaRPr>
          </a:p>
        </p:txBody>
      </p:sp>
      <p:sp>
        <p:nvSpPr>
          <p:cNvPr id="24" name="AutoShape 24"/>
          <p:cNvSpPr/>
          <p:nvPr/>
        </p:nvSpPr>
        <p:spPr>
          <a:xfrm>
            <a:off x="7302500" y="25654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Maling (Repaint) &amp; Lag</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Generering af malingsinstruktioner og opdeling i PaintChunks.</a:t>
            </a:r>
            <a:endParaRPr lang="en-US" sz="1100"/>
          </a:p>
        </p:txBody>
      </p:sp>
      <p:sp>
        <p:nvSpPr>
          <p:cNvPr id="25" name="AutoShape 25"/>
          <p:cNvSpPr/>
          <p:nvPr/>
        </p:nvSpPr>
        <p:spPr>
          <a:xfrm>
            <a:off x="6477000" y="36068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solidFill>
                <a:schemeClr val="tx2"/>
              </a:solidFill>
              <a:highlight>
                <a:srgbClr val="C0C0C0"/>
              </a:highlight>
            </a:endParaRPr>
          </a:p>
        </p:txBody>
      </p:sp>
      <p:sp>
        <p:nvSpPr>
          <p:cNvPr id="26" name="AutoShape 26"/>
          <p:cNvSpPr/>
          <p:nvPr/>
        </p:nvSpPr>
        <p:spPr>
          <a:xfrm>
            <a:off x="6604000" y="36068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chemeClr val="tx2"/>
                </a:solidFill>
                <a:highlight>
                  <a:srgbClr val="C0C0C0"/>
                </a:highlight>
                <a:latin typeface="Poppins"/>
                <a:ea typeface="Poppins"/>
                <a:cs typeface="Poppins"/>
                <a:sym typeface="Poppins"/>
              </a:rPr>
              <a:t>08</a:t>
            </a:r>
            <a:endParaRPr lang="en-US" sz="1100" dirty="0">
              <a:solidFill>
                <a:schemeClr val="tx2"/>
              </a:solidFill>
              <a:highlight>
                <a:srgbClr val="C0C0C0"/>
              </a:highlight>
            </a:endParaRPr>
          </a:p>
        </p:txBody>
      </p:sp>
      <p:sp>
        <p:nvSpPr>
          <p:cNvPr id="27" name="AutoShape 27"/>
          <p:cNvSpPr/>
          <p:nvPr/>
        </p:nvSpPr>
        <p:spPr>
          <a:xfrm>
            <a:off x="7302500" y="36068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Sammensætning &amp; GPU</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Compositing af lag til endelig skærmbillede med GPU-acceleration.</a:t>
            </a:r>
            <a:endParaRPr lang="en-US" sz="1100"/>
          </a:p>
        </p:txBody>
      </p:sp>
      <p:sp>
        <p:nvSpPr>
          <p:cNvPr id="28" name="AutoShape 28"/>
          <p:cNvSpPr/>
          <p:nvPr/>
        </p:nvSpPr>
        <p:spPr>
          <a:xfrm>
            <a:off x="6477000" y="46482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solidFill>
                <a:schemeClr val="tx2"/>
              </a:solidFill>
              <a:highlight>
                <a:srgbClr val="C0C0C0"/>
              </a:highlight>
            </a:endParaRPr>
          </a:p>
        </p:txBody>
      </p:sp>
      <p:sp>
        <p:nvSpPr>
          <p:cNvPr id="29" name="AutoShape 29"/>
          <p:cNvSpPr/>
          <p:nvPr/>
        </p:nvSpPr>
        <p:spPr>
          <a:xfrm>
            <a:off x="6604000" y="46482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chemeClr val="tx2"/>
                </a:solidFill>
                <a:highlight>
                  <a:srgbClr val="C0C0C0"/>
                </a:highlight>
                <a:latin typeface="Poppins"/>
                <a:ea typeface="Poppins"/>
                <a:cs typeface="Poppins"/>
                <a:sym typeface="Poppins"/>
              </a:rPr>
              <a:t>09</a:t>
            </a:r>
            <a:endParaRPr lang="en-US" sz="1100" dirty="0">
              <a:solidFill>
                <a:schemeClr val="tx2"/>
              </a:solidFill>
              <a:highlight>
                <a:srgbClr val="C0C0C0"/>
              </a:highlight>
            </a:endParaRPr>
          </a:p>
        </p:txBody>
      </p:sp>
      <p:sp>
        <p:nvSpPr>
          <p:cNvPr id="30" name="AutoShape 30"/>
          <p:cNvSpPr/>
          <p:nvPr/>
        </p:nvSpPr>
        <p:spPr>
          <a:xfrm>
            <a:off x="7302500" y="46482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Tråde: Hoved vs. Sammensætning</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Adskilte opgaver og JavaScripts blokerende effekt på rendering.</a:t>
            </a:r>
            <a:endParaRPr lang="en-US" sz="1100"/>
          </a:p>
        </p:txBody>
      </p:sp>
      <p:sp>
        <p:nvSpPr>
          <p:cNvPr id="31" name="AutoShape 31"/>
          <p:cNvSpPr/>
          <p:nvPr/>
        </p:nvSpPr>
        <p:spPr>
          <a:xfrm>
            <a:off x="6477000" y="5689600"/>
            <a:ext cx="5207000" cy="9144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solidFill>
                <a:schemeClr val="tx2"/>
              </a:solidFill>
              <a:highlight>
                <a:srgbClr val="C0C0C0"/>
              </a:highlight>
            </a:endParaRPr>
          </a:p>
        </p:txBody>
      </p:sp>
      <p:sp>
        <p:nvSpPr>
          <p:cNvPr id="32" name="AutoShape 32"/>
          <p:cNvSpPr/>
          <p:nvPr/>
        </p:nvSpPr>
        <p:spPr>
          <a:xfrm>
            <a:off x="6604000" y="5689600"/>
            <a:ext cx="635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rgbClr val="34D399"/>
                </a:solidFill>
                <a:highlight>
                  <a:srgbClr val="C0C0C0"/>
                </a:highlight>
                <a:latin typeface="Poppins"/>
                <a:ea typeface="Poppins"/>
                <a:cs typeface="Poppins"/>
                <a:sym typeface="Poppins"/>
              </a:rPr>
              <a:t>10</a:t>
            </a:r>
            <a:endParaRPr lang="en-US" sz="1100" dirty="0">
              <a:highlight>
                <a:srgbClr val="C0C0C0"/>
              </a:highlight>
            </a:endParaRPr>
          </a:p>
        </p:txBody>
      </p:sp>
      <p:sp>
        <p:nvSpPr>
          <p:cNvPr id="33" name="AutoShape 33"/>
          <p:cNvSpPr/>
          <p:nvPr/>
        </p:nvSpPr>
        <p:spPr>
          <a:xfrm>
            <a:off x="7302500" y="5689600"/>
            <a:ext cx="4318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Poppins"/>
                <a:ea typeface="Poppins"/>
                <a:cs typeface="Poppins"/>
                <a:sym typeface="Poppins"/>
              </a:rPr>
              <a:t>Opsummering &amp; Performance Tips</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Genoptagelse af pipeline'en og strategier til hurtigere rendering.</a:t>
            </a:r>
            <a:endParaRPr lang="en-US" sz="1100"/>
          </a:p>
        </p:txBody>
      </p:sp>
      <p:sp>
        <p:nvSpPr>
          <p:cNvPr id="34" name="AutoShape 34"/>
          <p:cNvSpPr/>
          <p:nvPr/>
        </p:nvSpPr>
        <p:spPr>
          <a:xfrm>
            <a:off x="762000" y="6413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dirty="0">
                <a:solidFill>
                  <a:srgbClr val="9CA3AF"/>
                </a:solidFill>
                <a:latin typeface="Noto Sans SC"/>
                <a:ea typeface="Noto Sans SC"/>
                <a:cs typeface="Noto Sans SC"/>
                <a:sym typeface="Noto Sans SC"/>
              </a:rPr>
              <a:t>Kilde </a:t>
            </a:r>
            <a:r>
              <a:rPr lang="en-US" sz="1000" b="0" i="0" u="none" strike="noStrike" dirty="0">
                <a:solidFill>
                  <a:srgbClr val="9CA3AF"/>
                </a:solidFill>
                <a:latin typeface="Noto Sans SC"/>
                <a:ea typeface="Noto Sans SC"/>
                <a:cs typeface="Noto Sans SC"/>
                <a:sym typeface="Noto Sans SC"/>
              </a:rPr>
              <a:t>: 1. Inside look at modern web browser (Part 1-4) - https://</a:t>
            </a:r>
            <a:r>
              <a:rPr lang="en-US" sz="1000" b="0" i="0" u="none" strike="noStrike" dirty="0" err="1">
                <a:solidFill>
                  <a:srgbClr val="9CA3AF"/>
                </a:solidFill>
                <a:latin typeface="Noto Sans SC"/>
                <a:ea typeface="Noto Sans SC"/>
                <a:cs typeface="Noto Sans SC"/>
                <a:sym typeface="Noto Sans SC"/>
              </a:rPr>
              <a:t>developer.chrome.com</a:t>
            </a:r>
            <a:r>
              <a:rPr lang="en-US" sz="1000" b="0" i="0" u="none" strike="noStrike" dirty="0">
                <a:solidFill>
                  <a:srgbClr val="9CA3AF"/>
                </a:solidFill>
                <a:latin typeface="Noto Sans SC"/>
                <a:ea typeface="Noto Sans SC"/>
                <a:cs typeface="Noto Sans SC"/>
                <a:sym typeface="Noto Sans SC"/>
              </a:rPr>
              <a:t>/blog/inside-browser-part1/ 2. Rendering Performance - https://</a:t>
            </a:r>
            <a:r>
              <a:rPr lang="en-US" sz="1000" b="0" i="0" u="none" strike="noStrike" dirty="0" err="1">
                <a:solidFill>
                  <a:srgbClr val="9CA3AF"/>
                </a:solidFill>
                <a:latin typeface="Noto Sans SC"/>
                <a:ea typeface="Noto Sans SC"/>
                <a:cs typeface="Noto Sans SC"/>
                <a:sym typeface="Noto Sans SC"/>
              </a:rPr>
              <a:t>web.dev</a:t>
            </a:r>
            <a:r>
              <a:rPr lang="en-US" sz="1000" b="0" i="0" u="none" strike="noStrike" dirty="0">
                <a:solidFill>
                  <a:srgbClr val="9CA3AF"/>
                </a:solidFill>
                <a:latin typeface="Noto Sans SC"/>
                <a:ea typeface="Noto Sans SC"/>
                <a:cs typeface="Noto Sans SC"/>
                <a:sym typeface="Noto Sans SC"/>
              </a:rPr>
              <a:t>/rendering-performance/ 3. CSS Triggers - https://</a:t>
            </a:r>
            <a:r>
              <a:rPr lang="en-US" sz="1000" b="0" i="0" u="none" strike="noStrike" dirty="0" err="1">
                <a:solidFill>
                  <a:srgbClr val="9CA3AF"/>
                </a:solidFill>
                <a:latin typeface="Noto Sans SC"/>
                <a:ea typeface="Noto Sans SC"/>
                <a:cs typeface="Noto Sans SC"/>
                <a:sym typeface="Noto Sans SC"/>
              </a:rPr>
              <a:t>csstriggers.com</a:t>
            </a:r>
            <a:r>
              <a:rPr lang="en-US" sz="1000" b="0" i="0" u="none" strike="noStrike" dirty="0">
                <a:solidFill>
                  <a:srgbClr val="9CA3AF"/>
                </a:solidFill>
                <a:latin typeface="Noto Sans SC"/>
                <a:ea typeface="Noto Sans SC"/>
                <a:cs typeface="Noto Sans SC"/>
                <a:sym typeface="Noto Sans SC"/>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Indledning: Hvad er rendering?</a:t>
            </a:r>
            <a:endParaRPr lang="en-US" sz="1100"/>
          </a:p>
        </p:txBody>
      </p:sp>
      <p:sp>
        <p:nvSpPr>
          <p:cNvPr id="4" name="AutoShape 4"/>
          <p:cNvSpPr/>
          <p:nvPr/>
        </p:nvSpPr>
        <p:spPr>
          <a:xfrm>
            <a:off x="762000" y="1397000"/>
            <a:ext cx="10668000" cy="12700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Poppins"/>
                <a:ea typeface="Poppins"/>
                <a:cs typeface="Poppins"/>
                <a:sym typeface="Poppins"/>
              </a:rPr>
              <a:t>Rendering er browserens kerneproces, hvor den omdanner kildekoden (HTML, CSS, JS) til en visuelt tilgængelig webside. Ligesom at bygge et hus: HTML er arkitekttegningen, CSS designmanualen og JavaScript instruktionerne – sammen skaber de en levende, interaktiv oplevelse for brugeren.</a:t>
            </a:r>
            <a:endParaRPr lang="en-US" sz="1100"/>
          </a:p>
        </p:txBody>
      </p:sp>
      <p:sp>
        <p:nvSpPr>
          <p:cNvPr id="6" name="AutoShape 6"/>
          <p:cNvSpPr/>
          <p:nvPr/>
        </p:nvSpPr>
        <p:spPr>
          <a:xfrm>
            <a:off x="762000" y="2921000"/>
            <a:ext cx="3378200" cy="1587500"/>
          </a:xfrm>
          <a:prstGeom prst="roundRect">
            <a:avLst>
              <a:gd name="adj" fmla="val 0"/>
            </a:avLst>
          </a:prstGeom>
          <a:solidFill>
            <a:srgbClr val="F3F4F6">
              <a:alpha val="8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111500"/>
            <a:ext cx="304800" cy="304800"/>
          </a:xfrm>
          <a:prstGeom prst="rect">
            <a:avLst/>
          </a:prstGeom>
        </p:spPr>
      </p:pic>
      <p:sp>
        <p:nvSpPr>
          <p:cNvPr id="8" name="AutoShape 8"/>
          <p:cNvSpPr/>
          <p:nvPr/>
        </p:nvSpPr>
        <p:spPr>
          <a:xfrm>
            <a:off x="1333500" y="3111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01. Netværk (Network)</a:t>
            </a:r>
            <a:endParaRPr lang="en-US" sz="1100"/>
          </a:p>
        </p:txBody>
      </p:sp>
      <p:sp>
        <p:nvSpPr>
          <p:cNvPr id="9" name="AutoShape 9"/>
          <p:cNvSpPr/>
          <p:nvPr/>
        </p:nvSpPr>
        <p:spPr>
          <a:xfrm>
            <a:off x="952500" y="3556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Henter HTML, CSS og JavaScript-filer fra serveren via netværksanmodninger (HTTP/HTTPS).</a:t>
            </a:r>
            <a:endParaRPr lang="en-US" sz="1100"/>
          </a:p>
        </p:txBody>
      </p:sp>
      <p:sp>
        <p:nvSpPr>
          <p:cNvPr id="10" name="AutoShape 10"/>
          <p:cNvSpPr/>
          <p:nvPr/>
        </p:nvSpPr>
        <p:spPr>
          <a:xfrm>
            <a:off x="4394200" y="2921000"/>
            <a:ext cx="3378200" cy="1587500"/>
          </a:xfrm>
          <a:prstGeom prst="roundRect">
            <a:avLst>
              <a:gd name="adj" fmla="val 0"/>
            </a:avLst>
          </a:prstGeom>
          <a:solidFill>
            <a:srgbClr val="F3F4F6">
              <a:alpha val="8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3111500"/>
            <a:ext cx="304800" cy="304800"/>
          </a:xfrm>
          <a:prstGeom prst="rect">
            <a:avLst/>
          </a:prstGeom>
        </p:spPr>
      </p:pic>
      <p:sp>
        <p:nvSpPr>
          <p:cNvPr id="12" name="AutoShape 12"/>
          <p:cNvSpPr/>
          <p:nvPr/>
        </p:nvSpPr>
        <p:spPr>
          <a:xfrm>
            <a:off x="4965700" y="3111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02. Parse (Parsing)</a:t>
            </a:r>
            <a:endParaRPr lang="en-US" sz="1100"/>
          </a:p>
        </p:txBody>
      </p:sp>
      <p:sp>
        <p:nvSpPr>
          <p:cNvPr id="13" name="AutoShape 13"/>
          <p:cNvSpPr/>
          <p:nvPr/>
        </p:nvSpPr>
        <p:spPr>
          <a:xfrm>
            <a:off x="4584700" y="3556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Analyserer HTML til et DOM-træ og CSS til et CSSOM-træ for at forstå strukturen.</a:t>
            </a:r>
            <a:endParaRPr lang="en-US" sz="1100"/>
          </a:p>
        </p:txBody>
      </p:sp>
      <p:sp>
        <p:nvSpPr>
          <p:cNvPr id="14" name="AutoShape 14"/>
          <p:cNvSpPr/>
          <p:nvPr/>
        </p:nvSpPr>
        <p:spPr>
          <a:xfrm>
            <a:off x="8026400" y="2921000"/>
            <a:ext cx="3378200" cy="1587500"/>
          </a:xfrm>
          <a:prstGeom prst="roundRect">
            <a:avLst>
              <a:gd name="adj" fmla="val 0"/>
            </a:avLst>
          </a:prstGeom>
          <a:solidFill>
            <a:srgbClr val="F3F4F6">
              <a:alpha val="8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3111500"/>
            <a:ext cx="304800" cy="304800"/>
          </a:xfrm>
          <a:prstGeom prst="rect">
            <a:avLst/>
          </a:prstGeom>
        </p:spPr>
      </p:pic>
      <p:sp>
        <p:nvSpPr>
          <p:cNvPr id="16" name="AutoShape 16"/>
          <p:cNvSpPr/>
          <p:nvPr/>
        </p:nvSpPr>
        <p:spPr>
          <a:xfrm>
            <a:off x="8597900" y="3111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03. Style (Styling)</a:t>
            </a:r>
            <a:endParaRPr lang="en-US" sz="1100"/>
          </a:p>
        </p:txBody>
      </p:sp>
      <p:sp>
        <p:nvSpPr>
          <p:cNvPr id="17" name="AutoShape 17"/>
          <p:cNvSpPr/>
          <p:nvPr/>
        </p:nvSpPr>
        <p:spPr>
          <a:xfrm>
            <a:off x="8216900" y="3556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Kombinerer DOM og CSSOM til et Render-træ, hvor stilreglerne er knyttet til elementerne.</a:t>
            </a:r>
            <a:endParaRPr lang="en-US" sz="1100"/>
          </a:p>
        </p:txBody>
      </p:sp>
      <p:sp>
        <p:nvSpPr>
          <p:cNvPr id="18" name="AutoShape 18"/>
          <p:cNvSpPr/>
          <p:nvPr/>
        </p:nvSpPr>
        <p:spPr>
          <a:xfrm>
            <a:off x="762000" y="4699000"/>
            <a:ext cx="3378200" cy="1587500"/>
          </a:xfrm>
          <a:prstGeom prst="roundRect">
            <a:avLst>
              <a:gd name="adj" fmla="val 0"/>
            </a:avLst>
          </a:prstGeom>
          <a:solidFill>
            <a:srgbClr val="F3F4F6">
              <a:alpha val="8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889500"/>
            <a:ext cx="304800" cy="304800"/>
          </a:xfrm>
          <a:prstGeom prst="rect">
            <a:avLst/>
          </a:prstGeom>
        </p:spPr>
      </p:pic>
      <p:sp>
        <p:nvSpPr>
          <p:cNvPr id="20" name="AutoShape 20"/>
          <p:cNvSpPr/>
          <p:nvPr/>
        </p:nvSpPr>
        <p:spPr>
          <a:xfrm>
            <a:off x="1333500" y="4889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04. Layout (Reflow)</a:t>
            </a:r>
            <a:endParaRPr lang="en-US" sz="1100"/>
          </a:p>
        </p:txBody>
      </p:sp>
      <p:sp>
        <p:nvSpPr>
          <p:cNvPr id="21" name="AutoShape 21"/>
          <p:cNvSpPr/>
          <p:nvPr/>
        </p:nvSpPr>
        <p:spPr>
          <a:xfrm>
            <a:off x="952500" y="5334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Beregner geometrien for hvert element: position, størrelse og placering på skærmen.</a:t>
            </a:r>
            <a:endParaRPr lang="en-US" sz="1100"/>
          </a:p>
        </p:txBody>
      </p:sp>
      <p:sp>
        <p:nvSpPr>
          <p:cNvPr id="22" name="AutoShape 22"/>
          <p:cNvSpPr/>
          <p:nvPr/>
        </p:nvSpPr>
        <p:spPr>
          <a:xfrm>
            <a:off x="4394200" y="4699000"/>
            <a:ext cx="3378200" cy="1587500"/>
          </a:xfrm>
          <a:prstGeom prst="roundRect">
            <a:avLst>
              <a:gd name="adj" fmla="val 0"/>
            </a:avLst>
          </a:prstGeom>
          <a:solidFill>
            <a:srgbClr val="F3F4F6">
              <a:alpha val="8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84700" y="4889500"/>
            <a:ext cx="304800" cy="304800"/>
          </a:xfrm>
          <a:prstGeom prst="rect">
            <a:avLst/>
          </a:prstGeom>
        </p:spPr>
      </p:pic>
      <p:sp>
        <p:nvSpPr>
          <p:cNvPr id="24" name="AutoShape 24"/>
          <p:cNvSpPr/>
          <p:nvPr/>
        </p:nvSpPr>
        <p:spPr>
          <a:xfrm>
            <a:off x="4965700" y="4889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05. Paint (Repaint)</a:t>
            </a:r>
            <a:endParaRPr lang="en-US" sz="1100"/>
          </a:p>
        </p:txBody>
      </p:sp>
      <p:sp>
        <p:nvSpPr>
          <p:cNvPr id="25" name="AutoShape 25"/>
          <p:cNvSpPr/>
          <p:nvPr/>
        </p:nvSpPr>
        <p:spPr>
          <a:xfrm>
            <a:off x="4584700" y="5334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Tegner de visuelle egenskaber (farve, tekstur, skygger) på forskellige lag i hukommelsen.</a:t>
            </a:r>
            <a:endParaRPr lang="en-US" sz="1100"/>
          </a:p>
        </p:txBody>
      </p:sp>
      <p:sp>
        <p:nvSpPr>
          <p:cNvPr id="26" name="AutoShape 26"/>
          <p:cNvSpPr/>
          <p:nvPr/>
        </p:nvSpPr>
        <p:spPr>
          <a:xfrm>
            <a:off x="8026400" y="4699000"/>
            <a:ext cx="3378200" cy="1587500"/>
          </a:xfrm>
          <a:prstGeom prst="roundRect">
            <a:avLst>
              <a:gd name="adj" fmla="val 0"/>
            </a:avLst>
          </a:prstGeom>
          <a:solidFill>
            <a:srgbClr val="F3F4F6">
              <a:alpha val="8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16900" y="4889500"/>
            <a:ext cx="304800" cy="304800"/>
          </a:xfrm>
          <a:prstGeom prst="rect">
            <a:avLst/>
          </a:prstGeom>
        </p:spPr>
      </p:pic>
      <p:sp>
        <p:nvSpPr>
          <p:cNvPr id="28" name="AutoShape 28"/>
          <p:cNvSpPr/>
          <p:nvPr/>
        </p:nvSpPr>
        <p:spPr>
          <a:xfrm>
            <a:off x="8597900" y="4889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06. Composite (Compositing)</a:t>
            </a:r>
            <a:endParaRPr lang="en-US" sz="1100"/>
          </a:p>
        </p:txBody>
      </p:sp>
      <p:sp>
        <p:nvSpPr>
          <p:cNvPr id="29" name="AutoShape 29"/>
          <p:cNvSpPr/>
          <p:nvPr/>
        </p:nvSpPr>
        <p:spPr>
          <a:xfrm>
            <a:off x="8216900" y="5334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Kombinerer de individuelle tegnete lag til det endelige, sammensatte billede, som vises for brugeren.</a:t>
            </a:r>
            <a:endParaRPr lang="en-US" sz="1100"/>
          </a:p>
        </p:txBody>
      </p:sp>
      <p:sp>
        <p:nvSpPr>
          <p:cNvPr id="30" name="AutoShape 30"/>
          <p:cNvSpPr/>
          <p:nvPr/>
        </p:nvSpPr>
        <p:spPr>
          <a:xfrm>
            <a:off x="762000" y="6286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dirty="0">
                <a:solidFill>
                  <a:srgbClr val="9CA3AF"/>
                </a:solidFill>
                <a:latin typeface="Noto Sans SC"/>
                <a:ea typeface="Noto Sans SC"/>
                <a:cs typeface="Noto Sans SC"/>
                <a:sym typeface="Noto Sans SC"/>
              </a:rPr>
              <a:t>Kilde : 1. Inside look at modern web browser (Part 1-4) - https://</a:t>
            </a:r>
            <a:r>
              <a:rPr lang="en-US" sz="1000" b="0" i="0" u="none" strike="noStrike" dirty="0" err="1">
                <a:solidFill>
                  <a:srgbClr val="9CA3AF"/>
                </a:solidFill>
                <a:latin typeface="Noto Sans SC"/>
                <a:ea typeface="Noto Sans SC"/>
                <a:cs typeface="Noto Sans SC"/>
                <a:sym typeface="Noto Sans SC"/>
              </a:rPr>
              <a:t>developer.chrome.com</a:t>
            </a:r>
            <a:r>
              <a:rPr lang="en-US" sz="1000" b="0" i="0" u="none" strike="noStrike" dirty="0">
                <a:solidFill>
                  <a:srgbClr val="9CA3AF"/>
                </a:solidFill>
                <a:latin typeface="Noto Sans SC"/>
                <a:ea typeface="Noto Sans SC"/>
                <a:cs typeface="Noto Sans SC"/>
                <a:sym typeface="Noto Sans SC"/>
              </a:rPr>
              <a:t>/blog/inside-browser-part1/ 2. Rendering Performance - https://</a:t>
            </a:r>
            <a:r>
              <a:rPr lang="en-US" sz="1000" b="0" i="0" u="none" strike="noStrike" dirty="0" err="1">
                <a:solidFill>
                  <a:srgbClr val="9CA3AF"/>
                </a:solidFill>
                <a:latin typeface="Noto Sans SC"/>
                <a:ea typeface="Noto Sans SC"/>
                <a:cs typeface="Noto Sans SC"/>
                <a:sym typeface="Noto Sans SC"/>
              </a:rPr>
              <a:t>web.dev</a:t>
            </a:r>
            <a:r>
              <a:rPr lang="en-US" sz="1000" b="0" i="0" u="none" strike="noStrike" dirty="0">
                <a:solidFill>
                  <a:srgbClr val="9CA3AF"/>
                </a:solidFill>
                <a:latin typeface="Noto Sans SC"/>
                <a:ea typeface="Noto Sans SC"/>
                <a:cs typeface="Noto Sans SC"/>
                <a:sym typeface="Noto Sans SC"/>
              </a:rPr>
              <a:t>/rendering-performance/ 3. CSS Triggers - https://</a:t>
            </a:r>
            <a:r>
              <a:rPr lang="en-US" sz="1000" b="0" i="0" u="none" strike="noStrike" dirty="0" err="1">
                <a:solidFill>
                  <a:srgbClr val="9CA3AF"/>
                </a:solidFill>
                <a:latin typeface="Noto Sans SC"/>
                <a:ea typeface="Noto Sans SC"/>
                <a:cs typeface="Noto Sans SC"/>
                <a:sym typeface="Noto Sans SC"/>
              </a:rPr>
              <a:t>csstriggers.com</a:t>
            </a:r>
            <a:r>
              <a:rPr lang="en-US" sz="1000" b="0" i="0" u="none" strike="noStrike" dirty="0">
                <a:solidFill>
                  <a:srgbClr val="9CA3AF"/>
                </a:solidFill>
                <a:latin typeface="Noto Sans SC"/>
                <a:ea typeface="Noto Sans SC"/>
                <a:cs typeface="Noto Sans SC"/>
                <a:sym typeface="Noto Sans SC"/>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Den overordnede renderingspipeline</a:t>
            </a:r>
            <a:endParaRPr lang="en-US" sz="1100"/>
          </a:p>
        </p:txBody>
      </p:sp>
      <p:sp>
        <p:nvSpPr>
          <p:cNvPr id="4" name="AutoShape 4"/>
          <p:cNvSpPr/>
          <p:nvPr/>
        </p:nvSpPr>
        <p:spPr>
          <a:xfrm>
            <a:off x="3175000" y="1778000"/>
            <a:ext cx="5842000" cy="3302000"/>
          </a:xfrm>
          <a:prstGeom prst="roundRect">
            <a:avLst>
              <a:gd name="adj" fmla="val 0"/>
            </a:avLst>
          </a:prstGeom>
          <a:solidFill>
            <a:srgbClr val="FFFFFF">
              <a:alpha val="5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1520" b="1520"/>
          <a:stretch>
            <a:fillRect/>
          </a:stretch>
        </p:blipFill>
        <p:spPr>
          <a:xfrm>
            <a:off x="3302000" y="1905000"/>
            <a:ext cx="5588000" cy="3048000"/>
          </a:xfrm>
          <a:prstGeom prst="rect">
            <a:avLst/>
          </a:prstGeom>
          <a:noFill/>
          <a:ln w="25400" cap="flat" cmpd="sng">
            <a:noFill/>
            <a:prstDash val="solid"/>
            <a:round/>
          </a:ln>
          <a:effectLst>
            <a:outerShdw blurRad="177800" dist="76200" dir="2700000" algn="tl" rotWithShape="0">
              <a:srgbClr val="1F2937">
                <a:alpha val="12000"/>
              </a:srgbClr>
            </a:outerShdw>
          </a:effectLst>
        </p:spPr>
      </p:pic>
      <p:sp>
        <p:nvSpPr>
          <p:cNvPr id="6" name="AutoShape 6"/>
          <p:cNvSpPr/>
          <p:nvPr/>
        </p:nvSpPr>
        <p:spPr>
          <a:xfrm>
            <a:off x="762000" y="5143500"/>
            <a:ext cx="3378200" cy="1016000"/>
          </a:xfrm>
          <a:prstGeom prst="roundRect">
            <a:avLst>
              <a:gd name="adj" fmla="val 0"/>
            </a:avLst>
          </a:prstGeom>
          <a:solidFill>
            <a:srgbClr val="1F2937">
              <a:alpha val="6000"/>
            </a:srgbClr>
          </a:solidFill>
          <a:ln w="12700" cap="flat" cmpd="sng">
            <a:solidFill>
              <a:srgbClr val="34D399">
                <a:alpha val="25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308600"/>
            <a:ext cx="279400" cy="279400"/>
          </a:xfrm>
          <a:prstGeom prst="rect">
            <a:avLst/>
          </a:prstGeom>
        </p:spPr>
      </p:pic>
      <p:sp>
        <p:nvSpPr>
          <p:cNvPr id="8" name="AutoShape 8"/>
          <p:cNvSpPr/>
          <p:nvPr/>
        </p:nvSpPr>
        <p:spPr>
          <a:xfrm>
            <a:off x="1333500" y="52705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Poppins"/>
                <a:ea typeface="Poppins"/>
                <a:cs typeface="Poppins"/>
                <a:sym typeface="Poppins"/>
              </a:rPr>
              <a:t>01. Parse &amp; Construct</a:t>
            </a:r>
            <a:endParaRPr lang="en-US" sz="1100"/>
          </a:p>
          <a:p>
            <a:pPr marL="0" indent="0" algn="l">
              <a:lnSpc>
                <a:spcPct val="100000"/>
              </a:lnSpc>
            </a:pPr>
            <a:r>
              <a:rPr lang="en-US" sz="1000" b="0" i="0" u="none" strike="noStrike">
                <a:solidFill>
                  <a:srgbClr val="4B5563"/>
                </a:solidFill>
                <a:latin typeface="Poppins"/>
                <a:ea typeface="Poppins"/>
                <a:cs typeface="Poppins"/>
                <a:sym typeface="Poppins"/>
              </a:rPr>
              <a:t>HTML og CSS parsers til DOM og CSSOM-træer, som kombineres til et Render Tree for synlige elementer.</a:t>
            </a:r>
          </a:p>
        </p:txBody>
      </p:sp>
      <p:sp>
        <p:nvSpPr>
          <p:cNvPr id="9" name="AutoShape 9"/>
          <p:cNvSpPr/>
          <p:nvPr/>
        </p:nvSpPr>
        <p:spPr>
          <a:xfrm>
            <a:off x="4406900" y="5143500"/>
            <a:ext cx="3378200" cy="1016000"/>
          </a:xfrm>
          <a:prstGeom prst="roundRect">
            <a:avLst>
              <a:gd name="adj" fmla="val 0"/>
            </a:avLst>
          </a:prstGeom>
          <a:solidFill>
            <a:srgbClr val="1F2937">
              <a:alpha val="6000"/>
            </a:srgbClr>
          </a:solidFill>
          <a:ln w="12700" cap="flat" cmpd="sng">
            <a:solidFill>
              <a:srgbClr val="34D399">
                <a:alpha val="25000"/>
              </a:srgbClr>
            </a:solid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97400" y="5308600"/>
            <a:ext cx="279400" cy="279400"/>
          </a:xfrm>
          <a:prstGeom prst="rect">
            <a:avLst/>
          </a:prstGeom>
        </p:spPr>
      </p:pic>
      <p:sp>
        <p:nvSpPr>
          <p:cNvPr id="11" name="AutoShape 11"/>
          <p:cNvSpPr/>
          <p:nvPr/>
        </p:nvSpPr>
        <p:spPr>
          <a:xfrm>
            <a:off x="4978400" y="52705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Poppins"/>
                <a:ea typeface="Poppins"/>
                <a:cs typeface="Poppins"/>
                <a:sym typeface="Poppins"/>
              </a:rPr>
              <a:t>02. Layout (Reflow)</a:t>
            </a:r>
            <a:endParaRPr lang="en-US" sz="1100"/>
          </a:p>
          <a:p>
            <a:pPr marL="0" indent="0" algn="l">
              <a:lnSpc>
                <a:spcPct val="100000"/>
              </a:lnSpc>
            </a:pPr>
            <a:r>
              <a:rPr lang="en-US" sz="1000" b="0" i="0" u="none" strike="noStrike">
                <a:solidFill>
                  <a:srgbClr val="4B5563"/>
                </a:solidFill>
                <a:latin typeface="Poppins"/>
                <a:ea typeface="Poppins"/>
                <a:cs typeface="Poppins"/>
                <a:sym typeface="Poppins"/>
              </a:rPr>
              <a:t>Browseren beregner geometrien – position, størrelse og placering – for hvert node i Render Tree.</a:t>
            </a:r>
          </a:p>
        </p:txBody>
      </p:sp>
      <p:sp>
        <p:nvSpPr>
          <p:cNvPr id="12" name="AutoShape 12"/>
          <p:cNvSpPr/>
          <p:nvPr/>
        </p:nvSpPr>
        <p:spPr>
          <a:xfrm>
            <a:off x="8051800" y="5143500"/>
            <a:ext cx="3378200" cy="1016000"/>
          </a:xfrm>
          <a:prstGeom prst="roundRect">
            <a:avLst>
              <a:gd name="adj" fmla="val 0"/>
            </a:avLst>
          </a:prstGeom>
          <a:solidFill>
            <a:srgbClr val="1F2937">
              <a:alpha val="6000"/>
            </a:srgbClr>
          </a:solidFill>
          <a:ln w="12700" cap="flat" cmpd="sng">
            <a:solidFill>
              <a:srgbClr val="34D399">
                <a:alpha val="25000"/>
              </a:srgbClr>
            </a:solid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42300" y="5308600"/>
            <a:ext cx="279400" cy="279400"/>
          </a:xfrm>
          <a:prstGeom prst="rect">
            <a:avLst/>
          </a:prstGeom>
        </p:spPr>
      </p:pic>
      <p:sp>
        <p:nvSpPr>
          <p:cNvPr id="14" name="AutoShape 14"/>
          <p:cNvSpPr/>
          <p:nvPr/>
        </p:nvSpPr>
        <p:spPr>
          <a:xfrm>
            <a:off x="8623300" y="52705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Poppins"/>
                <a:ea typeface="Poppins"/>
                <a:cs typeface="Poppins"/>
                <a:sym typeface="Poppins"/>
              </a:rPr>
              <a:t>03. Paint &amp; Composite</a:t>
            </a:r>
            <a:endParaRPr lang="en-US" sz="1100"/>
          </a:p>
          <a:p>
            <a:pPr marL="0" indent="0" algn="l">
              <a:lnSpc>
                <a:spcPct val="100000"/>
              </a:lnSpc>
            </a:pPr>
            <a:r>
              <a:rPr lang="en-US" sz="1000" b="0" i="0" u="none" strike="noStrike">
                <a:solidFill>
                  <a:srgbClr val="4B5563"/>
                </a:solidFill>
                <a:latin typeface="Poppins"/>
                <a:ea typeface="Poppins"/>
                <a:cs typeface="Poppins"/>
                <a:sym typeface="Poppins"/>
              </a:rPr>
              <a:t>Pixel-data tegnes på lag (layers), som herefter sammensættes til det endelige billede på skærmen.</a:t>
            </a:r>
          </a:p>
        </p:txBody>
      </p:sp>
      <p:sp>
        <p:nvSpPr>
          <p:cNvPr id="15" name="AutoShape 15"/>
          <p:cNvSpPr/>
          <p:nvPr/>
        </p:nvSpPr>
        <p:spPr>
          <a:xfrm>
            <a:off x="762000" y="62484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dirty="0">
                <a:solidFill>
                  <a:srgbClr val="6B7280"/>
                </a:solidFill>
                <a:latin typeface="Noto Sans SC"/>
                <a:ea typeface="Noto Sans SC"/>
                <a:cs typeface="Noto Sans SC"/>
                <a:sym typeface="Noto Sans SC"/>
              </a:rPr>
              <a:t>kilde1. Inside look at modern web browser (Part 1-4) - https://</a:t>
            </a:r>
            <a:r>
              <a:rPr lang="en-US" sz="1000" b="0" i="0" u="none" strike="noStrike" dirty="0" err="1">
                <a:solidFill>
                  <a:srgbClr val="6B7280"/>
                </a:solidFill>
                <a:latin typeface="Noto Sans SC"/>
                <a:ea typeface="Noto Sans SC"/>
                <a:cs typeface="Noto Sans SC"/>
                <a:sym typeface="Noto Sans SC"/>
              </a:rPr>
              <a:t>developer.chrome.com</a:t>
            </a:r>
            <a:r>
              <a:rPr lang="en-US" sz="1000" b="0" i="0" u="none" strike="noStrike" dirty="0">
                <a:solidFill>
                  <a:srgbClr val="6B7280"/>
                </a:solidFill>
                <a:latin typeface="Noto Sans SC"/>
                <a:ea typeface="Noto Sans SC"/>
                <a:cs typeface="Noto Sans SC"/>
                <a:sym typeface="Noto Sans SC"/>
              </a:rPr>
              <a:t>/blog/inside-browser-part1/ 2. Rendering Performance - https://</a:t>
            </a:r>
            <a:r>
              <a:rPr lang="en-US" sz="1000" b="0" i="0" u="none" strike="noStrike" dirty="0" err="1">
                <a:solidFill>
                  <a:srgbClr val="6B7280"/>
                </a:solidFill>
                <a:latin typeface="Noto Sans SC"/>
                <a:ea typeface="Noto Sans SC"/>
                <a:cs typeface="Noto Sans SC"/>
                <a:sym typeface="Noto Sans SC"/>
              </a:rPr>
              <a:t>web.dev</a:t>
            </a:r>
            <a:r>
              <a:rPr lang="en-US" sz="1000" b="0" i="0" u="none" strike="noStrike" dirty="0">
                <a:solidFill>
                  <a:srgbClr val="6B7280"/>
                </a:solidFill>
                <a:latin typeface="Noto Sans SC"/>
                <a:ea typeface="Noto Sans SC"/>
                <a:cs typeface="Noto Sans SC"/>
                <a:sym typeface="Noto Sans SC"/>
              </a:rPr>
              <a:t>/rendering-performance/ 3. CSS Triggers - https://</a:t>
            </a:r>
            <a:r>
              <a:rPr lang="en-US" sz="1000" b="0" i="0" u="none" strike="noStrike" dirty="0" err="1">
                <a:solidFill>
                  <a:srgbClr val="6B7280"/>
                </a:solidFill>
                <a:latin typeface="Noto Sans SC"/>
                <a:ea typeface="Noto Sans SC"/>
                <a:cs typeface="Noto Sans SC"/>
                <a:sym typeface="Noto Sans SC"/>
              </a:rPr>
              <a:t>csstriggers.com</a:t>
            </a:r>
            <a:r>
              <a:rPr lang="en-US" sz="1000" b="0" i="0" u="none" strike="noStrike" dirty="0">
                <a:solidFill>
                  <a:srgbClr val="6B7280"/>
                </a:solidFill>
                <a:latin typeface="Noto Sans SC"/>
                <a:ea typeface="Noto Sans SC"/>
                <a:cs typeface="Noto Sans SC"/>
                <a:sym typeface="Noto Sans SC"/>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F2937"/>
                </a:solidFill>
                <a:latin typeface="Poppins"/>
                <a:ea typeface="Poppins"/>
                <a:cs typeface="Poppins"/>
                <a:sym typeface="Poppins"/>
              </a:rPr>
              <a:t>Trin 1: </a:t>
            </a:r>
            <a:r>
              <a:rPr lang="en-US" sz="3200" b="1" i="0" u="none" strike="noStrike" dirty="0" err="1">
                <a:solidFill>
                  <a:srgbClr val="1F2937"/>
                </a:solidFill>
                <a:latin typeface="Poppins"/>
                <a:ea typeface="Poppins"/>
                <a:cs typeface="Poppins"/>
                <a:sym typeface="Poppins"/>
              </a:rPr>
              <a:t>Netværk</a:t>
            </a:r>
            <a:r>
              <a:rPr lang="en-US" sz="3200" b="1" i="0" u="none" strike="noStrike" dirty="0">
                <a:solidFill>
                  <a:srgbClr val="1F2937"/>
                </a:solidFill>
                <a:latin typeface="Poppins"/>
                <a:ea typeface="Poppins"/>
                <a:cs typeface="Poppins"/>
                <a:sym typeface="Poppins"/>
              </a:rPr>
              <a:t> </a:t>
            </a:r>
            <a:r>
              <a:rPr lang="en-US" sz="3200" b="1" i="0" u="none" strike="noStrike" dirty="0" err="1">
                <a:solidFill>
                  <a:srgbClr val="1F2937"/>
                </a:solidFill>
                <a:latin typeface="Poppins"/>
                <a:ea typeface="Poppins"/>
                <a:cs typeface="Poppins"/>
                <a:sym typeface="Poppins"/>
              </a:rPr>
              <a:t>og</a:t>
            </a:r>
            <a:r>
              <a:rPr lang="en-US" sz="3200" b="1" i="0" u="none" strike="noStrike" dirty="0">
                <a:solidFill>
                  <a:srgbClr val="1F2937"/>
                </a:solidFill>
                <a:latin typeface="Poppins"/>
                <a:ea typeface="Poppins"/>
                <a:cs typeface="Poppins"/>
                <a:sym typeface="Poppins"/>
              </a:rPr>
              <a:t> Decoding</a:t>
            </a:r>
            <a:endParaRPr lang="en-US" sz="1100" dirty="0"/>
          </a:p>
        </p:txBody>
      </p:sp>
      <p:sp>
        <p:nvSpPr>
          <p:cNvPr id="4" name="AutoShape 4"/>
          <p:cNvSpPr/>
          <p:nvPr/>
        </p:nvSpPr>
        <p:spPr>
          <a:xfrm>
            <a:off x="762000" y="1460500"/>
            <a:ext cx="5270500" cy="1968500"/>
          </a:xfrm>
          <a:prstGeom prst="roundRect">
            <a:avLst>
              <a:gd name="adj" fmla="val 0"/>
            </a:avLst>
          </a:prstGeom>
          <a:solidFill>
            <a:srgbClr val="1F2937">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510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accent6"/>
                </a:solidFill>
                <a:latin typeface="Poppins"/>
                <a:ea typeface="Poppins"/>
                <a:cs typeface="Poppins"/>
                <a:sym typeface="Poppins"/>
              </a:rPr>
              <a:t>01. </a:t>
            </a:r>
            <a:r>
              <a:rPr lang="en-US" sz="1800" b="1" i="0" u="none" strike="noStrike" dirty="0" err="1">
                <a:solidFill>
                  <a:schemeClr val="accent6"/>
                </a:solidFill>
                <a:latin typeface="Poppins"/>
                <a:ea typeface="Poppins"/>
                <a:cs typeface="Poppins"/>
                <a:sym typeface="Poppins"/>
              </a:rPr>
              <a:t>Netværksforespørgsel</a:t>
            </a:r>
            <a:r>
              <a:rPr lang="en-US" sz="1800" b="1" i="0" u="none" strike="noStrike" dirty="0">
                <a:solidFill>
                  <a:schemeClr val="accent6"/>
                </a:solidFill>
                <a:latin typeface="Poppins"/>
                <a:ea typeface="Poppins"/>
                <a:cs typeface="Poppins"/>
                <a:sym typeface="Poppins"/>
              </a:rPr>
              <a:t> (HTTP Request)</a:t>
            </a:r>
            <a:endParaRPr lang="en-US" sz="1100" dirty="0">
              <a:solidFill>
                <a:schemeClr val="accent6"/>
              </a:solidFill>
            </a:endParaRPr>
          </a:p>
        </p:txBody>
      </p:sp>
      <p:sp>
        <p:nvSpPr>
          <p:cNvPr id="6" name="AutoShape 6"/>
          <p:cNvSpPr/>
          <p:nvPr/>
        </p:nvSpPr>
        <p:spPr>
          <a:xfrm>
            <a:off x="952500" y="21336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Poppins"/>
                <a:ea typeface="Poppins"/>
                <a:cs typeface="Poppins"/>
                <a:sym typeface="Poppins"/>
              </a:rPr>
              <a:t>Når en URL indtastes, gennemgår Chrome en kritisk sekvens: Først et</a:t>
            </a:r>
            <a:r>
              <a:rPr lang="en-US" sz="1300" b="1" i="0" u="none" strike="noStrike">
                <a:solidFill>
                  <a:srgbClr val="374151"/>
                </a:solidFill>
                <a:latin typeface="Poppins"/>
                <a:ea typeface="Poppins"/>
                <a:cs typeface="Poppins"/>
                <a:sym typeface="Poppins"/>
              </a:rPr>
              <a:t>DNS-opslag</a:t>
            </a:r>
            <a:r>
              <a:rPr lang="en-US" sz="1300" b="0" i="0" u="none" strike="noStrike">
                <a:solidFill>
                  <a:srgbClr val="374151"/>
                </a:solidFill>
                <a:latin typeface="Poppins"/>
                <a:ea typeface="Poppins"/>
                <a:cs typeface="Poppins"/>
                <a:sym typeface="Poppins"/>
              </a:rPr>
              <a:t>for at finde serverens IP-adresse, derefter etableres en sikker</a:t>
            </a:r>
            <a:r>
              <a:rPr lang="en-US" sz="1300" b="1" i="0" u="none" strike="noStrike">
                <a:solidFill>
                  <a:srgbClr val="374151"/>
                </a:solidFill>
                <a:latin typeface="Poppins"/>
                <a:ea typeface="Poppins"/>
                <a:cs typeface="Poppins"/>
                <a:sym typeface="Poppins"/>
              </a:rPr>
              <a:t>TCP-tilslutning</a:t>
            </a:r>
            <a:r>
              <a:rPr lang="en-US" sz="1300" b="0" i="0" u="none" strike="noStrike">
                <a:solidFill>
                  <a:srgbClr val="374151"/>
                </a:solidFill>
                <a:latin typeface="Poppins"/>
                <a:ea typeface="Poppins"/>
                <a:cs typeface="Poppins"/>
                <a:sym typeface="Poppins"/>
              </a:rPr>
              <a:t>. En</a:t>
            </a:r>
            <a:r>
              <a:rPr lang="en-US" sz="1300" b="1" i="0" u="none" strike="noStrike">
                <a:solidFill>
                  <a:srgbClr val="374151"/>
                </a:solidFill>
                <a:latin typeface="Poppins"/>
                <a:ea typeface="Poppins"/>
                <a:cs typeface="Poppins"/>
                <a:sym typeface="Poppins"/>
              </a:rPr>
              <a:t>GET-forespørgsel</a:t>
            </a:r>
            <a:r>
              <a:rPr lang="en-US" sz="1300" b="0" i="0" u="none" strike="noStrike">
                <a:solidFill>
                  <a:srgbClr val="374151"/>
                </a:solidFill>
                <a:latin typeface="Poppins"/>
                <a:ea typeface="Poppins"/>
                <a:cs typeface="Poppins"/>
                <a:sym typeface="Poppins"/>
              </a:rPr>
              <a:t>sendes til serveren, som svarer med en strøm af HTML-data i byte-form.</a:t>
            </a:r>
            <a:endParaRPr lang="en-US" sz="1100"/>
          </a:p>
        </p:txBody>
      </p:sp>
      <p:sp>
        <p:nvSpPr>
          <p:cNvPr id="7" name="AutoShape 7"/>
          <p:cNvSpPr/>
          <p:nvPr/>
        </p:nvSpPr>
        <p:spPr>
          <a:xfrm>
            <a:off x="6159500" y="1460500"/>
            <a:ext cx="5270500" cy="1968500"/>
          </a:xfrm>
          <a:prstGeom prst="roundRect">
            <a:avLst>
              <a:gd name="adj" fmla="val 0"/>
            </a:avLst>
          </a:prstGeom>
          <a:solidFill>
            <a:srgbClr val="1F2937">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350000" y="16510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chemeClr val="accent6"/>
                </a:solidFill>
                <a:latin typeface="Poppins"/>
                <a:ea typeface="Poppins"/>
                <a:cs typeface="Poppins"/>
                <a:sym typeface="Poppins"/>
              </a:rPr>
              <a:t>02. Decoding (</a:t>
            </a:r>
            <a:r>
              <a:rPr lang="en-US" sz="1800" b="1" i="0" u="none" strike="noStrike" dirty="0" err="1">
                <a:solidFill>
                  <a:schemeClr val="accent6"/>
                </a:solidFill>
                <a:latin typeface="Poppins"/>
                <a:ea typeface="Poppins"/>
                <a:cs typeface="Poppins"/>
                <a:sym typeface="Poppins"/>
              </a:rPr>
              <a:t>Dekodning</a:t>
            </a:r>
            <a:r>
              <a:rPr lang="en-US" sz="1800" b="1" i="0" u="none" strike="noStrike" dirty="0">
                <a:solidFill>
                  <a:schemeClr val="accent6"/>
                </a:solidFill>
                <a:latin typeface="Poppins"/>
                <a:ea typeface="Poppins"/>
                <a:cs typeface="Poppins"/>
                <a:sym typeface="Poppins"/>
              </a:rPr>
              <a:t> </a:t>
            </a:r>
            <a:r>
              <a:rPr lang="en-US" sz="1800" b="1" i="0" u="none" strike="noStrike" dirty="0" err="1">
                <a:solidFill>
                  <a:schemeClr val="accent6"/>
                </a:solidFill>
                <a:latin typeface="Poppins"/>
                <a:ea typeface="Poppins"/>
                <a:cs typeface="Poppins"/>
                <a:sym typeface="Poppins"/>
              </a:rPr>
              <a:t>af</a:t>
            </a:r>
            <a:r>
              <a:rPr lang="en-US" sz="1800" b="1" i="0" u="none" strike="noStrike" dirty="0">
                <a:solidFill>
                  <a:schemeClr val="accent6"/>
                </a:solidFill>
                <a:latin typeface="Poppins"/>
                <a:ea typeface="Poppins"/>
                <a:cs typeface="Poppins"/>
                <a:sym typeface="Poppins"/>
              </a:rPr>
              <a:t> Data)</a:t>
            </a:r>
            <a:endParaRPr lang="en-US" sz="1100" dirty="0">
              <a:solidFill>
                <a:schemeClr val="accent6"/>
              </a:solidFill>
            </a:endParaRPr>
          </a:p>
        </p:txBody>
      </p:sp>
      <p:sp>
        <p:nvSpPr>
          <p:cNvPr id="9" name="AutoShape 9"/>
          <p:cNvSpPr/>
          <p:nvPr/>
        </p:nvSpPr>
        <p:spPr>
          <a:xfrm>
            <a:off x="6350000" y="21336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Poppins"/>
                <a:ea typeface="Poppins"/>
                <a:cs typeface="Poppins"/>
                <a:sym typeface="Poppins"/>
              </a:rPr>
              <a:t>Modtagene binære bytes omdannes til læselige tegn (typisk UTF-8). Browseren bestemmer metoden via: 1) Serverens</a:t>
            </a:r>
            <a:r>
              <a:rPr lang="en-US" sz="1300" b="1" i="0" u="none" strike="noStrike">
                <a:solidFill>
                  <a:srgbClr val="374151"/>
                </a:solidFill>
                <a:latin typeface="Poppins"/>
                <a:ea typeface="Poppins"/>
                <a:cs typeface="Poppins"/>
                <a:sym typeface="Poppins"/>
              </a:rPr>
              <a:t>Content-Type</a:t>
            </a:r>
            <a:r>
              <a:rPr lang="en-US" sz="1300" b="0" i="0" u="none" strike="noStrike">
                <a:solidFill>
                  <a:srgbClr val="374151"/>
                </a:solidFill>
                <a:latin typeface="Poppins"/>
                <a:ea typeface="Poppins"/>
                <a:cs typeface="Poppins"/>
                <a:sym typeface="Poppins"/>
              </a:rPr>
              <a:t>header, 2) Et</a:t>
            </a:r>
            <a:r>
              <a:rPr lang="en-US" sz="1300" b="1" i="0" u="none" strike="noStrike">
                <a:solidFill>
                  <a:srgbClr val="374151"/>
                </a:solidFill>
                <a:latin typeface="Poppins"/>
                <a:ea typeface="Poppins"/>
                <a:cs typeface="Poppins"/>
                <a:sym typeface="Poppins"/>
              </a:rPr>
              <a:t>&lt;meta charset&gt;</a:t>
            </a:r>
            <a:r>
              <a:rPr lang="en-US" sz="1300" b="0" i="0" u="none" strike="noStrike">
                <a:solidFill>
                  <a:srgbClr val="374151"/>
                </a:solidFill>
                <a:latin typeface="Poppins"/>
                <a:ea typeface="Poppins"/>
                <a:cs typeface="Poppins"/>
                <a:sym typeface="Poppins"/>
              </a:rPr>
              <a:t>tag i HTML, eller som sidste udvej, gennem automatisk gætning af kodningen.</a:t>
            </a:r>
            <a:endParaRPr lang="en-US" sz="1100"/>
          </a:p>
        </p:txBody>
      </p:sp>
      <p:pic>
        <p:nvPicPr>
          <p:cNvPr id="10" name="Picture 10"/>
          <p:cNvPicPr>
            <a:picLocks noChangeAspect="1"/>
          </p:cNvPicPr>
          <p:nvPr/>
        </p:nvPicPr>
        <p:blipFill>
          <a:blip r:embed="rId4"/>
          <a:srcRect l="10000" r="10000"/>
          <a:stretch>
            <a:fillRect/>
          </a:stretch>
        </p:blipFill>
        <p:spPr>
          <a:xfrm>
            <a:off x="1587500" y="3746500"/>
            <a:ext cx="3048000" cy="1905000"/>
          </a:xfrm>
          <a:prstGeom prst="roundRect">
            <a:avLst>
              <a:gd name="adj" fmla="val 8000"/>
            </a:avLst>
          </a:prstGeom>
          <a:noFill/>
          <a:ln w="25400" cap="flat" cmpd="sng">
            <a:solidFill>
              <a:srgbClr val="E5E7EB">
                <a:alpha val="100000"/>
              </a:srgbClr>
            </a:solidFill>
            <a:prstDash val="solid"/>
            <a:round/>
          </a:ln>
          <a:effectLst>
            <a:outerShdw blurRad="152400" dist="63500" dir="2700000" algn="tl" rotWithShape="0">
              <a:srgbClr val="000000">
                <a:alpha val="12000"/>
              </a:srgbClr>
            </a:outerShdw>
          </a:effectLst>
        </p:spPr>
      </p:pic>
      <p:sp>
        <p:nvSpPr>
          <p:cNvPr id="11" name="AutoShape 11"/>
          <p:cNvSpPr/>
          <p:nvPr/>
        </p:nvSpPr>
        <p:spPr>
          <a:xfrm>
            <a:off x="1587500" y="5715000"/>
            <a:ext cx="3048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F2937"/>
                </a:solidFill>
                <a:latin typeface="Poppins"/>
                <a:ea typeface="Poppins"/>
                <a:cs typeface="Poppins"/>
                <a:sym typeface="Poppins"/>
              </a:rPr>
              <a:t>HTTP Request/Response Cycle</a:t>
            </a:r>
            <a:br>
              <a:rPr lang="en-US" sz="1600" b="0" i="0" u="none" strike="noStrike">
                <a:solidFill>
                  <a:srgbClr val="1F2329"/>
                </a:solidFill>
                <a:latin typeface="Poppins"/>
                <a:ea typeface="Poppins"/>
                <a:cs typeface="Poppins"/>
                <a:sym typeface="Poppins"/>
              </a:rPr>
            </a:br>
            <a:r>
              <a:rPr lang="en-US" sz="1200" b="0" i="0" u="none" strike="noStrike">
                <a:solidFill>
                  <a:srgbClr val="6B7280"/>
                </a:solidFill>
                <a:latin typeface="Poppins"/>
                <a:ea typeface="Poppins"/>
                <a:cs typeface="Poppins"/>
                <a:sym typeface="Poppins"/>
              </a:rPr>
              <a:t>Klient-server kommunikationsflow</a:t>
            </a:r>
            <a:endParaRPr lang="en-US" sz="1100"/>
          </a:p>
        </p:txBody>
      </p:sp>
      <p:pic>
        <p:nvPicPr>
          <p:cNvPr id="12" name="Picture 12"/>
          <p:cNvPicPr>
            <a:picLocks noChangeAspect="1"/>
          </p:cNvPicPr>
          <p:nvPr/>
        </p:nvPicPr>
        <p:blipFill>
          <a:blip r:embed="rId5"/>
          <a:srcRect t="8333" b="8333"/>
          <a:stretch>
            <a:fillRect/>
          </a:stretch>
        </p:blipFill>
        <p:spPr>
          <a:xfrm>
            <a:off x="7302500" y="3746500"/>
            <a:ext cx="3048000" cy="1905000"/>
          </a:xfrm>
          <a:prstGeom prst="roundRect">
            <a:avLst>
              <a:gd name="adj" fmla="val 8000"/>
            </a:avLst>
          </a:prstGeom>
          <a:noFill/>
          <a:ln w="25400" cap="flat" cmpd="sng">
            <a:solidFill>
              <a:srgbClr val="E5E7EB">
                <a:alpha val="100000"/>
              </a:srgbClr>
            </a:solidFill>
            <a:prstDash val="solid"/>
            <a:round/>
          </a:ln>
          <a:effectLst>
            <a:outerShdw blurRad="152400" dist="63500" dir="2700000" algn="tl" rotWithShape="0">
              <a:srgbClr val="000000">
                <a:alpha val="12000"/>
              </a:srgbClr>
            </a:outerShdw>
          </a:effectLst>
        </p:spPr>
      </p:pic>
      <p:sp>
        <p:nvSpPr>
          <p:cNvPr id="13" name="AutoShape 13"/>
          <p:cNvSpPr/>
          <p:nvPr/>
        </p:nvSpPr>
        <p:spPr>
          <a:xfrm>
            <a:off x="7302500" y="5715000"/>
            <a:ext cx="3048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F2937"/>
                </a:solidFill>
                <a:latin typeface="Poppins"/>
                <a:ea typeface="Poppins"/>
                <a:cs typeface="Poppins"/>
                <a:sym typeface="Poppins"/>
              </a:rPr>
              <a:t>Byte-til-Tegn Dekodning</a:t>
            </a:r>
            <a:br>
              <a:rPr lang="en-US" sz="1600" b="0" i="0" u="none" strike="noStrike">
                <a:solidFill>
                  <a:srgbClr val="1F2329"/>
                </a:solidFill>
                <a:latin typeface="Poppins"/>
                <a:ea typeface="Poppins"/>
                <a:cs typeface="Poppins"/>
                <a:sym typeface="Poppins"/>
              </a:rPr>
            </a:br>
            <a:r>
              <a:rPr lang="en-US" sz="1200" b="0" i="0" u="none" strike="noStrike">
                <a:solidFill>
                  <a:srgbClr val="6B7280"/>
                </a:solidFill>
                <a:latin typeface="Poppins"/>
                <a:ea typeface="Poppins"/>
                <a:cs typeface="Poppins"/>
                <a:sym typeface="Poppins"/>
              </a:rPr>
              <a:t>Konvertering af binær data til tekst</a:t>
            </a:r>
            <a:endParaRPr lang="en-US" sz="1100"/>
          </a:p>
        </p:txBody>
      </p:sp>
      <p:sp>
        <p:nvSpPr>
          <p:cNvPr id="14" name="AutoShape 14"/>
          <p:cNvSpPr/>
          <p:nvPr/>
        </p:nvSpPr>
        <p:spPr>
          <a:xfrm>
            <a:off x="762000" y="6286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dirty="0" err="1">
                <a:solidFill>
                  <a:srgbClr val="9CA3AF"/>
                </a:solidFill>
                <a:latin typeface="Poppins"/>
                <a:ea typeface="Poppins"/>
                <a:cs typeface="Poppins"/>
                <a:sym typeface="Poppins"/>
              </a:rPr>
              <a:t>kilde</a:t>
            </a:r>
            <a:r>
              <a:rPr lang="en-US" sz="1000" b="0" i="0" u="none" strike="noStrike" dirty="0">
                <a:solidFill>
                  <a:srgbClr val="9CA3AF"/>
                </a:solidFill>
                <a:latin typeface="Poppins"/>
                <a:ea typeface="Poppins"/>
                <a:cs typeface="Poppins"/>
                <a:sym typeface="Poppins"/>
              </a:rPr>
              <a:t>: 1. Inside look at modern web browser (Part 1-4) - https://</a:t>
            </a:r>
            <a:r>
              <a:rPr lang="en-US" sz="1000" b="0" i="0" u="none" strike="noStrike" dirty="0" err="1">
                <a:solidFill>
                  <a:srgbClr val="9CA3AF"/>
                </a:solidFill>
                <a:latin typeface="Poppins"/>
                <a:ea typeface="Poppins"/>
                <a:cs typeface="Poppins"/>
                <a:sym typeface="Poppins"/>
              </a:rPr>
              <a:t>developer.chrome.com</a:t>
            </a:r>
            <a:r>
              <a:rPr lang="en-US" sz="1000" b="0" i="0" u="none" strike="noStrike" dirty="0">
                <a:solidFill>
                  <a:srgbClr val="9CA3AF"/>
                </a:solidFill>
                <a:latin typeface="Poppins"/>
                <a:ea typeface="Poppins"/>
                <a:cs typeface="Poppins"/>
                <a:sym typeface="Poppins"/>
              </a:rPr>
              <a:t>/blog/inside-browser-part1/ 2. Rendering Performance - https://</a:t>
            </a:r>
            <a:r>
              <a:rPr lang="en-US" sz="1000" b="0" i="0" u="none" strike="noStrike" dirty="0" err="1">
                <a:solidFill>
                  <a:srgbClr val="9CA3AF"/>
                </a:solidFill>
                <a:latin typeface="Poppins"/>
                <a:ea typeface="Poppins"/>
                <a:cs typeface="Poppins"/>
                <a:sym typeface="Poppins"/>
              </a:rPr>
              <a:t>web.dev</a:t>
            </a:r>
            <a:r>
              <a:rPr lang="en-US" sz="1000" b="0" i="0" u="none" strike="noStrike" dirty="0">
                <a:solidFill>
                  <a:srgbClr val="9CA3AF"/>
                </a:solidFill>
                <a:latin typeface="Poppins"/>
                <a:ea typeface="Poppins"/>
                <a:cs typeface="Poppins"/>
                <a:sym typeface="Poppins"/>
              </a:rPr>
              <a:t>/rendering-performance/ 3. CSS Triggers - https://</a:t>
            </a:r>
            <a:r>
              <a:rPr lang="en-US" sz="1000" b="0" i="0" u="none" strike="noStrike" dirty="0" err="1">
                <a:solidFill>
                  <a:srgbClr val="9CA3AF"/>
                </a:solidFill>
                <a:latin typeface="Poppins"/>
                <a:ea typeface="Poppins"/>
                <a:cs typeface="Poppins"/>
                <a:sym typeface="Poppins"/>
              </a:rPr>
              <a:t>csstriggers.com</a:t>
            </a:r>
            <a:r>
              <a:rPr lang="en-US" sz="1000" b="0" i="0" u="none" strike="noStrike" dirty="0">
                <a:solidFill>
                  <a:srgbClr val="9CA3AF"/>
                </a:solidFill>
                <a:latin typeface="Poppins"/>
                <a:ea typeface="Poppins"/>
                <a:cs typeface="Poppins"/>
                <a:sym typeface="Poppins"/>
              </a:rPr>
              <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1BE93B-86E1-C259-E7FD-0144768E766C}"/>
              </a:ext>
            </a:extLst>
          </p:cNvPr>
          <p:cNvSpPr txBox="1"/>
          <p:nvPr/>
        </p:nvSpPr>
        <p:spPr>
          <a:xfrm>
            <a:off x="1490729" y="731483"/>
            <a:ext cx="6098146" cy="584775"/>
          </a:xfrm>
          <a:prstGeom prst="rect">
            <a:avLst/>
          </a:prstGeom>
          <a:noFill/>
        </p:spPr>
        <p:txBody>
          <a:bodyPr wrap="square">
            <a:spAutoFit/>
          </a:bodyPr>
          <a:lstStyle/>
          <a:p>
            <a:r>
              <a:rPr lang="en-US" sz="3200" b="1" i="0" u="none" strike="noStrike" dirty="0">
                <a:solidFill>
                  <a:srgbClr val="1F2937"/>
                </a:solidFill>
                <a:latin typeface="Poppins"/>
                <a:ea typeface="Poppins"/>
                <a:cs typeface="Poppins"/>
                <a:sym typeface="Poppins"/>
              </a:rPr>
              <a:t>ASCII</a:t>
            </a:r>
            <a:endParaRPr lang="en-DK" dirty="0"/>
          </a:p>
        </p:txBody>
      </p:sp>
      <p:sp>
        <p:nvSpPr>
          <p:cNvPr id="5" name="TextBox 4">
            <a:extLst>
              <a:ext uri="{FF2B5EF4-FFF2-40B4-BE49-F238E27FC236}">
                <a16:creationId xmlns:a16="http://schemas.microsoft.com/office/drawing/2014/main" id="{5EF62C21-3F03-9725-B58C-DE19E895EF38}"/>
              </a:ext>
            </a:extLst>
          </p:cNvPr>
          <p:cNvSpPr txBox="1"/>
          <p:nvPr/>
        </p:nvSpPr>
        <p:spPr>
          <a:xfrm>
            <a:off x="2920284" y="869981"/>
            <a:ext cx="6098146" cy="307777"/>
          </a:xfrm>
          <a:prstGeom prst="rect">
            <a:avLst/>
          </a:prstGeom>
          <a:noFill/>
        </p:spPr>
        <p:txBody>
          <a:bodyPr wrap="square">
            <a:spAutoFit/>
          </a:bodyPr>
          <a:lstStyle/>
          <a:p>
            <a:r>
              <a:rPr lang="en-DK" b="1" dirty="0"/>
              <a:t>ASCII</a:t>
            </a:r>
            <a:r>
              <a:rPr lang="en-DK" dirty="0"/>
              <a:t> stands for </a:t>
            </a:r>
            <a:r>
              <a:rPr lang="en-DK" b="1" dirty="0"/>
              <a:t>American Standard Code for Information Interchange</a:t>
            </a:r>
            <a:r>
              <a:rPr lang="en-DK" dirty="0"/>
              <a:t>.</a:t>
            </a:r>
          </a:p>
        </p:txBody>
      </p:sp>
      <p:graphicFrame>
        <p:nvGraphicFramePr>
          <p:cNvPr id="6" name="Table 5">
            <a:extLst>
              <a:ext uri="{FF2B5EF4-FFF2-40B4-BE49-F238E27FC236}">
                <a16:creationId xmlns:a16="http://schemas.microsoft.com/office/drawing/2014/main" id="{2144A5AC-58BC-C5C7-095C-5A4BAE7B8F94}"/>
              </a:ext>
            </a:extLst>
          </p:cNvPr>
          <p:cNvGraphicFramePr>
            <a:graphicFrameLocks noGrp="1"/>
          </p:cNvGraphicFramePr>
          <p:nvPr>
            <p:extLst>
              <p:ext uri="{D42A27DB-BD31-4B8C-83A1-F6EECF244321}">
                <p14:modId xmlns:p14="http://schemas.microsoft.com/office/powerpoint/2010/main" val="2655473536"/>
              </p:ext>
            </p:extLst>
          </p:nvPr>
        </p:nvGraphicFramePr>
        <p:xfrm>
          <a:off x="1487509" y="1454756"/>
          <a:ext cx="10515600" cy="243840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698411485"/>
                    </a:ext>
                  </a:extLst>
                </a:gridCol>
                <a:gridCol w="5257800">
                  <a:extLst>
                    <a:ext uri="{9D8B030D-6E8A-4147-A177-3AD203B41FA5}">
                      <a16:colId xmlns:a16="http://schemas.microsoft.com/office/drawing/2014/main" val="565524905"/>
                    </a:ext>
                  </a:extLst>
                </a:gridCol>
              </a:tblGrid>
              <a:tr h="0">
                <a:tc>
                  <a:txBody>
                    <a:bodyPr/>
                    <a:lstStyle/>
                    <a:p>
                      <a:pPr>
                        <a:buNone/>
                      </a:pPr>
                      <a:r>
                        <a:rPr lang="en-DK"/>
                        <a:t>Character</a:t>
                      </a:r>
                    </a:p>
                  </a:txBody>
                  <a:tcPr anchor="ctr"/>
                </a:tc>
                <a:tc>
                  <a:txBody>
                    <a:bodyPr/>
                    <a:lstStyle/>
                    <a:p>
                      <a:pPr>
                        <a:buNone/>
                      </a:pPr>
                      <a:r>
                        <a:rPr lang="en-DK"/>
                        <a:t>ASCII value</a:t>
                      </a:r>
                    </a:p>
                  </a:txBody>
                  <a:tcPr anchor="ctr"/>
                </a:tc>
                <a:extLst>
                  <a:ext uri="{0D108BD9-81ED-4DB2-BD59-A6C34878D82A}">
                    <a16:rowId xmlns:a16="http://schemas.microsoft.com/office/drawing/2014/main" val="1587926066"/>
                  </a:ext>
                </a:extLst>
              </a:tr>
              <a:tr h="0">
                <a:tc>
                  <a:txBody>
                    <a:bodyPr/>
                    <a:lstStyle/>
                    <a:p>
                      <a:pPr>
                        <a:buNone/>
                      </a:pPr>
                      <a:r>
                        <a:rPr lang="en-DK"/>
                        <a:t>A</a:t>
                      </a:r>
                    </a:p>
                  </a:txBody>
                  <a:tcPr anchor="ctr"/>
                </a:tc>
                <a:tc>
                  <a:txBody>
                    <a:bodyPr/>
                    <a:lstStyle/>
                    <a:p>
                      <a:pPr>
                        <a:buNone/>
                      </a:pPr>
                      <a:r>
                        <a:rPr lang="en-DK"/>
                        <a:t>65</a:t>
                      </a:r>
                    </a:p>
                  </a:txBody>
                  <a:tcPr anchor="ctr"/>
                </a:tc>
                <a:extLst>
                  <a:ext uri="{0D108BD9-81ED-4DB2-BD59-A6C34878D82A}">
                    <a16:rowId xmlns:a16="http://schemas.microsoft.com/office/drawing/2014/main" val="59686321"/>
                  </a:ext>
                </a:extLst>
              </a:tr>
              <a:tr h="0">
                <a:tc>
                  <a:txBody>
                    <a:bodyPr/>
                    <a:lstStyle/>
                    <a:p>
                      <a:pPr>
                        <a:buNone/>
                      </a:pPr>
                      <a:r>
                        <a:rPr lang="en-DK"/>
                        <a:t>B</a:t>
                      </a:r>
                    </a:p>
                  </a:txBody>
                  <a:tcPr anchor="ctr"/>
                </a:tc>
                <a:tc>
                  <a:txBody>
                    <a:bodyPr/>
                    <a:lstStyle/>
                    <a:p>
                      <a:pPr>
                        <a:buNone/>
                      </a:pPr>
                      <a:r>
                        <a:rPr lang="en-DK"/>
                        <a:t>66</a:t>
                      </a:r>
                    </a:p>
                  </a:txBody>
                  <a:tcPr anchor="ctr"/>
                </a:tc>
                <a:extLst>
                  <a:ext uri="{0D108BD9-81ED-4DB2-BD59-A6C34878D82A}">
                    <a16:rowId xmlns:a16="http://schemas.microsoft.com/office/drawing/2014/main" val="4178258548"/>
                  </a:ext>
                </a:extLst>
              </a:tr>
              <a:tr h="0">
                <a:tc>
                  <a:txBody>
                    <a:bodyPr/>
                    <a:lstStyle/>
                    <a:p>
                      <a:pPr>
                        <a:buNone/>
                      </a:pPr>
                      <a:r>
                        <a:rPr lang="en-DK"/>
                        <a:t>a</a:t>
                      </a:r>
                    </a:p>
                  </a:txBody>
                  <a:tcPr anchor="ctr"/>
                </a:tc>
                <a:tc>
                  <a:txBody>
                    <a:bodyPr/>
                    <a:lstStyle/>
                    <a:p>
                      <a:pPr>
                        <a:buNone/>
                      </a:pPr>
                      <a:r>
                        <a:rPr lang="en-DK"/>
                        <a:t>97</a:t>
                      </a:r>
                    </a:p>
                  </a:txBody>
                  <a:tcPr anchor="ctr"/>
                </a:tc>
                <a:extLst>
                  <a:ext uri="{0D108BD9-81ED-4DB2-BD59-A6C34878D82A}">
                    <a16:rowId xmlns:a16="http://schemas.microsoft.com/office/drawing/2014/main" val="2527002015"/>
                  </a:ext>
                </a:extLst>
              </a:tr>
              <a:tr h="0">
                <a:tc>
                  <a:txBody>
                    <a:bodyPr/>
                    <a:lstStyle/>
                    <a:p>
                      <a:pPr>
                        <a:buNone/>
                      </a:pPr>
                      <a:r>
                        <a:rPr lang="en-DK"/>
                        <a:t>b</a:t>
                      </a:r>
                    </a:p>
                  </a:txBody>
                  <a:tcPr anchor="ctr"/>
                </a:tc>
                <a:tc>
                  <a:txBody>
                    <a:bodyPr/>
                    <a:lstStyle/>
                    <a:p>
                      <a:pPr>
                        <a:buNone/>
                      </a:pPr>
                      <a:r>
                        <a:rPr lang="en-DK"/>
                        <a:t>98</a:t>
                      </a:r>
                    </a:p>
                  </a:txBody>
                  <a:tcPr anchor="ctr"/>
                </a:tc>
                <a:extLst>
                  <a:ext uri="{0D108BD9-81ED-4DB2-BD59-A6C34878D82A}">
                    <a16:rowId xmlns:a16="http://schemas.microsoft.com/office/drawing/2014/main" val="3054502138"/>
                  </a:ext>
                </a:extLst>
              </a:tr>
              <a:tr h="0">
                <a:tc>
                  <a:txBody>
                    <a:bodyPr/>
                    <a:lstStyle/>
                    <a:p>
                      <a:pPr>
                        <a:buNone/>
                      </a:pPr>
                      <a:r>
                        <a:rPr lang="en-DK"/>
                        <a:t>0</a:t>
                      </a:r>
                    </a:p>
                  </a:txBody>
                  <a:tcPr anchor="ctr"/>
                </a:tc>
                <a:tc>
                  <a:txBody>
                    <a:bodyPr/>
                    <a:lstStyle/>
                    <a:p>
                      <a:pPr>
                        <a:buNone/>
                      </a:pPr>
                      <a:r>
                        <a:rPr lang="en-DK"/>
                        <a:t>48</a:t>
                      </a:r>
                    </a:p>
                  </a:txBody>
                  <a:tcPr anchor="ctr"/>
                </a:tc>
                <a:extLst>
                  <a:ext uri="{0D108BD9-81ED-4DB2-BD59-A6C34878D82A}">
                    <a16:rowId xmlns:a16="http://schemas.microsoft.com/office/drawing/2014/main" val="3805121590"/>
                  </a:ext>
                </a:extLst>
              </a:tr>
              <a:tr h="0">
                <a:tc>
                  <a:txBody>
                    <a:bodyPr/>
                    <a:lstStyle/>
                    <a:p>
                      <a:pPr>
                        <a:buNone/>
                      </a:pPr>
                      <a:r>
                        <a:rPr lang="en-DK"/>
                        <a:t>Space</a:t>
                      </a:r>
                    </a:p>
                  </a:txBody>
                  <a:tcPr anchor="ctr"/>
                </a:tc>
                <a:tc>
                  <a:txBody>
                    <a:bodyPr/>
                    <a:lstStyle/>
                    <a:p>
                      <a:pPr>
                        <a:buNone/>
                      </a:pPr>
                      <a:r>
                        <a:rPr lang="en-DK"/>
                        <a:t>32</a:t>
                      </a:r>
                    </a:p>
                  </a:txBody>
                  <a:tcPr anchor="ctr"/>
                </a:tc>
                <a:extLst>
                  <a:ext uri="{0D108BD9-81ED-4DB2-BD59-A6C34878D82A}">
                    <a16:rowId xmlns:a16="http://schemas.microsoft.com/office/drawing/2014/main" val="3148778555"/>
                  </a:ext>
                </a:extLst>
              </a:tr>
              <a:tr h="0">
                <a:tc>
                  <a:txBody>
                    <a:bodyPr/>
                    <a:lstStyle/>
                    <a:p>
                      <a:pPr>
                        <a:buNone/>
                      </a:pPr>
                      <a:r>
                        <a:rPr lang="en-DK"/>
                        <a:t>!</a:t>
                      </a:r>
                    </a:p>
                  </a:txBody>
                  <a:tcPr anchor="ctr"/>
                </a:tc>
                <a:tc>
                  <a:txBody>
                    <a:bodyPr/>
                    <a:lstStyle/>
                    <a:p>
                      <a:pPr>
                        <a:buNone/>
                      </a:pPr>
                      <a:r>
                        <a:rPr lang="en-DK" dirty="0"/>
                        <a:t>33</a:t>
                      </a:r>
                    </a:p>
                  </a:txBody>
                  <a:tcPr anchor="ctr"/>
                </a:tc>
                <a:extLst>
                  <a:ext uri="{0D108BD9-81ED-4DB2-BD59-A6C34878D82A}">
                    <a16:rowId xmlns:a16="http://schemas.microsoft.com/office/drawing/2014/main" val="778400527"/>
                  </a:ext>
                </a:extLst>
              </a:tr>
            </a:tbl>
          </a:graphicData>
        </a:graphic>
      </p:graphicFrame>
      <p:sp>
        <p:nvSpPr>
          <p:cNvPr id="7" name="AutoShape 14">
            <a:extLst>
              <a:ext uri="{FF2B5EF4-FFF2-40B4-BE49-F238E27FC236}">
                <a16:creationId xmlns:a16="http://schemas.microsoft.com/office/drawing/2014/main" id="{4ECD69D2-39C8-9CDF-AE8D-BFAEC670FBB0}"/>
              </a:ext>
            </a:extLst>
          </p:cNvPr>
          <p:cNvSpPr/>
          <p:nvPr/>
        </p:nvSpPr>
        <p:spPr>
          <a:xfrm>
            <a:off x="762000" y="6286500"/>
            <a:ext cx="10668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00" dirty="0">
                <a:solidFill>
                  <a:srgbClr val="9CA3AF"/>
                </a:solidFill>
                <a:latin typeface="Poppins"/>
                <a:ea typeface="Poppins"/>
                <a:cs typeface="Poppins"/>
                <a:sym typeface="Poppins"/>
              </a:rPr>
              <a:t>Kilde https://</a:t>
            </a:r>
            <a:r>
              <a:rPr lang="en-US" sz="1000" dirty="0" err="1">
                <a:solidFill>
                  <a:srgbClr val="9CA3AF"/>
                </a:solidFill>
                <a:latin typeface="Poppins"/>
                <a:ea typeface="Poppins"/>
                <a:cs typeface="Poppins"/>
                <a:sym typeface="Poppins"/>
              </a:rPr>
              <a:t>en.wikipedia.org</a:t>
            </a:r>
            <a:r>
              <a:rPr lang="en-US" sz="1000" dirty="0">
                <a:solidFill>
                  <a:srgbClr val="9CA3AF"/>
                </a:solidFill>
                <a:latin typeface="Poppins"/>
                <a:ea typeface="Poppins"/>
                <a:cs typeface="Poppins"/>
                <a:sym typeface="Poppins"/>
              </a:rPr>
              <a:t>/wiki/ASCII</a:t>
            </a:r>
            <a:endParaRPr lang="en-US" sz="1100" dirty="0"/>
          </a:p>
        </p:txBody>
      </p:sp>
    </p:spTree>
    <p:extLst>
      <p:ext uri="{BB962C8B-B14F-4D97-AF65-F5344CB8AC3E}">
        <p14:creationId xmlns:p14="http://schemas.microsoft.com/office/powerpoint/2010/main" val="3055750046"/>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09F2AB-1CCA-AB87-D87B-68D4E4B6BBFC}"/>
              </a:ext>
            </a:extLst>
          </p:cNvPr>
          <p:cNvSpPr txBox="1"/>
          <p:nvPr/>
        </p:nvSpPr>
        <p:spPr>
          <a:xfrm>
            <a:off x="2327856" y="844224"/>
            <a:ext cx="6098146" cy="584775"/>
          </a:xfrm>
          <a:prstGeom prst="rect">
            <a:avLst/>
          </a:prstGeom>
          <a:noFill/>
        </p:spPr>
        <p:txBody>
          <a:bodyPr wrap="square">
            <a:spAutoFit/>
          </a:bodyPr>
          <a:lstStyle/>
          <a:p>
            <a:r>
              <a:rPr lang="en-DK" sz="3200" b="1" dirty="0">
                <a:solidFill>
                  <a:srgbClr val="1F2937"/>
                </a:solidFill>
                <a:latin typeface="Poppins"/>
                <a:cs typeface="Poppins"/>
              </a:rPr>
              <a:t>UTF-8</a:t>
            </a:r>
          </a:p>
        </p:txBody>
      </p:sp>
      <p:sp>
        <p:nvSpPr>
          <p:cNvPr id="5" name="TextBox 4">
            <a:extLst>
              <a:ext uri="{FF2B5EF4-FFF2-40B4-BE49-F238E27FC236}">
                <a16:creationId xmlns:a16="http://schemas.microsoft.com/office/drawing/2014/main" id="{974A39A3-80C9-4BF3-DE60-13DA4EC167F6}"/>
              </a:ext>
            </a:extLst>
          </p:cNvPr>
          <p:cNvSpPr txBox="1"/>
          <p:nvPr/>
        </p:nvSpPr>
        <p:spPr>
          <a:xfrm>
            <a:off x="3049073" y="2201113"/>
            <a:ext cx="6098146" cy="2462213"/>
          </a:xfrm>
          <a:prstGeom prst="rect">
            <a:avLst/>
          </a:prstGeom>
          <a:noFill/>
        </p:spPr>
        <p:txBody>
          <a:bodyPr wrap="square">
            <a:spAutoFit/>
          </a:bodyPr>
          <a:lstStyle/>
          <a:p>
            <a:r>
              <a:rPr lang="en-DK" dirty="0"/>
              <a:t>&lt;!DOCTYPE html&gt;</a:t>
            </a:r>
          </a:p>
          <a:p>
            <a:r>
              <a:rPr lang="en-DK" dirty="0"/>
              <a:t>&lt;html&gt;</a:t>
            </a:r>
          </a:p>
          <a:p>
            <a:r>
              <a:rPr lang="en-DK" dirty="0"/>
              <a:t>&lt;head&gt;</a:t>
            </a:r>
          </a:p>
          <a:p>
            <a:r>
              <a:rPr lang="en-DK" dirty="0">
                <a:solidFill>
                  <a:schemeClr val="accent6">
                    <a:lumMod val="75000"/>
                  </a:schemeClr>
                </a:solidFill>
              </a:rPr>
              <a:t>    &lt;meta charset="UTF-8"&gt;</a:t>
            </a:r>
          </a:p>
          <a:p>
            <a:r>
              <a:rPr lang="en-DK" dirty="0"/>
              <a:t>    &lt;title&gt;My Website&lt;/title&gt;</a:t>
            </a:r>
          </a:p>
          <a:p>
            <a:r>
              <a:rPr lang="en-DK" dirty="0"/>
              <a:t>&lt;/head&gt;</a:t>
            </a:r>
          </a:p>
          <a:p>
            <a:r>
              <a:rPr lang="en-DK" dirty="0"/>
              <a:t>&lt;body&gt;</a:t>
            </a:r>
          </a:p>
          <a:p>
            <a:r>
              <a:rPr lang="en-DK" dirty="0"/>
              <a:t>    &lt;h1&gt;Velkommen!&lt;/h1&gt;</a:t>
            </a:r>
          </a:p>
          <a:p>
            <a:r>
              <a:rPr lang="en-DK" dirty="0"/>
              <a:t>    &lt;p&gt;Jeg hedder Vik.&lt;/p&gt;</a:t>
            </a:r>
          </a:p>
          <a:p>
            <a:r>
              <a:rPr lang="en-DK" dirty="0"/>
              <a:t>&lt;/body&gt;</a:t>
            </a:r>
          </a:p>
          <a:p>
            <a:r>
              <a:rPr lang="en-DK" dirty="0"/>
              <a:t>&lt;/html&gt;</a:t>
            </a:r>
          </a:p>
        </p:txBody>
      </p:sp>
      <p:sp>
        <p:nvSpPr>
          <p:cNvPr id="7" name="TextBox 6">
            <a:extLst>
              <a:ext uri="{FF2B5EF4-FFF2-40B4-BE49-F238E27FC236}">
                <a16:creationId xmlns:a16="http://schemas.microsoft.com/office/drawing/2014/main" id="{6DDB6E7B-9C41-BC90-CAD0-BD70EA12D9B9}"/>
              </a:ext>
            </a:extLst>
          </p:cNvPr>
          <p:cNvSpPr txBox="1"/>
          <p:nvPr/>
        </p:nvSpPr>
        <p:spPr>
          <a:xfrm>
            <a:off x="6874098" y="2736502"/>
            <a:ext cx="3647942" cy="1384995"/>
          </a:xfrm>
          <a:prstGeom prst="rect">
            <a:avLst/>
          </a:prstGeom>
          <a:noFill/>
        </p:spPr>
        <p:txBody>
          <a:bodyPr wrap="square">
            <a:spAutoFit/>
          </a:bodyPr>
          <a:lstStyle/>
          <a:p>
            <a:pPr>
              <a:buNone/>
            </a:pPr>
            <a:r>
              <a:rPr lang="en-DK" dirty="0"/>
              <a:t>ASCII tildeler numeriske værdier til 128 grundlæggende tegn. UTF-8 er en Unicode-kodning med variabel længde, som indeholder disse ASCII-tegn samt mange flere tegn, hvilket gør den velegnet til international tekst. </a:t>
            </a:r>
            <a:r>
              <a:rPr lang="en-GB" dirty="0"/>
              <a:t>E</a:t>
            </a:r>
            <a:r>
              <a:rPr lang="en-DK" dirty="0"/>
              <a:t>.g. ø å æ …</a:t>
            </a:r>
          </a:p>
        </p:txBody>
      </p:sp>
      <p:sp>
        <p:nvSpPr>
          <p:cNvPr id="9" name="TextBox 8">
            <a:extLst>
              <a:ext uri="{FF2B5EF4-FFF2-40B4-BE49-F238E27FC236}">
                <a16:creationId xmlns:a16="http://schemas.microsoft.com/office/drawing/2014/main" id="{DAD3367E-01BA-A64B-CFC5-AD5177E718B1}"/>
              </a:ext>
            </a:extLst>
          </p:cNvPr>
          <p:cNvSpPr txBox="1"/>
          <p:nvPr/>
        </p:nvSpPr>
        <p:spPr>
          <a:xfrm>
            <a:off x="2160431" y="6013776"/>
            <a:ext cx="6098146" cy="307777"/>
          </a:xfrm>
          <a:prstGeom prst="rect">
            <a:avLst/>
          </a:prstGeom>
          <a:noFill/>
        </p:spPr>
        <p:txBody>
          <a:bodyPr wrap="square">
            <a:spAutoFit/>
          </a:bodyPr>
          <a:lstStyle/>
          <a:p>
            <a:r>
              <a:rPr lang="en-DK" dirty="0"/>
              <a:t> </a:t>
            </a:r>
            <a:r>
              <a:rPr lang="en-DK" sz="1000" dirty="0">
                <a:solidFill>
                  <a:srgbClr val="9CA3AF"/>
                </a:solidFill>
                <a:latin typeface="Poppins"/>
                <a:cs typeface="Poppins"/>
              </a:rPr>
              <a:t>kilde</a:t>
            </a:r>
            <a:r>
              <a:rPr lang="en-DK" dirty="0"/>
              <a:t> </a:t>
            </a:r>
            <a:r>
              <a:rPr lang="en-DK" sz="1000" dirty="0">
                <a:solidFill>
                  <a:srgbClr val="9CA3AF"/>
                </a:solidFill>
                <a:latin typeface="Poppins"/>
                <a:cs typeface="Poppins"/>
              </a:rPr>
              <a:t>en.wikipedia.org/wiki/UTF-8</a:t>
            </a:r>
          </a:p>
        </p:txBody>
      </p:sp>
    </p:spTree>
    <p:extLst>
      <p:ext uri="{BB962C8B-B14F-4D97-AF65-F5344CB8AC3E}">
        <p14:creationId xmlns:p14="http://schemas.microsoft.com/office/powerpoint/2010/main" val="3579129846"/>
      </p:ext>
    </p:extLst>
  </p:cSld>
  <p:clrMapOvr>
    <a:overrideClrMapping bg1="lt1" tx1="dk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Trin 2: HTML Parser og DOM-træet</a:t>
            </a:r>
            <a:endParaRPr lang="en-US" sz="1100"/>
          </a:p>
        </p:txBody>
      </p:sp>
      <p:sp>
        <p:nvSpPr>
          <p:cNvPr id="4" name="AutoShape 4"/>
          <p:cNvSpPr/>
          <p:nvPr/>
        </p:nvSpPr>
        <p:spPr>
          <a:xfrm>
            <a:off x="762000" y="1397000"/>
            <a:ext cx="1066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Poppins"/>
                <a:ea typeface="Poppins"/>
                <a:cs typeface="Poppins"/>
                <a:sym typeface="Poppins"/>
              </a:rPr>
              <a:t>HTML Parseren er en</a:t>
            </a:r>
            <a:r>
              <a:rPr lang="en-US" sz="1500" b="1" i="0" u="none" strike="noStrike">
                <a:solidFill>
                  <a:srgbClr val="34D399"/>
                </a:solidFill>
                <a:latin typeface="Poppins"/>
                <a:ea typeface="Poppins"/>
                <a:cs typeface="Poppins"/>
                <a:sym typeface="Poppins"/>
              </a:rPr>
              <a:t>statemaskine</a:t>
            </a:r>
            <a:r>
              <a:rPr lang="en-US" sz="1500" b="0" i="0" u="none" strike="noStrike">
                <a:solidFill>
                  <a:srgbClr val="374151"/>
                </a:solidFill>
                <a:latin typeface="Poppins"/>
                <a:ea typeface="Poppins"/>
                <a:cs typeface="Poppins"/>
                <a:sym typeface="Poppins"/>
              </a:rPr>
              <a:t>, der håndterer selv ufuldstændig eller ugyldig HTML. Den omdanner rå tekst til en struktureret, computerlæsbar form gennem to centrale faser:</a:t>
            </a:r>
            <a:endParaRPr lang="en-US" sz="1100"/>
          </a:p>
        </p:txBody>
      </p:sp>
      <p:sp>
        <p:nvSpPr>
          <p:cNvPr id="5" name="AutoShape 5"/>
          <p:cNvSpPr/>
          <p:nvPr/>
        </p:nvSpPr>
        <p:spPr>
          <a:xfrm>
            <a:off x="762000" y="2413000"/>
            <a:ext cx="5270500" cy="1460500"/>
          </a:xfrm>
          <a:prstGeom prst="roundRect">
            <a:avLst>
              <a:gd name="adj" fmla="val 0"/>
            </a:avLst>
          </a:prstGeom>
          <a:solidFill>
            <a:srgbClr val="1F2937">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03500"/>
            <a:ext cx="355600" cy="355600"/>
          </a:xfrm>
          <a:prstGeom prst="rect">
            <a:avLst/>
          </a:prstGeom>
        </p:spPr>
      </p:pic>
      <p:sp>
        <p:nvSpPr>
          <p:cNvPr id="7" name="AutoShape 7"/>
          <p:cNvSpPr/>
          <p:nvPr/>
        </p:nvSpPr>
        <p:spPr>
          <a:xfrm>
            <a:off x="1524000" y="2603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1. Tokenizer (Tokeniseringsmaskine)</a:t>
            </a:r>
            <a:endParaRPr lang="en-US" sz="1100"/>
          </a:p>
        </p:txBody>
      </p:sp>
      <p:sp>
        <p:nvSpPr>
          <p:cNvPr id="8" name="AutoShape 8"/>
          <p:cNvSpPr/>
          <p:nvPr/>
        </p:nvSpPr>
        <p:spPr>
          <a:xfrm>
            <a:off x="1016000" y="3111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Poppins"/>
                <a:ea typeface="Poppins"/>
                <a:cs typeface="Poppins"/>
                <a:sym typeface="Poppins"/>
              </a:rPr>
              <a:t>Går inputtet igennem tegn for tegn og opdeler det i semantiske "tokens" (start-tag, sluttag, attributter, tekst), som er den mindste enhed for parsingen.</a:t>
            </a:r>
            <a:endParaRPr lang="en-US" sz="1100"/>
          </a:p>
        </p:txBody>
      </p:sp>
      <p:sp>
        <p:nvSpPr>
          <p:cNvPr id="9" name="AutoShape 9"/>
          <p:cNvSpPr/>
          <p:nvPr/>
        </p:nvSpPr>
        <p:spPr>
          <a:xfrm>
            <a:off x="6159500" y="2413000"/>
            <a:ext cx="5270500" cy="1460500"/>
          </a:xfrm>
          <a:prstGeom prst="roundRect">
            <a:avLst>
              <a:gd name="adj" fmla="val 0"/>
            </a:avLst>
          </a:prstGeom>
          <a:solidFill>
            <a:srgbClr val="1F2937">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2603500"/>
            <a:ext cx="355600" cy="355600"/>
          </a:xfrm>
          <a:prstGeom prst="rect">
            <a:avLst/>
          </a:prstGeom>
        </p:spPr>
      </p:pic>
      <p:sp>
        <p:nvSpPr>
          <p:cNvPr id="11" name="AutoShape 11"/>
          <p:cNvSpPr/>
          <p:nvPr/>
        </p:nvSpPr>
        <p:spPr>
          <a:xfrm>
            <a:off x="6921500" y="2603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2. Tree Builder (Træopbygger)</a:t>
            </a:r>
            <a:endParaRPr lang="en-US" sz="1100"/>
          </a:p>
        </p:txBody>
      </p:sp>
      <p:sp>
        <p:nvSpPr>
          <p:cNvPr id="12" name="AutoShape 12"/>
          <p:cNvSpPr/>
          <p:nvPr/>
        </p:nvSpPr>
        <p:spPr>
          <a:xfrm>
            <a:off x="6413500" y="3111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Poppins"/>
                <a:ea typeface="Poppins"/>
                <a:cs typeface="Poppins"/>
                <a:sym typeface="Poppins"/>
              </a:rPr>
              <a:t>Modtager tokens og konstruerer et</a:t>
            </a:r>
            <a:r>
              <a:rPr lang="en-US" sz="1400" b="1" i="0" u="none" strike="noStrike">
                <a:solidFill>
                  <a:srgbClr val="34D399"/>
                </a:solidFill>
                <a:latin typeface="Poppins"/>
                <a:ea typeface="Poppins"/>
                <a:cs typeface="Poppins"/>
                <a:sym typeface="Poppins"/>
              </a:rPr>
              <a:t>DOM-træ</a:t>
            </a:r>
            <a:r>
              <a:rPr lang="en-US" sz="1400" b="0" i="0" u="none" strike="noStrike">
                <a:solidFill>
                  <a:srgbClr val="4B5563"/>
                </a:solidFill>
                <a:latin typeface="Poppins"/>
                <a:ea typeface="Poppins"/>
                <a:cs typeface="Poppins"/>
                <a:sym typeface="Poppins"/>
              </a:rPr>
              <a:t>– en hierarkisk, træagtig struktur af knuder (nodes), der repræsenterer HTML-elementerne og deres parent-child-forhold.</a:t>
            </a:r>
            <a:endParaRPr lang="en-US" sz="1100"/>
          </a:p>
        </p:txBody>
      </p:sp>
      <p:sp>
        <p:nvSpPr>
          <p:cNvPr id="13" name="AutoShape 13"/>
          <p:cNvSpPr/>
          <p:nvPr/>
        </p:nvSpPr>
        <p:spPr>
          <a:xfrm>
            <a:off x="762000" y="4191000"/>
            <a:ext cx="10668000" cy="635000"/>
          </a:xfrm>
          <a:prstGeom prst="roundRect">
            <a:avLst>
              <a:gd name="adj" fmla="val 0"/>
            </a:avLst>
          </a:prstGeom>
          <a:solidFill>
            <a:srgbClr val="34D399">
              <a:alpha val="12000"/>
            </a:srgbClr>
          </a:solidFill>
          <a:ln w="12700" cap="flat" cmpd="sng">
            <a:solidFill>
              <a:srgbClr val="34D399">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368800"/>
            <a:ext cx="279400" cy="279400"/>
          </a:xfrm>
          <a:prstGeom prst="rect">
            <a:avLst/>
          </a:prstGeom>
        </p:spPr>
      </p:pic>
      <p:sp>
        <p:nvSpPr>
          <p:cNvPr id="15" name="AutoShape 15"/>
          <p:cNvSpPr/>
          <p:nvPr/>
        </p:nvSpPr>
        <p:spPr>
          <a:xfrm>
            <a:off x="1397000" y="4368800"/>
            <a:ext cx="990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Poppins"/>
                <a:ea typeface="Poppins"/>
                <a:cs typeface="Poppins"/>
                <a:sym typeface="Poppins"/>
              </a:rPr>
              <a:t>Blokerende proces:</a:t>
            </a:r>
            <a:r>
              <a:rPr lang="en-US" sz="1400" b="0" i="0" u="none" strike="noStrike">
                <a:solidFill>
                  <a:srgbClr val="1F2937"/>
                </a:solidFill>
                <a:latin typeface="Poppins"/>
                <a:ea typeface="Poppins"/>
                <a:cs typeface="Poppins"/>
                <a:sym typeface="Poppins"/>
              </a:rPr>
              <a:t>Parsingen afvikles på browserens hovedtråd. En &lt;script&gt;-tag stopper hele processen indtil JavaScript er hentet og udført.</a:t>
            </a:r>
            <a:endParaRPr lang="en-US" sz="1100"/>
          </a:p>
        </p:txBody>
      </p:sp>
      <p:pic>
        <p:nvPicPr>
          <p:cNvPr id="16" name="Picture 16"/>
          <p:cNvPicPr>
            <a:picLocks noChangeAspect="1"/>
          </p:cNvPicPr>
          <p:nvPr/>
        </p:nvPicPr>
        <p:blipFill>
          <a:blip r:embed="rId7"/>
          <a:srcRect l="126" r="126"/>
          <a:stretch>
            <a:fillRect/>
          </a:stretch>
        </p:blipFill>
        <p:spPr>
          <a:xfrm>
            <a:off x="762000" y="5143500"/>
            <a:ext cx="2794000" cy="952500"/>
          </a:xfrm>
          <a:prstGeom prst="rect">
            <a:avLst/>
          </a:prstGeom>
          <a:noFill/>
          <a:ln w="25400" cap="flat" cmpd="sng">
            <a:noFill/>
            <a:prstDash val="solid"/>
            <a:round/>
          </a:ln>
        </p:spPr>
      </p:pic>
      <p:sp>
        <p:nvSpPr>
          <p:cNvPr id="17" name="AutoShape 17"/>
          <p:cNvSpPr/>
          <p:nvPr/>
        </p:nvSpPr>
        <p:spPr>
          <a:xfrm>
            <a:off x="3683000" y="5143500"/>
            <a:ext cx="774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Poppins"/>
                <a:ea typeface="Poppins"/>
                <a:cs typeface="Poppins"/>
                <a:sym typeface="Poppins"/>
              </a:rPr>
              <a:t>Eksempel på et DOM-træ, som er browserens interne "mental model" af dokumentet. Strukturen definerer, hvordan elementerne er indlejrede i hinanden, og danner grundlaget for, hvordan siden rendres visuelt og hvordan JavaScript kan manipulere indholdet og layoutet.</a:t>
            </a:r>
            <a:endParaRPr lang="en-US" sz="1100"/>
          </a:p>
        </p:txBody>
      </p:sp>
      <p:sp>
        <p:nvSpPr>
          <p:cNvPr id="18" name="AutoShape 18"/>
          <p:cNvSpPr/>
          <p:nvPr/>
        </p:nvSpPr>
        <p:spPr>
          <a:xfrm>
            <a:off x="762000" y="61595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pPr>
            <a:r>
              <a:rPr lang="en-US" sz="1000" b="0" i="0" u="none" strike="noStrike" dirty="0">
                <a:solidFill>
                  <a:srgbClr val="9CA3AF"/>
                </a:solidFill>
                <a:latin typeface="Poppins"/>
                <a:ea typeface="Poppins"/>
                <a:cs typeface="Poppins"/>
                <a:sym typeface="Poppins"/>
              </a:rPr>
              <a:t>1. Inside look at modern web browser (Part 1-4) - https://</a:t>
            </a:r>
            <a:r>
              <a:rPr lang="en-US" sz="1000" b="0" i="0" u="none" strike="noStrike" dirty="0" err="1">
                <a:solidFill>
                  <a:srgbClr val="9CA3AF"/>
                </a:solidFill>
                <a:latin typeface="Poppins"/>
                <a:ea typeface="Poppins"/>
                <a:cs typeface="Poppins"/>
                <a:sym typeface="Poppins"/>
              </a:rPr>
              <a:t>developer.chrome.com</a:t>
            </a:r>
            <a:r>
              <a:rPr lang="en-US" sz="1000" b="0" i="0" u="none" strike="noStrike" dirty="0">
                <a:solidFill>
                  <a:srgbClr val="9CA3AF"/>
                </a:solidFill>
                <a:latin typeface="Poppins"/>
                <a:ea typeface="Poppins"/>
                <a:cs typeface="Poppins"/>
                <a:sym typeface="Poppins"/>
              </a:rPr>
              <a:t>/blog/inside-browser-part1/</a:t>
            </a:r>
          </a:p>
          <a:p>
            <a:pPr marL="0" indent="0" algn="l">
              <a:lnSpc>
                <a:spcPct val="100000"/>
              </a:lnSpc>
            </a:pPr>
            <a:r>
              <a:rPr lang="en-US" sz="1000" b="0" i="0" u="none" strike="noStrike" dirty="0">
                <a:solidFill>
                  <a:srgbClr val="9CA3AF"/>
                </a:solidFill>
                <a:latin typeface="Poppins"/>
                <a:ea typeface="Poppins"/>
                <a:cs typeface="Poppins"/>
                <a:sym typeface="Poppins"/>
              </a:rPr>
              <a:t>2. Rendering Performance - https://</a:t>
            </a:r>
            <a:r>
              <a:rPr lang="en-US" sz="1000" b="0" i="0" u="none" strike="noStrike" dirty="0" err="1">
                <a:solidFill>
                  <a:srgbClr val="9CA3AF"/>
                </a:solidFill>
                <a:latin typeface="Poppins"/>
                <a:ea typeface="Poppins"/>
                <a:cs typeface="Poppins"/>
                <a:sym typeface="Poppins"/>
              </a:rPr>
              <a:t>web.dev</a:t>
            </a:r>
            <a:r>
              <a:rPr lang="en-US" sz="1000" b="0" i="0" u="none" strike="noStrike" dirty="0">
                <a:solidFill>
                  <a:srgbClr val="9CA3AF"/>
                </a:solidFill>
                <a:latin typeface="Poppins"/>
                <a:ea typeface="Poppins"/>
                <a:cs typeface="Poppins"/>
                <a:sym typeface="Poppins"/>
              </a:rPr>
              <a:t>/rendering-performance/</a:t>
            </a:r>
          </a:p>
          <a:p>
            <a:pPr marL="0" indent="0" algn="l">
              <a:lnSpc>
                <a:spcPct val="100000"/>
              </a:lnSpc>
            </a:pPr>
            <a:r>
              <a:rPr lang="en-US" sz="1000" b="0" i="0" u="none" strike="noStrike" dirty="0">
                <a:solidFill>
                  <a:srgbClr val="9CA3AF"/>
                </a:solidFill>
                <a:latin typeface="Poppins"/>
                <a:ea typeface="Poppins"/>
                <a:cs typeface="Poppins"/>
                <a:sym typeface="Poppins"/>
              </a:rPr>
              <a:t>3. CSS Triggers - https://</a:t>
            </a:r>
            <a:r>
              <a:rPr lang="en-US" sz="1000" b="0" i="0" u="none" strike="noStrike" dirty="0" err="1">
                <a:solidFill>
                  <a:srgbClr val="9CA3AF"/>
                </a:solidFill>
                <a:latin typeface="Poppins"/>
                <a:ea typeface="Poppins"/>
                <a:cs typeface="Poppins"/>
                <a:sym typeface="Poppins"/>
              </a:rPr>
              <a:t>csstriggers.com</a:t>
            </a:r>
            <a:r>
              <a:rPr lang="en-US" sz="1000" b="0" i="0" u="none" strike="noStrike" dirty="0">
                <a:solidFill>
                  <a:srgbClr val="9CA3AF"/>
                </a:solidFill>
                <a:latin typeface="Poppins"/>
                <a:ea typeface="Poppins"/>
                <a:cs typeface="Poppins"/>
                <a:sym typeface="Poppins"/>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Trin 3: CSS Parser og CSSOM</a:t>
            </a:r>
            <a:endParaRPr lang="en-US" sz="1100"/>
          </a:p>
        </p:txBody>
      </p:sp>
      <p:sp>
        <p:nvSpPr>
          <p:cNvPr id="4" name="AutoShape 4"/>
          <p:cNvSpPr/>
          <p:nvPr/>
        </p:nvSpPr>
        <p:spPr>
          <a:xfrm>
            <a:off x="762000" y="1651000"/>
            <a:ext cx="5334000" cy="2032000"/>
          </a:xfrm>
          <a:prstGeom prst="roundRect">
            <a:avLst>
              <a:gd name="adj" fmla="val 0"/>
            </a:avLst>
          </a:prstGeom>
          <a:solidFill>
            <a:srgbClr val="FFFFFF">
              <a:alpha val="6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79600"/>
            <a:ext cx="304800" cy="304800"/>
          </a:xfrm>
          <a:prstGeom prst="rect">
            <a:avLst/>
          </a:prstGeom>
        </p:spPr>
      </p:pic>
      <p:sp>
        <p:nvSpPr>
          <p:cNvPr id="6" name="AutoShape 6"/>
          <p:cNvSpPr/>
          <p:nvPr/>
        </p:nvSpPr>
        <p:spPr>
          <a:xfrm>
            <a:off x="1460500" y="1841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Poppins"/>
                <a:ea typeface="Poppins"/>
                <a:cs typeface="Poppins"/>
                <a:sym typeface="Poppins"/>
              </a:rPr>
              <a:t>01. CSS Parseren</a:t>
            </a:r>
            <a:endParaRPr lang="en-US" sz="1100"/>
          </a:p>
        </p:txBody>
      </p:sp>
      <p:sp>
        <p:nvSpPr>
          <p:cNvPr id="7" name="AutoShape 7"/>
          <p:cNvSpPr/>
          <p:nvPr/>
        </p:nvSpPr>
        <p:spPr>
          <a:xfrm>
            <a:off x="1016000" y="23495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Poppins"/>
                <a:ea typeface="Poppins"/>
                <a:cs typeface="Poppins"/>
                <a:sym typeface="Poppins"/>
              </a:rPr>
              <a:t>Browseren indlæser og analyserer CSS fra eksterne ark, interne &lt;style&gt;-tags og inline-attributter. Den opdeler reglerne i en logisk, maskinvenlig struktur og håndterer komplekse regler som specifiksitet, arv og !important for at sikre korrekt stilprioritering.</a:t>
            </a:r>
            <a:endParaRPr lang="en-US" sz="1100"/>
          </a:p>
        </p:txBody>
      </p:sp>
      <p:sp>
        <p:nvSpPr>
          <p:cNvPr id="8" name="AutoShape 8"/>
          <p:cNvSpPr/>
          <p:nvPr/>
        </p:nvSpPr>
        <p:spPr>
          <a:xfrm>
            <a:off x="762000" y="4000500"/>
            <a:ext cx="5334000" cy="2159000"/>
          </a:xfrm>
          <a:prstGeom prst="roundRect">
            <a:avLst>
              <a:gd name="adj" fmla="val 0"/>
            </a:avLst>
          </a:prstGeom>
          <a:solidFill>
            <a:srgbClr val="FFFFFF">
              <a:alpha val="6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229100"/>
            <a:ext cx="304800" cy="304800"/>
          </a:xfrm>
          <a:prstGeom prst="rect">
            <a:avLst/>
          </a:prstGeom>
        </p:spPr>
      </p:pic>
      <p:sp>
        <p:nvSpPr>
          <p:cNvPr id="10" name="AutoShape 10"/>
          <p:cNvSpPr/>
          <p:nvPr/>
        </p:nvSpPr>
        <p:spPr>
          <a:xfrm>
            <a:off x="1460500" y="4191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Poppins"/>
                <a:ea typeface="Poppins"/>
                <a:cs typeface="Poppins"/>
                <a:sym typeface="Poppins"/>
              </a:rPr>
              <a:t>02. CSSOM (CSS Object Model)</a:t>
            </a:r>
            <a:endParaRPr lang="en-US" sz="1100"/>
          </a:p>
        </p:txBody>
      </p:sp>
      <p:sp>
        <p:nvSpPr>
          <p:cNvPr id="11" name="AutoShape 11"/>
          <p:cNvSpPr/>
          <p:nvPr/>
        </p:nvSpPr>
        <p:spPr>
          <a:xfrm>
            <a:off x="1016000" y="4699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Poppins"/>
                <a:ea typeface="Poppins"/>
                <a:cs typeface="Poppins"/>
                <a:sym typeface="Poppins"/>
              </a:rPr>
              <a:t>Resultatet er et træstruktur (CSSOM-tree) af stilobjekter, der definerer det endelige "computed style" for hvert DOM-element. Dette træ fungerer som en essentiel stilguide for renderingen og kan manipuleres dynamisk via JavaScript til at ændre layoutet og udseendet på tværs af elementer.</a:t>
            </a:r>
            <a:endParaRPr lang="en-US" sz="1100"/>
          </a:p>
        </p:txBody>
      </p:sp>
      <p:pic>
        <p:nvPicPr>
          <p:cNvPr id="12" name="Picture 12"/>
          <p:cNvPicPr>
            <a:picLocks noChangeAspect="1"/>
          </p:cNvPicPr>
          <p:nvPr/>
        </p:nvPicPr>
        <p:blipFill>
          <a:blip r:embed="rId6"/>
          <a:srcRect t="136" b="136"/>
          <a:stretch>
            <a:fillRect/>
          </a:stretch>
        </p:blipFill>
        <p:spPr>
          <a:xfrm>
            <a:off x="6604000" y="2222500"/>
            <a:ext cx="4826000" cy="3175000"/>
          </a:xfrm>
          <a:prstGeom prst="rect">
            <a:avLst/>
          </a:prstGeom>
          <a:noFill/>
          <a:ln w="38100" cap="flat" cmpd="sng">
            <a:solidFill>
              <a:srgbClr val="FFFFFF">
                <a:alpha val="80000"/>
              </a:srgbClr>
            </a:solidFill>
            <a:prstDash val="solid"/>
            <a:round/>
          </a:ln>
          <a:effectLst>
            <a:outerShdw blurRad="190500" dist="76200" dir="2700000" algn="tl" rotWithShape="0">
              <a:srgbClr val="1F2937">
                <a:alpha val="10000"/>
              </a:srgbClr>
            </a:outerShdw>
          </a:effectLst>
        </p:spPr>
      </p:pic>
      <p:sp>
        <p:nvSpPr>
          <p:cNvPr id="13" name="AutoShape 13"/>
          <p:cNvSpPr/>
          <p:nvPr/>
        </p:nvSpPr>
        <p:spPr>
          <a:xfrm>
            <a:off x="6604000" y="5524500"/>
            <a:ext cx="4826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1" u="none" strike="noStrike">
                <a:solidFill>
                  <a:srgbClr val="4B5563"/>
                </a:solidFill>
                <a:latin typeface="Poppins"/>
                <a:ea typeface="Poppins"/>
                <a:cs typeface="Poppins"/>
                <a:sym typeface="Poppins"/>
              </a:rPr>
              <a:t>Visualisering: CSSOM-træet mapper stilreglerne til en hierarkisk struktur, der forbinder med DOM-træet.</a:t>
            </a:r>
            <a:endParaRPr lang="en-US" sz="1100"/>
          </a:p>
        </p:txBody>
      </p:sp>
      <p:sp>
        <p:nvSpPr>
          <p:cNvPr id="14" name="AutoShape 14"/>
          <p:cNvSpPr/>
          <p:nvPr/>
        </p:nvSpPr>
        <p:spPr>
          <a:xfrm>
            <a:off x="508000" y="62865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1000" b="0" i="0" u="none" strike="noStrike" dirty="0">
                <a:solidFill>
                  <a:srgbClr val="9CA3AF"/>
                </a:solidFill>
                <a:latin typeface="Noto Sans SC"/>
                <a:ea typeface="Noto Sans SC"/>
                <a:cs typeface="Noto Sans SC"/>
                <a:sym typeface="Noto Sans SC"/>
              </a:rPr>
              <a:t>1. Inside look at modern web browser (Part 1-4) - https://</a:t>
            </a:r>
            <a:r>
              <a:rPr lang="en-US" sz="1000" b="0" i="0" u="none" strike="noStrike" dirty="0" err="1">
                <a:solidFill>
                  <a:srgbClr val="9CA3AF"/>
                </a:solidFill>
                <a:latin typeface="Noto Sans SC"/>
                <a:ea typeface="Noto Sans SC"/>
                <a:cs typeface="Noto Sans SC"/>
                <a:sym typeface="Noto Sans SC"/>
              </a:rPr>
              <a:t>developer.chrome.com</a:t>
            </a:r>
            <a:r>
              <a:rPr lang="en-US" sz="1000" b="0" i="0" u="none" strike="noStrike" dirty="0">
                <a:solidFill>
                  <a:srgbClr val="9CA3AF"/>
                </a:solidFill>
                <a:latin typeface="Noto Sans SC"/>
                <a:ea typeface="Noto Sans SC"/>
                <a:cs typeface="Noto Sans SC"/>
                <a:sym typeface="Noto Sans SC"/>
              </a:rPr>
              <a:t>/blog/inside-browser-part1/ 2. Rendering Performance - https://</a:t>
            </a:r>
            <a:r>
              <a:rPr lang="en-US" sz="1000" b="0" i="0" u="none" strike="noStrike" dirty="0" err="1">
                <a:solidFill>
                  <a:srgbClr val="9CA3AF"/>
                </a:solidFill>
                <a:latin typeface="Noto Sans SC"/>
                <a:ea typeface="Noto Sans SC"/>
                <a:cs typeface="Noto Sans SC"/>
                <a:sym typeface="Noto Sans SC"/>
              </a:rPr>
              <a:t>web.dev</a:t>
            </a:r>
            <a:r>
              <a:rPr lang="en-US" sz="1000" b="0" i="0" u="none" strike="noStrike" dirty="0">
                <a:solidFill>
                  <a:srgbClr val="9CA3AF"/>
                </a:solidFill>
                <a:latin typeface="Noto Sans SC"/>
                <a:ea typeface="Noto Sans SC"/>
                <a:cs typeface="Noto Sans SC"/>
                <a:sym typeface="Noto Sans SC"/>
              </a:rPr>
              <a:t>/rendering-performance/ 3. CSS Triggers - https://</a:t>
            </a:r>
            <a:r>
              <a:rPr lang="en-US" sz="1000" b="0" i="0" u="none" strike="noStrike" dirty="0" err="1">
                <a:solidFill>
                  <a:srgbClr val="9CA3AF"/>
                </a:solidFill>
                <a:latin typeface="Noto Sans SC"/>
                <a:ea typeface="Noto Sans SC"/>
                <a:cs typeface="Noto Sans SC"/>
                <a:sym typeface="Noto Sans SC"/>
              </a:rPr>
              <a:t>csstriggers.com</a:t>
            </a:r>
            <a:r>
              <a:rPr lang="en-US" sz="1000" b="0" i="0" u="none" strike="noStrike" dirty="0">
                <a:solidFill>
                  <a:srgbClr val="9CA3AF"/>
                </a:solidFill>
                <a:latin typeface="Noto Sans SC"/>
                <a:ea typeface="Noto Sans SC"/>
                <a:cs typeface="Noto Sans SC"/>
                <a:sym typeface="Noto Sans SC"/>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Trin 4: Bygge Render-træet</a:t>
            </a:r>
            <a:endParaRPr lang="en-US" sz="1100"/>
          </a:p>
        </p:txBody>
      </p:sp>
      <p:sp>
        <p:nvSpPr>
          <p:cNvPr id="4" name="AutoShape 4"/>
          <p:cNvSpPr/>
          <p:nvPr/>
        </p:nvSpPr>
        <p:spPr>
          <a:xfrm>
            <a:off x="762000" y="1397000"/>
            <a:ext cx="533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Når DOM-træet og CSSOM-træet er til stede, fusionerer browseren dem til et</a:t>
            </a:r>
            <a:r>
              <a:rPr lang="en-US" sz="1400" b="1" i="0" u="none" strike="noStrike">
                <a:solidFill>
                  <a:srgbClr val="34D399"/>
                </a:solidFill>
                <a:latin typeface="Noto Sans SC"/>
                <a:ea typeface="Noto Sans SC"/>
                <a:cs typeface="Noto Sans SC"/>
                <a:sym typeface="Noto Sans SC"/>
              </a:rPr>
              <a:t>Render-træ</a:t>
            </a:r>
            <a:r>
              <a:rPr lang="en-US" sz="1400" b="0" i="0" u="none" strike="noStrike">
                <a:solidFill>
                  <a:srgbClr val="374151"/>
                </a:solidFill>
                <a:latin typeface="Noto Sans SC"/>
                <a:ea typeface="Noto Sans SC"/>
                <a:cs typeface="Noto Sans SC"/>
                <a:sym typeface="Noto Sans SC"/>
              </a:rPr>
              <a:t>– et dynamisk netværk, der kun består af de elementer, der faktisk skal tegnes på skærmen.</a:t>
            </a:r>
            <a:endParaRPr lang="en-US" sz="1100"/>
          </a:p>
        </p:txBody>
      </p:sp>
      <p:sp>
        <p:nvSpPr>
          <p:cNvPr id="5" name="AutoShape 5"/>
          <p:cNvSpPr/>
          <p:nvPr/>
        </p:nvSpPr>
        <p:spPr>
          <a:xfrm>
            <a:off x="762000" y="2540000"/>
            <a:ext cx="5334000" cy="1079500"/>
          </a:xfrm>
          <a:prstGeom prst="roundRect">
            <a:avLst>
              <a:gd name="adj" fmla="val 0"/>
            </a:avLst>
          </a:prstGeom>
          <a:solidFill>
            <a:srgbClr val="F9FAFB">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730500"/>
            <a:ext cx="304800" cy="304800"/>
          </a:xfrm>
          <a:prstGeom prst="rect">
            <a:avLst/>
          </a:prstGeom>
        </p:spPr>
      </p:pic>
      <p:sp>
        <p:nvSpPr>
          <p:cNvPr id="7" name="AutoShape 7"/>
          <p:cNvSpPr/>
          <p:nvPr/>
        </p:nvSpPr>
        <p:spPr>
          <a:xfrm>
            <a:off x="1397000" y="26924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Hvad er det?</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En samling af `LayoutObject`-noder, hvor hver node repræsenterer et synligt DOM-element og dets beregnede stil (computed style).</a:t>
            </a:r>
          </a:p>
        </p:txBody>
      </p:sp>
      <p:sp>
        <p:nvSpPr>
          <p:cNvPr id="8" name="AutoShape 8"/>
          <p:cNvSpPr/>
          <p:nvPr/>
        </p:nvSpPr>
        <p:spPr>
          <a:xfrm>
            <a:off x="762000" y="3746500"/>
            <a:ext cx="5334000" cy="1079500"/>
          </a:xfrm>
          <a:prstGeom prst="roundRect">
            <a:avLst>
              <a:gd name="adj" fmla="val 0"/>
            </a:avLst>
          </a:prstGeom>
          <a:solidFill>
            <a:srgbClr val="F9FAFB">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937000"/>
            <a:ext cx="304800" cy="304800"/>
          </a:xfrm>
          <a:prstGeom prst="rect">
            <a:avLst/>
          </a:prstGeom>
        </p:spPr>
      </p:pic>
      <p:sp>
        <p:nvSpPr>
          <p:cNvPr id="10" name="AutoShape 10"/>
          <p:cNvSpPr/>
          <p:nvPr/>
        </p:nvSpPr>
        <p:spPr>
          <a:xfrm>
            <a:off x="1397000" y="38989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Vigtigt at notere</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Elementer med `display: none;` er</a:t>
            </a:r>
            <a:r>
              <a:rPr lang="en-US" sz="1300" b="1" i="0" u="none" strike="noStrike">
                <a:solidFill>
                  <a:srgbClr val="4B5563"/>
                </a:solidFill>
                <a:latin typeface="Noto Sans SC"/>
                <a:ea typeface="Noto Sans SC"/>
                <a:cs typeface="Noto Sans SC"/>
                <a:sym typeface="Noto Sans SC"/>
              </a:rPr>
              <a:t>ekskluderet</a:t>
            </a:r>
            <a:r>
              <a:rPr lang="en-US" sz="1300" b="0" i="0" u="none" strike="noStrike">
                <a:solidFill>
                  <a:srgbClr val="4B5563"/>
                </a:solidFill>
                <a:latin typeface="Noto Sans SC"/>
                <a:ea typeface="Noto Sans SC"/>
                <a:cs typeface="Noto Sans SC"/>
                <a:sym typeface="Noto Sans SC"/>
              </a:rPr>
              <a:t>, mens `visibility: hidden;` stadig er med i træet (men usynlige).</a:t>
            </a:r>
          </a:p>
        </p:txBody>
      </p:sp>
      <p:sp>
        <p:nvSpPr>
          <p:cNvPr id="11" name="AutoShape 11"/>
          <p:cNvSpPr/>
          <p:nvPr/>
        </p:nvSpPr>
        <p:spPr>
          <a:xfrm>
            <a:off x="762000" y="5080000"/>
            <a:ext cx="1206500" cy="1143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5207000"/>
            <a:ext cx="12065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4D399"/>
                </a:solidFill>
                <a:latin typeface="Poppins"/>
                <a:ea typeface="Poppins"/>
                <a:cs typeface="Poppins"/>
                <a:sym typeface="Poppins"/>
              </a:rPr>
              <a:t>01</a:t>
            </a:r>
            <a:endParaRPr lang="en-US" sz="1100"/>
          </a:p>
          <a:p>
            <a:pPr marL="0" indent="0" algn="ctr">
              <a:lnSpc>
                <a:spcPct val="100000"/>
              </a:lnSpc>
            </a:pPr>
            <a:r>
              <a:rPr lang="en-US" sz="1300" b="0" i="0" u="none" strike="noStrike">
                <a:solidFill>
                  <a:srgbClr val="374151"/>
                </a:solidFill>
                <a:latin typeface="Noto Sans SC"/>
                <a:ea typeface="Noto Sans SC"/>
                <a:cs typeface="Noto Sans SC"/>
                <a:sym typeface="Noto Sans SC"/>
              </a:rPr>
              <a:t>Rekursiv</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DOM-trave</a:t>
            </a:r>
          </a:p>
        </p:txBody>
      </p:sp>
      <p:sp>
        <p:nvSpPr>
          <p:cNvPr id="13" name="AutoShape 13"/>
          <p:cNvSpPr/>
          <p:nvPr/>
        </p:nvSpPr>
        <p:spPr>
          <a:xfrm>
            <a:off x="2133600" y="5080000"/>
            <a:ext cx="1206500" cy="1143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2133600" y="5207000"/>
            <a:ext cx="12065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4D399"/>
                </a:solidFill>
                <a:latin typeface="Poppins"/>
                <a:ea typeface="Poppins"/>
                <a:cs typeface="Poppins"/>
                <a:sym typeface="Poppins"/>
              </a:rPr>
              <a:t>02</a:t>
            </a:r>
            <a:endParaRPr lang="en-US" sz="1100"/>
          </a:p>
          <a:p>
            <a:pPr marL="0" indent="0" algn="ctr">
              <a:lnSpc>
                <a:spcPct val="100000"/>
              </a:lnSpc>
            </a:pPr>
            <a:r>
              <a:rPr lang="en-US" sz="1300" b="0" i="0" u="none" strike="noStrike">
                <a:solidFill>
                  <a:srgbClr val="374151"/>
                </a:solidFill>
                <a:latin typeface="Noto Sans SC"/>
                <a:ea typeface="Noto Sans SC"/>
                <a:cs typeface="Noto Sans SC"/>
                <a:sym typeface="Noto Sans SC"/>
              </a:rPr>
              <a:t>Match</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CSS-regler</a:t>
            </a:r>
          </a:p>
        </p:txBody>
      </p:sp>
      <p:sp>
        <p:nvSpPr>
          <p:cNvPr id="15" name="AutoShape 15"/>
          <p:cNvSpPr/>
          <p:nvPr/>
        </p:nvSpPr>
        <p:spPr>
          <a:xfrm>
            <a:off x="3505200" y="5080000"/>
            <a:ext cx="1206500" cy="1143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505200" y="5207000"/>
            <a:ext cx="12065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4D399"/>
                </a:solidFill>
                <a:latin typeface="Poppins"/>
                <a:ea typeface="Poppins"/>
                <a:cs typeface="Poppins"/>
                <a:sym typeface="Poppins"/>
              </a:rPr>
              <a:t>03</a:t>
            </a:r>
            <a:endParaRPr lang="en-US" sz="1100"/>
          </a:p>
          <a:p>
            <a:pPr marL="0" indent="0" algn="ctr">
              <a:lnSpc>
                <a:spcPct val="100000"/>
              </a:lnSpc>
            </a:pPr>
            <a:r>
              <a:rPr lang="en-US" sz="1300" b="0" i="0" u="none" strike="noStrike">
                <a:solidFill>
                  <a:srgbClr val="374151"/>
                </a:solidFill>
                <a:latin typeface="Noto Sans SC"/>
                <a:ea typeface="Noto Sans SC"/>
                <a:cs typeface="Noto Sans SC"/>
                <a:sym typeface="Noto Sans SC"/>
              </a:rPr>
              <a:t>Beregn</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endelig stil</a:t>
            </a:r>
          </a:p>
        </p:txBody>
      </p:sp>
      <p:sp>
        <p:nvSpPr>
          <p:cNvPr id="17" name="AutoShape 17"/>
          <p:cNvSpPr/>
          <p:nvPr/>
        </p:nvSpPr>
        <p:spPr>
          <a:xfrm>
            <a:off x="4889500" y="5080000"/>
            <a:ext cx="1206500" cy="1143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889500" y="5207000"/>
            <a:ext cx="12065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4D399"/>
                </a:solidFill>
                <a:latin typeface="Poppins"/>
                <a:ea typeface="Poppins"/>
                <a:cs typeface="Poppins"/>
                <a:sym typeface="Poppins"/>
              </a:rPr>
              <a:t>04</a:t>
            </a:r>
            <a:endParaRPr lang="en-US" sz="1100"/>
          </a:p>
          <a:p>
            <a:pPr marL="0" indent="0" algn="ctr">
              <a:lnSpc>
                <a:spcPct val="100000"/>
              </a:lnSpc>
            </a:pPr>
            <a:r>
              <a:rPr lang="en-US" sz="1300" b="0" i="0" u="none" strike="noStrike">
                <a:solidFill>
                  <a:srgbClr val="374151"/>
                </a:solidFill>
                <a:latin typeface="Noto Sans SC"/>
                <a:ea typeface="Noto Sans SC"/>
                <a:cs typeface="Noto Sans SC"/>
                <a:sym typeface="Noto Sans SC"/>
              </a:rPr>
              <a:t>Opret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Render-node</a:t>
            </a:r>
          </a:p>
        </p:txBody>
      </p:sp>
      <p:pic>
        <p:nvPicPr>
          <p:cNvPr id="19" name="Picture 19"/>
          <p:cNvPicPr>
            <a:picLocks noChangeAspect="1"/>
          </p:cNvPicPr>
          <p:nvPr/>
        </p:nvPicPr>
        <p:blipFill>
          <a:blip r:embed="rId6"/>
          <a:srcRect t="159" b="159"/>
          <a:stretch>
            <a:fillRect/>
          </a:stretch>
        </p:blipFill>
        <p:spPr>
          <a:xfrm>
            <a:off x="6477000" y="1905000"/>
            <a:ext cx="5080000" cy="3581400"/>
          </a:xfrm>
          <a:prstGeom prst="rect">
            <a:avLst/>
          </a:prstGeom>
          <a:noFill/>
          <a:ln w="25400" cap="flat" cmpd="sng">
            <a:solidFill>
              <a:srgbClr val="E5E7EB">
                <a:alpha val="100000"/>
              </a:srgbClr>
            </a:solidFill>
            <a:prstDash val="solid"/>
            <a:round/>
          </a:ln>
          <a:effectLst>
            <a:outerShdw blurRad="228600" dist="76200" dir="2700000" algn="tl" rotWithShape="0">
              <a:srgbClr val="000000">
                <a:alpha val="12000"/>
              </a:srgbClr>
            </a:outerShdw>
          </a:effectLst>
        </p:spPr>
      </p:pic>
      <p:sp>
        <p:nvSpPr>
          <p:cNvPr id="20" name="AutoShape 20"/>
          <p:cNvSpPr/>
          <p:nvPr/>
        </p:nvSpPr>
        <p:spPr>
          <a:xfrm>
            <a:off x="6477000" y="5524500"/>
            <a:ext cx="508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1" u="none" strike="noStrike">
                <a:solidFill>
                  <a:srgbClr val="6B7280"/>
                </a:solidFill>
                <a:latin typeface="Noto Sans SC"/>
                <a:ea typeface="Noto Sans SC"/>
                <a:cs typeface="Noto Sans SC"/>
                <a:sym typeface="Noto Sans SC"/>
              </a:rPr>
              <a:t>En visualisering af, hvordan DOM-noder (som &lt;body&gt;, &lt;div&gt;) kombineres med CSS-regler til at danne Render-træet.</a:t>
            </a:r>
            <a:endParaRPr lang="en-US" sz="1100"/>
          </a:p>
        </p:txBody>
      </p:sp>
      <p:sp>
        <p:nvSpPr>
          <p:cNvPr id="21" name="AutoShape 21"/>
          <p:cNvSpPr/>
          <p:nvPr/>
        </p:nvSpPr>
        <p:spPr>
          <a:xfrm>
            <a:off x="762000" y="6286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dirty="0">
                <a:solidFill>
                  <a:srgbClr val="9CA3AF"/>
                </a:solidFill>
                <a:latin typeface="Noto Sans SC"/>
                <a:ea typeface="Noto Sans SC"/>
                <a:cs typeface="Noto Sans SC"/>
                <a:sym typeface="Noto Sans SC"/>
              </a:rPr>
              <a:t>. Inside look at modern web browser (Part 1-4) - https://</a:t>
            </a:r>
            <a:r>
              <a:rPr lang="en-US" sz="1000" b="0" i="0" u="none" strike="noStrike" dirty="0" err="1">
                <a:solidFill>
                  <a:srgbClr val="9CA3AF"/>
                </a:solidFill>
                <a:latin typeface="Noto Sans SC"/>
                <a:ea typeface="Noto Sans SC"/>
                <a:cs typeface="Noto Sans SC"/>
                <a:sym typeface="Noto Sans SC"/>
              </a:rPr>
              <a:t>developer.chrome.com</a:t>
            </a:r>
            <a:r>
              <a:rPr lang="en-US" sz="1000" b="0" i="0" u="none" strike="noStrike" dirty="0">
                <a:solidFill>
                  <a:srgbClr val="9CA3AF"/>
                </a:solidFill>
                <a:latin typeface="Noto Sans SC"/>
                <a:ea typeface="Noto Sans SC"/>
                <a:cs typeface="Noto Sans SC"/>
                <a:sym typeface="Noto Sans SC"/>
              </a:rPr>
              <a:t>/blog/inside-browser-part1/ 2. Rendering Performance - https://</a:t>
            </a:r>
            <a:r>
              <a:rPr lang="en-US" sz="1000" b="0" i="0" u="none" strike="noStrike" dirty="0" err="1">
                <a:solidFill>
                  <a:srgbClr val="9CA3AF"/>
                </a:solidFill>
                <a:latin typeface="Noto Sans SC"/>
                <a:ea typeface="Noto Sans SC"/>
                <a:cs typeface="Noto Sans SC"/>
                <a:sym typeface="Noto Sans SC"/>
              </a:rPr>
              <a:t>web.dev</a:t>
            </a:r>
            <a:r>
              <a:rPr lang="en-US" sz="1000" b="0" i="0" u="none" strike="noStrike" dirty="0">
                <a:solidFill>
                  <a:srgbClr val="9CA3AF"/>
                </a:solidFill>
                <a:latin typeface="Noto Sans SC"/>
                <a:ea typeface="Noto Sans SC"/>
                <a:cs typeface="Noto Sans SC"/>
                <a:sym typeface="Noto Sans SC"/>
              </a:rPr>
              <a:t>/rendering-performance/ 3. CSS Triggers - https://</a:t>
            </a:r>
            <a:r>
              <a:rPr lang="en-US" sz="1000" b="0" i="0" u="none" strike="noStrike" dirty="0" err="1">
                <a:solidFill>
                  <a:srgbClr val="9CA3AF"/>
                </a:solidFill>
                <a:latin typeface="Noto Sans SC"/>
                <a:ea typeface="Noto Sans SC"/>
                <a:cs typeface="Noto Sans SC"/>
                <a:sym typeface="Noto Sans SC"/>
              </a:rPr>
              <a:t>csstriggers.com</a:t>
            </a:r>
            <a:r>
              <a:rPr lang="en-US" sz="1000" b="0" i="0" u="none" strike="noStrike" dirty="0">
                <a:solidFill>
                  <a:srgbClr val="9CA3AF"/>
                </a:solidFill>
                <a:latin typeface="Noto Sans SC"/>
                <a:ea typeface="Noto Sans SC"/>
                <a:cs typeface="Noto Sans SC"/>
                <a:sym typeface="Noto Sans SC"/>
              </a:rPr>
              <a: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Trin 5: Layout (Reflow)</a:t>
            </a:r>
            <a:endParaRPr lang="en-US" sz="1100"/>
          </a:p>
        </p:txBody>
      </p:sp>
      <p:sp>
        <p:nvSpPr>
          <p:cNvPr id="4" name="AutoShape 4"/>
          <p:cNvSpPr/>
          <p:nvPr/>
        </p:nvSpPr>
        <p:spPr>
          <a:xfrm>
            <a:off x="762000" y="1460500"/>
            <a:ext cx="10668000" cy="952500"/>
          </a:xfrm>
          <a:prstGeom prst="roundRect">
            <a:avLst>
              <a:gd name="adj" fmla="val 0"/>
            </a:avLst>
          </a:prstGeom>
          <a:solidFill>
            <a:srgbClr val="FFFFFF">
              <a:alpha val="65000"/>
            </a:srgbClr>
          </a:solidFill>
          <a:ln cap="flat" cmpd="sng">
            <a:solidFill>
              <a:srgbClr val="E6CFCF">
                <a:alpha val="6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Poppins"/>
                <a:ea typeface="Poppins"/>
                <a:cs typeface="Poppins"/>
                <a:sym typeface="Poppins"/>
              </a:rPr>
              <a:t>Når Render-træet er bygget, beregner browseren geometrien for hvert element. Dette kaldes</a:t>
            </a:r>
            <a:r>
              <a:rPr lang="en-US" sz="1500" b="1" i="0" u="none" strike="noStrike">
                <a:solidFill>
                  <a:srgbClr val="374151"/>
                </a:solidFill>
                <a:latin typeface="Poppins"/>
                <a:ea typeface="Poppins"/>
                <a:cs typeface="Poppins"/>
                <a:sym typeface="Poppins"/>
              </a:rPr>
              <a:t>Layout</a:t>
            </a:r>
            <a:r>
              <a:rPr lang="en-US" sz="1500" b="0" i="0" u="none" strike="noStrike">
                <a:solidFill>
                  <a:srgbClr val="374151"/>
                </a:solidFill>
                <a:latin typeface="Poppins"/>
                <a:ea typeface="Poppins"/>
                <a:cs typeface="Poppins"/>
                <a:sym typeface="Poppins"/>
              </a:rPr>
              <a:t>eller</a:t>
            </a:r>
            <a:r>
              <a:rPr lang="en-US" sz="1500" b="1" i="0" u="none" strike="noStrike">
                <a:solidFill>
                  <a:srgbClr val="374151"/>
                </a:solidFill>
                <a:latin typeface="Poppins"/>
                <a:ea typeface="Poppins"/>
                <a:cs typeface="Poppins"/>
                <a:sym typeface="Poppins"/>
              </a:rPr>
              <a:t>Reflow</a:t>
            </a:r>
            <a:r>
              <a:rPr lang="en-US" sz="1500" b="0" i="0" u="none" strike="noStrike">
                <a:solidFill>
                  <a:srgbClr val="374151"/>
                </a:solidFill>
                <a:latin typeface="Poppins"/>
                <a:ea typeface="Poppins"/>
                <a:cs typeface="Poppins"/>
                <a:sym typeface="Poppins"/>
              </a:rPr>
              <a:t>– en kritisk fase, der definerer position, størrelse og placering af alle synlige elementer på skærmen.</a:t>
            </a:r>
            <a:endParaRPr lang="en-US" sz="1100"/>
          </a:p>
        </p:txBody>
      </p:sp>
      <p:sp>
        <p:nvSpPr>
          <p:cNvPr id="6" name="AutoShape 6"/>
          <p:cNvSpPr/>
          <p:nvPr/>
        </p:nvSpPr>
        <p:spPr>
          <a:xfrm>
            <a:off x="762000" y="2667000"/>
            <a:ext cx="3429000" cy="1460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57500"/>
            <a:ext cx="304800" cy="304800"/>
          </a:xfrm>
          <a:prstGeom prst="rect">
            <a:avLst/>
          </a:prstGeom>
        </p:spPr>
      </p:pic>
      <p:sp>
        <p:nvSpPr>
          <p:cNvPr id="8" name="AutoShape 8"/>
          <p:cNvSpPr/>
          <p:nvPr/>
        </p:nvSpPr>
        <p:spPr>
          <a:xfrm>
            <a:off x="1333500" y="28575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Rekursiv Gennemgang</a:t>
            </a:r>
            <a:endParaRPr lang="en-US" sz="1100"/>
          </a:p>
        </p:txBody>
      </p:sp>
      <p:sp>
        <p:nvSpPr>
          <p:cNvPr id="9" name="AutoShape 9"/>
          <p:cNvSpPr/>
          <p:nvPr/>
        </p:nvSpPr>
        <p:spPr>
          <a:xfrm>
            <a:off x="952500" y="3276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Browseren går Render-træet igennem fra roden og ud til bladene, og beregner geometrien for hver node baseret på dens børn og CSS-regler.</a:t>
            </a:r>
            <a:endParaRPr lang="en-US" sz="1100"/>
          </a:p>
        </p:txBody>
      </p:sp>
      <p:sp>
        <p:nvSpPr>
          <p:cNvPr id="10" name="AutoShape 10"/>
          <p:cNvSpPr/>
          <p:nvPr/>
        </p:nvSpPr>
        <p:spPr>
          <a:xfrm>
            <a:off x="4381500" y="2667000"/>
            <a:ext cx="3429000" cy="1460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857500"/>
            <a:ext cx="304800" cy="304800"/>
          </a:xfrm>
          <a:prstGeom prst="rect">
            <a:avLst/>
          </a:prstGeom>
        </p:spPr>
      </p:pic>
      <p:sp>
        <p:nvSpPr>
          <p:cNvPr id="12" name="AutoShape 12"/>
          <p:cNvSpPr/>
          <p:nvPr/>
        </p:nvSpPr>
        <p:spPr>
          <a:xfrm>
            <a:off x="4953000" y="28575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CSS Box Model</a:t>
            </a:r>
            <a:endParaRPr lang="en-US" sz="1100"/>
          </a:p>
        </p:txBody>
      </p:sp>
      <p:sp>
        <p:nvSpPr>
          <p:cNvPr id="13" name="AutoShape 13"/>
          <p:cNvSpPr/>
          <p:nvPr/>
        </p:nvSpPr>
        <p:spPr>
          <a:xfrm>
            <a:off x="4572000" y="3276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Beregner det endelige "boks" for hvert element: bredde, højde, padding, border og margin. Dette danner fundamentet for elementets størrelse.</a:t>
            </a:r>
            <a:endParaRPr lang="en-US" sz="1100"/>
          </a:p>
        </p:txBody>
      </p:sp>
      <p:sp>
        <p:nvSpPr>
          <p:cNvPr id="14" name="AutoShape 14"/>
          <p:cNvSpPr/>
          <p:nvPr/>
        </p:nvSpPr>
        <p:spPr>
          <a:xfrm>
            <a:off x="8001000" y="2667000"/>
            <a:ext cx="3429000" cy="1460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2857500"/>
            <a:ext cx="304800" cy="304800"/>
          </a:xfrm>
          <a:prstGeom prst="rect">
            <a:avLst/>
          </a:prstGeom>
        </p:spPr>
      </p:pic>
      <p:sp>
        <p:nvSpPr>
          <p:cNvPr id="16" name="AutoShape 16"/>
          <p:cNvSpPr/>
          <p:nvPr/>
        </p:nvSpPr>
        <p:spPr>
          <a:xfrm>
            <a:off x="8572500" y="28575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Avancerede Systemer</a:t>
            </a:r>
            <a:endParaRPr lang="en-US" sz="1100"/>
          </a:p>
        </p:txBody>
      </p:sp>
      <p:sp>
        <p:nvSpPr>
          <p:cNvPr id="17" name="AutoShape 17"/>
          <p:cNvSpPr/>
          <p:nvPr/>
        </p:nvSpPr>
        <p:spPr>
          <a:xfrm>
            <a:off x="8191500" y="32766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Implementerer moderne layout-modeller som Flexbox og Grid, samt positionering (static, relative, absolute) og float for kompleks placering.</a:t>
            </a:r>
            <a:endParaRPr lang="en-US" sz="1100"/>
          </a:p>
        </p:txBody>
      </p:sp>
      <p:sp>
        <p:nvSpPr>
          <p:cNvPr id="18" name="AutoShape 18"/>
          <p:cNvSpPr/>
          <p:nvPr/>
        </p:nvSpPr>
        <p:spPr>
          <a:xfrm>
            <a:off x="762000" y="4318000"/>
            <a:ext cx="10668000" cy="762000"/>
          </a:xfrm>
          <a:prstGeom prst="roundRect">
            <a:avLst>
              <a:gd name="adj" fmla="val 0"/>
            </a:avLst>
          </a:prstGeom>
          <a:solidFill>
            <a:srgbClr val="1F2937">
              <a:alpha val="85000"/>
            </a:srgbClr>
          </a:solidFill>
          <a:ln cap="flat" cmpd="sng">
            <a:solidFill>
              <a:srgbClr val="0E141E">
                <a:alpha val="85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46600"/>
            <a:ext cx="304800" cy="304800"/>
          </a:xfrm>
          <a:prstGeom prst="rect">
            <a:avLst/>
          </a:prstGeom>
        </p:spPr>
      </p:pic>
      <p:sp>
        <p:nvSpPr>
          <p:cNvPr id="20" name="AutoShape 20"/>
          <p:cNvSpPr/>
          <p:nvPr/>
        </p:nvSpPr>
        <p:spPr>
          <a:xfrm>
            <a:off x="1460500" y="4445000"/>
            <a:ext cx="965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E5E7EB"/>
                </a:solidFill>
                <a:latin typeface="Poppins"/>
                <a:ea typeface="Poppins"/>
                <a:cs typeface="Poppins"/>
                <a:sym typeface="Poppins"/>
              </a:rPr>
              <a:t>Ydeevne Tip:</a:t>
            </a:r>
            <a:r>
              <a:rPr lang="en-US" sz="1400" b="0" i="0" u="none" strike="noStrike">
                <a:solidFill>
                  <a:srgbClr val="E5E7EB"/>
                </a:solidFill>
                <a:latin typeface="Poppins"/>
                <a:ea typeface="Poppins"/>
                <a:cs typeface="Poppins"/>
                <a:sym typeface="Poppins"/>
              </a:rPr>
              <a:t>Reflow er en beregningstung operation. Ændringer i vinduesstørrelse, skrifttype eller DOM-træet trigger en ny layout-pass, som kan påvirke renderingstiden.</a:t>
            </a:r>
            <a:endParaRPr lang="en-US" sz="1100"/>
          </a:p>
        </p:txBody>
      </p:sp>
      <p:pic>
        <p:nvPicPr>
          <p:cNvPr id="21" name="Picture 21"/>
          <p:cNvPicPr>
            <a:picLocks noChangeAspect="1"/>
          </p:cNvPicPr>
          <p:nvPr/>
        </p:nvPicPr>
        <p:blipFill>
          <a:blip r:embed="rId8"/>
          <a:srcRect l="1047" r="1047"/>
          <a:stretch>
            <a:fillRect/>
          </a:stretch>
        </p:blipFill>
        <p:spPr>
          <a:xfrm>
            <a:off x="762000" y="5143500"/>
            <a:ext cx="2540000" cy="1016000"/>
          </a:xfrm>
          <a:prstGeom prst="rect">
            <a:avLst/>
          </a:prstGeom>
          <a:noFill/>
          <a:ln w="25400" cap="flat" cmpd="sng">
            <a:noFill/>
            <a:prstDash val="solid"/>
            <a:round/>
          </a:ln>
        </p:spPr>
      </p:pic>
      <p:sp>
        <p:nvSpPr>
          <p:cNvPr id="22" name="AutoShape 22"/>
          <p:cNvSpPr/>
          <p:nvPr/>
        </p:nvSpPr>
        <p:spPr>
          <a:xfrm>
            <a:off x="3556000" y="5143500"/>
            <a:ext cx="7874000" cy="10160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0" tIns="0" rIns="0" bIns="0" rtlCol="0" anchor="ctr" anchorCtr="0"/>
          <a:lstStyle/>
          <a:p>
            <a:pPr algn="ctr">
              <a:defRPr/>
            </a:pPr>
            <a:endParaRPr/>
          </a:p>
        </p:txBody>
      </p:sp>
      <p:sp>
        <p:nvSpPr>
          <p:cNvPr id="23" name="AutoShape 23"/>
          <p:cNvSpPr/>
          <p:nvPr/>
        </p:nvSpPr>
        <p:spPr>
          <a:xfrm>
            <a:off x="3683000" y="5207000"/>
            <a:ext cx="762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F2937"/>
                </a:solidFill>
                <a:latin typeface="Poppins"/>
                <a:ea typeface="Poppins"/>
                <a:cs typeface="Poppins"/>
                <a:sym typeface="Poppins"/>
              </a:rPr>
              <a:t>Resultatet: Layout-træet</a:t>
            </a:r>
            <a:br>
              <a:rPr lang="en-US" sz="1200" b="0" i="0" u="none" strike="noStrike">
                <a:solidFill>
                  <a:srgbClr val="1F2937"/>
                </a:solidFill>
                <a:latin typeface="Poppins"/>
                <a:ea typeface="Poppins"/>
                <a:cs typeface="Poppins"/>
                <a:sym typeface="Poppins"/>
              </a:rPr>
            </a:br>
            <a:r>
              <a:rPr lang="en-US" sz="1100" b="0" i="0" u="none" strike="noStrike">
                <a:solidFill>
                  <a:srgbClr val="1F2937"/>
                </a:solidFill>
                <a:latin typeface="Poppins"/>
                <a:ea typeface="Poppins"/>
                <a:cs typeface="Poppins"/>
                <a:sym typeface="Poppins"/>
              </a:rPr>
              <a:t>Efter layout-trinnet har browseren et nyt træ – Layout-træet – hvor hvert synligt element har en defineret geometri. Elementer med</a:t>
            </a:r>
            <a:r>
              <a:rPr lang="en-US" sz="1100" b="0" i="1" u="none" strike="noStrike">
                <a:solidFill>
                  <a:srgbClr val="1F2937"/>
                </a:solidFill>
                <a:latin typeface="Poppins"/>
                <a:ea typeface="Poppins"/>
                <a:cs typeface="Poppins"/>
                <a:sym typeface="Poppins"/>
              </a:rPr>
              <a:t>display: none</a:t>
            </a:r>
            <a:r>
              <a:rPr lang="en-US" sz="1100" b="0" i="0" u="none" strike="noStrike">
                <a:solidFill>
                  <a:srgbClr val="1F2937"/>
                </a:solidFill>
                <a:latin typeface="Poppins"/>
                <a:ea typeface="Poppins"/>
                <a:cs typeface="Poppins"/>
                <a:sym typeface="Poppins"/>
              </a:rPr>
              <a:t>eller head-elementer er ikke med, da de ikke påvirker visningen.</a:t>
            </a:r>
            <a:endParaRPr lang="en-US" sz="1100"/>
          </a:p>
        </p:txBody>
      </p:sp>
      <p:sp>
        <p:nvSpPr>
          <p:cNvPr id="24" name="AutoShape 24"/>
          <p:cNvSpPr/>
          <p:nvPr/>
        </p:nvSpPr>
        <p:spPr>
          <a:xfrm>
            <a:off x="762000" y="62484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dirty="0">
                <a:solidFill>
                  <a:srgbClr val="6B7280"/>
                </a:solidFill>
                <a:latin typeface="Noto Sans SC"/>
                <a:ea typeface="Noto Sans SC"/>
                <a:cs typeface="Noto Sans SC"/>
                <a:sym typeface="Noto Sans SC"/>
              </a:rPr>
              <a:t>Inside look at modern web browser (Part 1-4) - https://</a:t>
            </a:r>
            <a:r>
              <a:rPr lang="en-US" sz="1000" b="0" i="0" u="none" strike="noStrike" dirty="0" err="1">
                <a:solidFill>
                  <a:srgbClr val="6B7280"/>
                </a:solidFill>
                <a:latin typeface="Noto Sans SC"/>
                <a:ea typeface="Noto Sans SC"/>
                <a:cs typeface="Noto Sans SC"/>
                <a:sym typeface="Noto Sans SC"/>
              </a:rPr>
              <a:t>developer.chrome.com</a:t>
            </a:r>
            <a:r>
              <a:rPr lang="en-US" sz="1000" b="0" i="0" u="none" strike="noStrike" dirty="0">
                <a:solidFill>
                  <a:srgbClr val="6B7280"/>
                </a:solidFill>
                <a:latin typeface="Noto Sans SC"/>
                <a:ea typeface="Noto Sans SC"/>
                <a:cs typeface="Noto Sans SC"/>
                <a:sym typeface="Noto Sans SC"/>
              </a:rPr>
              <a:t>/blog/inside-browser-part1/ 2. Rendering Performance - https://</a:t>
            </a:r>
            <a:r>
              <a:rPr lang="en-US" sz="1000" b="0" i="0" u="none" strike="noStrike" dirty="0" err="1">
                <a:solidFill>
                  <a:srgbClr val="6B7280"/>
                </a:solidFill>
                <a:latin typeface="Noto Sans SC"/>
                <a:ea typeface="Noto Sans SC"/>
                <a:cs typeface="Noto Sans SC"/>
                <a:sym typeface="Noto Sans SC"/>
              </a:rPr>
              <a:t>web.dev</a:t>
            </a:r>
            <a:r>
              <a:rPr lang="en-US" sz="1000" b="0" i="0" u="none" strike="noStrike" dirty="0">
                <a:solidFill>
                  <a:srgbClr val="6B7280"/>
                </a:solidFill>
                <a:latin typeface="Noto Sans SC"/>
                <a:ea typeface="Noto Sans SC"/>
                <a:cs typeface="Noto Sans SC"/>
                <a:sym typeface="Noto Sans SC"/>
              </a:rPr>
              <a:t>/rendering-performance/ 3. CSS Triggers - https://</a:t>
            </a:r>
            <a:r>
              <a:rPr lang="en-US" sz="1000" b="0" i="0" u="none" strike="noStrike" dirty="0" err="1">
                <a:solidFill>
                  <a:srgbClr val="6B7280"/>
                </a:solidFill>
                <a:latin typeface="Noto Sans SC"/>
                <a:ea typeface="Noto Sans SC"/>
                <a:cs typeface="Noto Sans SC"/>
                <a:sym typeface="Noto Sans SC"/>
              </a:rPr>
              <a:t>csstriggers.com</a:t>
            </a:r>
            <a:r>
              <a:rPr lang="en-US" sz="1000" b="0" i="0" u="none" strike="noStrike" dirty="0">
                <a:solidFill>
                  <a:srgbClr val="6B7280"/>
                </a:solidFill>
                <a:latin typeface="Noto Sans SC"/>
                <a:ea typeface="Noto Sans SC"/>
                <a:cs typeface="Noto Sans SC"/>
                <a:sym typeface="Noto Sans SC"/>
              </a:rPr>
              <a: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Trin 6: Maling (Repaint)</a:t>
            </a:r>
            <a:endParaRPr lang="en-US" sz="1100"/>
          </a:p>
        </p:txBody>
      </p:sp>
      <p:sp>
        <p:nvSpPr>
          <p:cNvPr id="4" name="AutoShape 4"/>
          <p:cNvSpPr/>
          <p:nvPr/>
        </p:nvSpPr>
        <p:spPr>
          <a:xfrm>
            <a:off x="762000" y="1397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Poppins"/>
                <a:ea typeface="Poppins"/>
                <a:cs typeface="Poppins"/>
                <a:sym typeface="Poppins"/>
              </a:rPr>
              <a:t>Nu ved browseren, hvad der skal tegnes (fra Render-træet) og hvor (fra Layout-træet). Næste trin er at bestemme,</a:t>
            </a:r>
            <a:r>
              <a:rPr lang="en-US" sz="1500" b="1" i="0" u="none" strike="noStrike">
                <a:solidFill>
                  <a:srgbClr val="374151"/>
                </a:solidFill>
                <a:latin typeface="Poppins"/>
                <a:ea typeface="Poppins"/>
                <a:cs typeface="Poppins"/>
                <a:sym typeface="Poppins"/>
              </a:rPr>
              <a:t>hvordan</a:t>
            </a:r>
            <a:r>
              <a:rPr lang="en-US" sz="1500" b="0" i="0" u="none" strike="noStrike">
                <a:solidFill>
                  <a:srgbClr val="374151"/>
                </a:solidFill>
                <a:latin typeface="Poppins"/>
                <a:ea typeface="Poppins"/>
                <a:cs typeface="Poppins"/>
                <a:sym typeface="Poppins"/>
              </a:rPr>
              <a:t>det skal tegnes – en proces kaldet</a:t>
            </a:r>
            <a:r>
              <a:rPr lang="en-US" sz="1500" b="1" i="0" u="none" strike="noStrike">
                <a:solidFill>
                  <a:srgbClr val="374151"/>
                </a:solidFill>
                <a:latin typeface="Poppins"/>
                <a:ea typeface="Poppins"/>
                <a:cs typeface="Poppins"/>
                <a:sym typeface="Poppins"/>
              </a:rPr>
              <a:t>Paint (eller Repaint)</a:t>
            </a:r>
            <a:r>
              <a:rPr lang="en-US" sz="1500" b="0" i="0" u="none" strike="noStrike">
                <a:solidFill>
                  <a:srgbClr val="374151"/>
                </a:solidFill>
                <a:latin typeface="Poppins"/>
                <a:ea typeface="Poppins"/>
                <a:cs typeface="Poppins"/>
                <a:sym typeface="Poppins"/>
              </a:rPr>
              <a:t>, hvor visuelle egenskaber som farver, skrifttyper og skygger defineres.</a:t>
            </a:r>
            <a:endParaRPr lang="en-US" sz="1100"/>
          </a:p>
        </p:txBody>
      </p:sp>
      <p:sp>
        <p:nvSpPr>
          <p:cNvPr id="5" name="AutoShape 5"/>
          <p:cNvSpPr/>
          <p:nvPr/>
        </p:nvSpPr>
        <p:spPr>
          <a:xfrm>
            <a:off x="762000" y="2667000"/>
            <a:ext cx="3429000" cy="2032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57500"/>
            <a:ext cx="304800" cy="304800"/>
          </a:xfrm>
          <a:prstGeom prst="rect">
            <a:avLst/>
          </a:prstGeom>
        </p:spPr>
      </p:pic>
      <p:sp>
        <p:nvSpPr>
          <p:cNvPr id="7" name="AutoShape 7"/>
          <p:cNvSpPr/>
          <p:nvPr/>
        </p:nvSpPr>
        <p:spPr>
          <a:xfrm>
            <a:off x="1333500" y="28321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1. Analyser Render-træet</a:t>
            </a:r>
            <a:endParaRPr lang="en-US" sz="1100"/>
          </a:p>
        </p:txBody>
      </p:sp>
      <p:sp>
        <p:nvSpPr>
          <p:cNvPr id="8" name="AutoShape 8"/>
          <p:cNvSpPr/>
          <p:nvPr/>
        </p:nvSpPr>
        <p:spPr>
          <a:xfrm>
            <a:off x="952500" y="3302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Browseren går igennem hvert element for at identificere visuelle attributter: baggrundsfarver, tekststiler, grænser og skygger. Disse definerer, hvordan elementet skal fremstå.</a:t>
            </a:r>
            <a:endParaRPr lang="en-US" sz="1100"/>
          </a:p>
        </p:txBody>
      </p:sp>
      <p:sp>
        <p:nvSpPr>
          <p:cNvPr id="9" name="AutoShape 9"/>
          <p:cNvSpPr/>
          <p:nvPr/>
        </p:nvSpPr>
        <p:spPr>
          <a:xfrm>
            <a:off x="4381500" y="2667000"/>
            <a:ext cx="3429000" cy="2032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857500"/>
            <a:ext cx="304800" cy="304800"/>
          </a:xfrm>
          <a:prstGeom prst="rect">
            <a:avLst/>
          </a:prstGeom>
        </p:spPr>
      </p:pic>
      <p:sp>
        <p:nvSpPr>
          <p:cNvPr id="11" name="AutoShape 11"/>
          <p:cNvSpPr/>
          <p:nvPr/>
        </p:nvSpPr>
        <p:spPr>
          <a:xfrm>
            <a:off x="4953000" y="28321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2. Registrer via PaintRecorder</a:t>
            </a:r>
            <a:endParaRPr lang="en-US" sz="1100"/>
          </a:p>
        </p:txBody>
      </p:sp>
      <p:sp>
        <p:nvSpPr>
          <p:cNvPr id="12" name="AutoShape 12"/>
          <p:cNvSpPr/>
          <p:nvPr/>
        </p:nvSpPr>
        <p:spPr>
          <a:xfrm>
            <a:off x="4572000" y="3302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I stedet for at tegne direkte på skærmen, indsamles alle malingsinstruktioner i en liste. Chrome bruger denne "optager" til at sikre præcise og organiserede kommandoer.</a:t>
            </a:r>
            <a:endParaRPr lang="en-US" sz="1100"/>
          </a:p>
        </p:txBody>
      </p:sp>
      <p:sp>
        <p:nvSpPr>
          <p:cNvPr id="13" name="AutoShape 13"/>
          <p:cNvSpPr/>
          <p:nvPr/>
        </p:nvSpPr>
        <p:spPr>
          <a:xfrm>
            <a:off x="8001000" y="2667000"/>
            <a:ext cx="3429000" cy="2032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2857500"/>
            <a:ext cx="304800" cy="304800"/>
          </a:xfrm>
          <a:prstGeom prst="rect">
            <a:avLst/>
          </a:prstGeom>
        </p:spPr>
      </p:pic>
      <p:sp>
        <p:nvSpPr>
          <p:cNvPr id="15" name="AutoShape 15"/>
          <p:cNvSpPr/>
          <p:nvPr/>
        </p:nvSpPr>
        <p:spPr>
          <a:xfrm>
            <a:off x="8572500" y="28321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3. Opdel i PaintChunks</a:t>
            </a:r>
            <a:endParaRPr lang="en-US" sz="1100"/>
          </a:p>
        </p:txBody>
      </p:sp>
      <p:sp>
        <p:nvSpPr>
          <p:cNvPr id="16" name="AutoShape 16"/>
          <p:cNvSpPr/>
          <p:nvPr/>
        </p:nvSpPr>
        <p:spPr>
          <a:xfrm>
            <a:off x="8191500" y="3302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Poppins"/>
                <a:ea typeface="Poppins"/>
                <a:cs typeface="Poppins"/>
                <a:sym typeface="Poppins"/>
              </a:rPr>
              <a:t>Instruktionerne opdeles i uafhængige "malingslag". Dette gør det muligt at genmale specifikke dele af skærmen uden at genstarte hele processen, hvilket optimerer ydeevnen.</a:t>
            </a:r>
            <a:endParaRPr lang="en-US" sz="1100"/>
          </a:p>
        </p:txBody>
      </p:sp>
      <p:sp>
        <p:nvSpPr>
          <p:cNvPr id="17" name="AutoShape 17"/>
          <p:cNvSpPr/>
          <p:nvPr/>
        </p:nvSpPr>
        <p:spPr>
          <a:xfrm>
            <a:off x="762000" y="5016500"/>
            <a:ext cx="10668000" cy="1333500"/>
          </a:xfrm>
          <a:prstGeom prst="roundRect">
            <a:avLst>
              <a:gd name="adj" fmla="val 0"/>
            </a:avLst>
          </a:prstGeom>
          <a:solidFill>
            <a:srgbClr val="34D399">
              <a:alpha val="10000"/>
            </a:srgbClr>
          </a:solidFill>
          <a:ln cap="flat" cmpd="sng">
            <a:solidFill>
              <a:srgbClr val="1BB980">
                <a:alpha val="1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016500"/>
            <a:ext cx="76200" cy="1333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1079500" y="51816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Repaint: En effektiv genmalning</a:t>
            </a:r>
            <a:endParaRPr lang="en-US" sz="1100"/>
          </a:p>
        </p:txBody>
      </p:sp>
      <p:sp>
        <p:nvSpPr>
          <p:cNvPr id="20" name="AutoShape 20"/>
          <p:cNvSpPr/>
          <p:nvPr/>
        </p:nvSpPr>
        <p:spPr>
          <a:xfrm>
            <a:off x="1079500" y="56134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Poppins"/>
                <a:ea typeface="Poppins"/>
                <a:cs typeface="Poppins"/>
                <a:sym typeface="Poppins"/>
              </a:rPr>
              <a:t>Når kun visuelle egenskaber ændres (f.eks. baggrundsfarve eller tekstfarve), undgår browseren en dyr Reflow (genberegning af layout). En ren</a:t>
            </a:r>
            <a:r>
              <a:rPr lang="en-US" sz="1400" b="1" i="0" u="none" strike="noStrike">
                <a:solidFill>
                  <a:srgbClr val="4B5563"/>
                </a:solidFill>
                <a:latin typeface="Poppins"/>
                <a:ea typeface="Poppins"/>
                <a:cs typeface="Poppins"/>
                <a:sym typeface="Poppins"/>
              </a:rPr>
              <a:t>Repaint</a:t>
            </a:r>
            <a:r>
              <a:rPr lang="en-US" sz="1400" b="0" i="0" u="none" strike="noStrike">
                <a:solidFill>
                  <a:srgbClr val="4B5563"/>
                </a:solidFill>
                <a:latin typeface="Poppins"/>
                <a:ea typeface="Poppins"/>
                <a:cs typeface="Poppins"/>
                <a:sym typeface="Poppins"/>
              </a:rPr>
              <a:t>er dermed en meget mere effektiv operation, da den kun påvirker det visuelle lag uden geometriske ændringer.</a:t>
            </a:r>
            <a:endParaRPr lang="en-US" sz="1100"/>
          </a:p>
        </p:txBody>
      </p:sp>
      <p:sp>
        <p:nvSpPr>
          <p:cNvPr id="21" name="AutoShape 21"/>
          <p:cNvSpPr/>
          <p:nvPr/>
        </p:nvSpPr>
        <p:spPr>
          <a:xfrm>
            <a:off x="762000" y="6350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dirty="0">
                <a:solidFill>
                  <a:srgbClr val="9CA3AF"/>
                </a:solidFill>
                <a:latin typeface="Poppins"/>
                <a:ea typeface="Poppins"/>
                <a:cs typeface="Poppins"/>
                <a:sym typeface="Poppins"/>
              </a:rPr>
              <a:t>Inside look at modern web browser (Part 1-4) - https://</a:t>
            </a:r>
            <a:r>
              <a:rPr lang="en-US" sz="1000" b="0" i="0" u="none" strike="noStrike" dirty="0" err="1">
                <a:solidFill>
                  <a:srgbClr val="9CA3AF"/>
                </a:solidFill>
                <a:latin typeface="Poppins"/>
                <a:ea typeface="Poppins"/>
                <a:cs typeface="Poppins"/>
                <a:sym typeface="Poppins"/>
              </a:rPr>
              <a:t>developer.chrome.com</a:t>
            </a:r>
            <a:r>
              <a:rPr lang="en-US" sz="1000" b="0" i="0" u="none" strike="noStrike" dirty="0">
                <a:solidFill>
                  <a:srgbClr val="9CA3AF"/>
                </a:solidFill>
                <a:latin typeface="Poppins"/>
                <a:ea typeface="Poppins"/>
                <a:cs typeface="Poppins"/>
                <a:sym typeface="Poppins"/>
              </a:rPr>
              <a:t>/blog/inside-browser-part1/ 2. Rendering Performance - https://</a:t>
            </a:r>
            <a:r>
              <a:rPr lang="en-US" sz="1000" b="0" i="0" u="none" strike="noStrike" dirty="0" err="1">
                <a:solidFill>
                  <a:srgbClr val="9CA3AF"/>
                </a:solidFill>
                <a:latin typeface="Poppins"/>
                <a:ea typeface="Poppins"/>
                <a:cs typeface="Poppins"/>
                <a:sym typeface="Poppins"/>
              </a:rPr>
              <a:t>web.dev</a:t>
            </a:r>
            <a:r>
              <a:rPr lang="en-US" sz="1000" b="0" i="0" u="none" strike="noStrike" dirty="0">
                <a:solidFill>
                  <a:srgbClr val="9CA3AF"/>
                </a:solidFill>
                <a:latin typeface="Poppins"/>
                <a:ea typeface="Poppins"/>
                <a:cs typeface="Poppins"/>
                <a:sym typeface="Poppins"/>
              </a:rPr>
              <a:t>/rendering-performance/ 3. CSS Triggers - https://</a:t>
            </a:r>
            <a:r>
              <a:rPr lang="en-US" sz="1000" b="0" i="0" u="none" strike="noStrike" dirty="0" err="1">
                <a:solidFill>
                  <a:srgbClr val="9CA3AF"/>
                </a:solidFill>
                <a:latin typeface="Poppins"/>
                <a:ea typeface="Poppins"/>
                <a:cs typeface="Poppins"/>
                <a:sym typeface="Poppins"/>
              </a:rPr>
              <a:t>csstriggers.com</a:t>
            </a:r>
            <a:r>
              <a:rPr lang="en-US" sz="1000" b="0" i="0" u="none" strike="noStrike" dirty="0">
                <a:solidFill>
                  <a:srgbClr val="9CA3AF"/>
                </a:solidFill>
                <a:latin typeface="Poppins"/>
                <a:ea typeface="Poppins"/>
                <a:cs typeface="Poppins"/>
                <a:sym typeface="Poppins"/>
              </a:rPr>
              <a: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Trin 7: Sammensætning (Composite) og GPU</a:t>
            </a:r>
            <a:endParaRPr lang="en-US" sz="1100"/>
          </a:p>
        </p:txBody>
      </p:sp>
      <p:sp>
        <p:nvSpPr>
          <p:cNvPr id="4" name="AutoShape 4"/>
          <p:cNvSpPr/>
          <p:nvPr/>
        </p:nvSpPr>
        <p:spPr>
          <a:xfrm>
            <a:off x="762000" y="15240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Sidste trin i renderingspipeline'en kombinerer de individuelle lag til det endelige billede. Dette sker primært på GPU'en for at sikre maksimal ydeevne og glatte animationer.</a:t>
            </a:r>
            <a:endParaRPr lang="en-US" sz="1100"/>
          </a:p>
        </p:txBody>
      </p:sp>
      <p:sp>
        <p:nvSpPr>
          <p:cNvPr id="5" name="AutoShape 5"/>
          <p:cNvSpPr/>
          <p:nvPr/>
        </p:nvSpPr>
        <p:spPr>
          <a:xfrm>
            <a:off x="762000" y="2667000"/>
            <a:ext cx="5334000" cy="1460500"/>
          </a:xfrm>
          <a:prstGeom prst="roundRect">
            <a:avLst>
              <a:gd name="adj" fmla="val 0"/>
            </a:avLst>
          </a:prstGeom>
          <a:solidFill>
            <a:srgbClr val="1F2937">
              <a:alpha val="6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5200" y="2870200"/>
            <a:ext cx="304800" cy="304800"/>
          </a:xfrm>
          <a:prstGeom prst="rect">
            <a:avLst/>
          </a:prstGeom>
        </p:spPr>
      </p:pic>
      <p:sp>
        <p:nvSpPr>
          <p:cNvPr id="7" name="AutoShape 7"/>
          <p:cNvSpPr/>
          <p:nvPr/>
        </p:nvSpPr>
        <p:spPr>
          <a:xfrm>
            <a:off x="1397000" y="28702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Sammensætningslag (Compositor Layers)</a:t>
            </a:r>
            <a:endParaRPr lang="en-US" sz="1100"/>
          </a:p>
        </p:txBody>
      </p:sp>
      <p:sp>
        <p:nvSpPr>
          <p:cNvPr id="8" name="AutoShape 8"/>
          <p:cNvSpPr/>
          <p:nvPr/>
        </p:nvSpPr>
        <p:spPr>
          <a:xfrm>
            <a:off x="965200" y="3276600"/>
            <a:ext cx="4927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Chrome opdeler siden i separate lag for at optimere renderingen. Elementer med `transform` eller `opacity`-ændringer isoleres, da de kan animeres uden at gentegne hele siden.</a:t>
            </a:r>
            <a:endParaRPr lang="en-US" sz="1100"/>
          </a:p>
        </p:txBody>
      </p:sp>
      <p:sp>
        <p:nvSpPr>
          <p:cNvPr id="9" name="AutoShape 9"/>
          <p:cNvSpPr/>
          <p:nvPr/>
        </p:nvSpPr>
        <p:spPr>
          <a:xfrm>
            <a:off x="762000" y="4445000"/>
            <a:ext cx="5334000" cy="1460500"/>
          </a:xfrm>
          <a:prstGeom prst="roundRect">
            <a:avLst>
              <a:gd name="adj" fmla="val 0"/>
            </a:avLst>
          </a:prstGeom>
          <a:solidFill>
            <a:srgbClr val="1F2937">
              <a:alpha val="6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4648200"/>
            <a:ext cx="304800" cy="304800"/>
          </a:xfrm>
          <a:prstGeom prst="rect">
            <a:avLst/>
          </a:prstGeom>
        </p:spPr>
      </p:pic>
      <p:sp>
        <p:nvSpPr>
          <p:cNvPr id="11" name="AutoShape 11"/>
          <p:cNvSpPr/>
          <p:nvPr/>
        </p:nvSpPr>
        <p:spPr>
          <a:xfrm>
            <a:off x="1397000" y="46482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GPU-accelereret sammensætning</a:t>
            </a:r>
            <a:endParaRPr lang="en-US" sz="1100"/>
          </a:p>
        </p:txBody>
      </p:sp>
      <p:sp>
        <p:nvSpPr>
          <p:cNvPr id="12" name="AutoShape 12"/>
          <p:cNvSpPr/>
          <p:nvPr/>
        </p:nvSpPr>
        <p:spPr>
          <a:xfrm>
            <a:off x="965200" y="5054600"/>
            <a:ext cx="4927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GPU'en håndterer lagkombinationen via en dedikeret tråd. Dette afkobler grafiske opgaver fra CPU's hovedtråd, hvilket er afgørende for responsivitet og fluide, jitterfrie animationer.</a:t>
            </a:r>
            <a:endParaRPr lang="en-US" sz="1100"/>
          </a:p>
        </p:txBody>
      </p:sp>
      <p:pic>
        <p:nvPicPr>
          <p:cNvPr id="13" name="Picture 13"/>
          <p:cNvPicPr>
            <a:picLocks noChangeAspect="1"/>
          </p:cNvPicPr>
          <p:nvPr/>
        </p:nvPicPr>
        <p:blipFill>
          <a:blip r:embed="rId6"/>
          <a:srcRect l="217" r="217"/>
          <a:stretch>
            <a:fillRect/>
          </a:stretch>
        </p:blipFill>
        <p:spPr>
          <a:xfrm>
            <a:off x="6477000" y="2286000"/>
            <a:ext cx="4826000" cy="2730500"/>
          </a:xfrm>
          <a:prstGeom prst="rect">
            <a:avLst/>
          </a:prstGeom>
          <a:noFill/>
          <a:ln w="25400" cap="flat" cmpd="sng">
            <a:solidFill>
              <a:srgbClr val="FFFFFF">
                <a:alpha val="60000"/>
              </a:srgbClr>
            </a:solidFill>
            <a:prstDash val="solid"/>
            <a:round/>
          </a:ln>
          <a:effectLst>
            <a:outerShdw blurRad="228600" dist="76200" dir="2700000" algn="tl" rotWithShape="0">
              <a:srgbClr val="1F2937">
                <a:alpha val="12000"/>
              </a:srgbClr>
            </a:outerShdw>
          </a:effectLst>
        </p:spPr>
      </p:pic>
      <p:sp>
        <p:nvSpPr>
          <p:cNvPr id="14" name="AutoShape 14"/>
          <p:cNvSpPr/>
          <p:nvPr/>
        </p:nvSpPr>
        <p:spPr>
          <a:xfrm>
            <a:off x="6477000" y="5270500"/>
            <a:ext cx="482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1" u="none" strike="noStrike">
                <a:solidFill>
                  <a:srgbClr val="6B7280"/>
                </a:solidFill>
                <a:latin typeface="Noto Sans SC"/>
                <a:ea typeface="Noto Sans SC"/>
                <a:cs typeface="Noto Sans SC"/>
                <a:sym typeface="Noto Sans SC"/>
              </a:rPr>
              <a:t>Visuel illustration af, hvordan GPU'en (grafikprocessor) bearbejder grafiske opgaver parallelt med CPU'en for at accelerere renderingsprocessen.</a:t>
            </a:r>
            <a:endParaRPr lang="en-US" sz="1100"/>
          </a:p>
        </p:txBody>
      </p:sp>
      <p:sp>
        <p:nvSpPr>
          <p:cNvPr id="15" name="AutoShape 15"/>
          <p:cNvSpPr/>
          <p:nvPr/>
        </p:nvSpPr>
        <p:spPr>
          <a:xfrm>
            <a:off x="762000" y="6223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dirty="0">
                <a:solidFill>
                  <a:srgbClr val="9CA3AF"/>
                </a:solidFill>
                <a:latin typeface="Noto Sans SC"/>
                <a:ea typeface="Noto Sans SC"/>
                <a:cs typeface="Noto Sans SC"/>
                <a:sym typeface="Noto Sans SC"/>
              </a:rPr>
              <a:t> : 1. Inside look at modern web browser (Part 1-4) - https://</a:t>
            </a:r>
            <a:r>
              <a:rPr lang="en-US" sz="1000" b="0" i="0" u="none" strike="noStrike" dirty="0" err="1">
                <a:solidFill>
                  <a:srgbClr val="9CA3AF"/>
                </a:solidFill>
                <a:latin typeface="Noto Sans SC"/>
                <a:ea typeface="Noto Sans SC"/>
                <a:cs typeface="Noto Sans SC"/>
                <a:sym typeface="Noto Sans SC"/>
              </a:rPr>
              <a:t>developer.chrome.com</a:t>
            </a:r>
            <a:r>
              <a:rPr lang="en-US" sz="1000" b="0" i="0" u="none" strike="noStrike" dirty="0">
                <a:solidFill>
                  <a:srgbClr val="9CA3AF"/>
                </a:solidFill>
                <a:latin typeface="Noto Sans SC"/>
                <a:ea typeface="Noto Sans SC"/>
                <a:cs typeface="Noto Sans SC"/>
                <a:sym typeface="Noto Sans SC"/>
              </a:rPr>
              <a:t>/blog/inside-browser-part1/ 2. Rendering Performance - https://</a:t>
            </a:r>
            <a:r>
              <a:rPr lang="en-US" sz="1000" b="0" i="0" u="none" strike="noStrike" dirty="0" err="1">
                <a:solidFill>
                  <a:srgbClr val="9CA3AF"/>
                </a:solidFill>
                <a:latin typeface="Noto Sans SC"/>
                <a:ea typeface="Noto Sans SC"/>
                <a:cs typeface="Noto Sans SC"/>
                <a:sym typeface="Noto Sans SC"/>
              </a:rPr>
              <a:t>web.dev</a:t>
            </a:r>
            <a:r>
              <a:rPr lang="en-US" sz="1000" b="0" i="0" u="none" strike="noStrike" dirty="0">
                <a:solidFill>
                  <a:srgbClr val="9CA3AF"/>
                </a:solidFill>
                <a:latin typeface="Noto Sans SC"/>
                <a:ea typeface="Noto Sans SC"/>
                <a:cs typeface="Noto Sans SC"/>
                <a:sym typeface="Noto Sans SC"/>
              </a:rPr>
              <a:t>/rendering-performance/ 3. CSS Triggers - https://</a:t>
            </a:r>
            <a:r>
              <a:rPr lang="en-US" sz="1000" b="0" i="0" u="none" strike="noStrike" dirty="0" err="1">
                <a:solidFill>
                  <a:srgbClr val="9CA3AF"/>
                </a:solidFill>
                <a:latin typeface="Noto Sans SC"/>
                <a:ea typeface="Noto Sans SC"/>
                <a:cs typeface="Noto Sans SC"/>
                <a:sym typeface="Noto Sans SC"/>
              </a:rPr>
              <a:t>csstriggers.com</a:t>
            </a:r>
            <a:r>
              <a:rPr lang="en-US" sz="1000" b="0" i="0" u="none" strike="noStrike" dirty="0">
                <a:solidFill>
                  <a:srgbClr val="9CA3AF"/>
                </a:solidFill>
                <a:latin typeface="Noto Sans SC"/>
                <a:ea typeface="Noto Sans SC"/>
                <a:cs typeface="Noto Sans SC"/>
                <a:sym typeface="Noto Sans SC"/>
              </a:rPr>
              <a: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Nøglekoncepter: Hovedtråd vs. Sammensætningstråd</a:t>
            </a:r>
            <a:endParaRPr lang="en-US" sz="1100"/>
          </a:p>
        </p:txBody>
      </p:sp>
      <p:sp>
        <p:nvSpPr>
          <p:cNvPr id="4" name="AutoShape 4"/>
          <p:cNvSpPr/>
          <p:nvPr/>
        </p:nvSpPr>
        <p:spPr>
          <a:xfrm>
            <a:off x="762000" y="1524000"/>
            <a:ext cx="5270500" cy="1841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 cy="1841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625600"/>
            <a:ext cx="4953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4D399"/>
                </a:solidFill>
                <a:latin typeface="Poppins"/>
                <a:ea typeface="Poppins"/>
                <a:cs typeface="Poppins"/>
                <a:sym typeface="Poppins"/>
              </a:rPr>
              <a:t>01. Hovedtråd (Main Thread)</a:t>
            </a:r>
            <a:endParaRPr lang="en-US" sz="1100"/>
          </a:p>
          <a:p>
            <a:pPr marL="0" indent="0" algn="l">
              <a:lnSpc>
                <a:spcPct val="116666"/>
              </a:lnSpc>
              <a:spcBef>
                <a:spcPts val="800"/>
              </a:spcBef>
            </a:pPr>
            <a:r>
              <a:rPr lang="en-US" sz="1400" b="0" i="0" u="none" strike="noStrike">
                <a:solidFill>
                  <a:srgbClr val="374151"/>
                </a:solidFill>
                <a:latin typeface="Poppins"/>
                <a:ea typeface="Poppins"/>
                <a:cs typeface="Poppins"/>
                <a:sym typeface="Poppins"/>
              </a:rPr>
              <a:t>Den centrale proces, der håndterer HTML/CSS parsing, layout beregning og</a:t>
            </a:r>
            <a:r>
              <a:rPr lang="en-US" sz="1400" b="1" i="0" u="none" strike="noStrike">
                <a:solidFill>
                  <a:srgbClr val="374151"/>
                </a:solidFill>
                <a:latin typeface="Poppins"/>
                <a:ea typeface="Poppins"/>
                <a:cs typeface="Poppins"/>
                <a:sym typeface="Poppins"/>
              </a:rPr>
              <a:t>JavaScript eksekvering</a:t>
            </a:r>
            <a:r>
              <a:rPr lang="en-US" sz="1400" b="0" i="0" u="none" strike="noStrike">
                <a:solidFill>
                  <a:srgbClr val="374151"/>
                </a:solidFill>
                <a:latin typeface="Poppins"/>
                <a:ea typeface="Poppins"/>
                <a:cs typeface="Poppins"/>
                <a:sym typeface="Poppins"/>
              </a:rPr>
              <a:t>. Den kører opgaver sekventielt, hvilket betyder, at langsomt eller blokkerende JavaScript vil stoppe rendering og fryse brugergrænsefladen indtil opgaven er færdig.</a:t>
            </a:r>
          </a:p>
        </p:txBody>
      </p:sp>
      <p:sp>
        <p:nvSpPr>
          <p:cNvPr id="7" name="AutoShape 7"/>
          <p:cNvSpPr/>
          <p:nvPr/>
        </p:nvSpPr>
        <p:spPr>
          <a:xfrm>
            <a:off x="6159500" y="1524000"/>
            <a:ext cx="5270500" cy="1841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159500" y="1524000"/>
            <a:ext cx="50800" cy="1841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350000" y="1625600"/>
            <a:ext cx="4953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4D399"/>
                </a:solidFill>
                <a:latin typeface="Poppins"/>
                <a:ea typeface="Poppins"/>
                <a:cs typeface="Poppins"/>
                <a:sym typeface="Poppins"/>
              </a:rPr>
              <a:t>02. Sammensætningstråd (Compositor Thread)</a:t>
            </a:r>
            <a:endParaRPr lang="en-US" sz="1100"/>
          </a:p>
          <a:p>
            <a:pPr marL="0" indent="0" algn="l">
              <a:lnSpc>
                <a:spcPct val="116666"/>
              </a:lnSpc>
              <a:spcBef>
                <a:spcPts val="800"/>
              </a:spcBef>
            </a:pPr>
            <a:r>
              <a:rPr lang="en-US" sz="1400" b="0" i="0" u="none" strike="noStrike">
                <a:solidFill>
                  <a:srgbClr val="374151"/>
                </a:solidFill>
                <a:latin typeface="Poppins"/>
                <a:ea typeface="Poppins"/>
                <a:cs typeface="Poppins"/>
                <a:sym typeface="Poppins"/>
              </a:rPr>
              <a:t>En separat, uafhængig proces, der håndterer sammensætning af grafiklag (layers) og kommunikation med GPU'en. Den håndterer scrolleanimationer og kan fortsætte med at opdatere skærmen jævnt, selvom hovedtråden er optaget eller blokeret.</a:t>
            </a:r>
          </a:p>
        </p:txBody>
      </p:sp>
      <p:pic>
        <p:nvPicPr>
          <p:cNvPr id="10" name="Picture 10"/>
          <p:cNvPicPr>
            <a:picLocks noChangeAspect="1"/>
          </p:cNvPicPr>
          <p:nvPr/>
        </p:nvPicPr>
        <p:blipFill>
          <a:blip r:embed="rId4"/>
          <a:srcRect l="255" r="255"/>
          <a:stretch>
            <a:fillRect/>
          </a:stretch>
        </p:blipFill>
        <p:spPr>
          <a:xfrm>
            <a:off x="762000" y="3810000"/>
            <a:ext cx="4318000" cy="1841500"/>
          </a:xfrm>
          <a:prstGeom prst="rect">
            <a:avLst/>
          </a:prstGeom>
          <a:noFill/>
          <a:ln w="12700" cap="flat" cmpd="sng">
            <a:solidFill>
              <a:srgbClr val="E5E7EB">
                <a:alpha val="100000"/>
              </a:srgbClr>
            </a:solidFill>
            <a:prstDash val="solid"/>
            <a:round/>
          </a:ln>
          <a:effectLst>
            <a:outerShdw blurRad="127000" dist="50800" dir="2700000" algn="tl" rotWithShape="0">
              <a:srgbClr val="000000">
                <a:alpha val="10000"/>
              </a:srgbClr>
            </a:outerShdw>
          </a:effectLst>
        </p:spPr>
      </p:pic>
      <p:sp>
        <p:nvSpPr>
          <p:cNvPr id="11" name="AutoShape 11"/>
          <p:cNvSpPr/>
          <p:nvPr/>
        </p:nvSpPr>
        <p:spPr>
          <a:xfrm>
            <a:off x="5461000" y="3810000"/>
            <a:ext cx="5969000" cy="18415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1500" y="4000500"/>
            <a:ext cx="304800" cy="304800"/>
          </a:xfrm>
          <a:prstGeom prst="rect">
            <a:avLst/>
          </a:prstGeom>
        </p:spPr>
      </p:pic>
      <p:sp>
        <p:nvSpPr>
          <p:cNvPr id="13" name="AutoShape 13"/>
          <p:cNvSpPr/>
          <p:nvPr/>
        </p:nvSpPr>
        <p:spPr>
          <a:xfrm>
            <a:off x="6032500" y="39624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Poppins"/>
                <a:ea typeface="Poppins"/>
                <a:cs typeface="Poppins"/>
                <a:sym typeface="Poppins"/>
              </a:rPr>
              <a:t>Optimering: Den Gyldne Regel</a:t>
            </a:r>
            <a:endParaRPr lang="en-US" sz="1100"/>
          </a:p>
        </p:txBody>
      </p:sp>
      <p:sp>
        <p:nvSpPr>
          <p:cNvPr id="14" name="AutoShape 14"/>
          <p:cNvSpPr/>
          <p:nvPr/>
        </p:nvSpPr>
        <p:spPr>
          <a:xfrm>
            <a:off x="5651500" y="4445000"/>
            <a:ext cx="558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3F4F6"/>
                </a:solidFill>
                <a:latin typeface="Poppins"/>
                <a:ea typeface="Poppins"/>
                <a:cs typeface="Poppins"/>
                <a:sym typeface="Poppins"/>
              </a:rPr>
              <a:t>For glatte, jævne animationer, der ikke fryser, ændr kun</a:t>
            </a:r>
            <a:r>
              <a:rPr lang="en-US" sz="1400" b="1" i="0" u="none" strike="noStrike">
                <a:solidFill>
                  <a:srgbClr val="F3F4F6"/>
                </a:solidFill>
                <a:latin typeface="Poppins"/>
                <a:ea typeface="Poppins"/>
                <a:cs typeface="Poppins"/>
                <a:sym typeface="Poppins"/>
              </a:rPr>
              <a:t>transform</a:t>
            </a:r>
            <a:r>
              <a:rPr lang="en-US" sz="1400" b="0" i="0" u="none" strike="noStrike">
                <a:solidFill>
                  <a:srgbClr val="F3F4F6"/>
                </a:solidFill>
                <a:latin typeface="Poppins"/>
                <a:ea typeface="Poppins"/>
                <a:cs typeface="Poppins"/>
                <a:sym typeface="Poppins"/>
              </a:rPr>
              <a:t>(tilførsel/skalering) og</a:t>
            </a:r>
            <a:r>
              <a:rPr lang="en-US" sz="1400" b="1" i="0" u="none" strike="noStrike">
                <a:solidFill>
                  <a:srgbClr val="F3F4F6"/>
                </a:solidFill>
                <a:latin typeface="Poppins"/>
                <a:ea typeface="Poppins"/>
                <a:cs typeface="Poppins"/>
                <a:sym typeface="Poppins"/>
              </a:rPr>
              <a:t>opacity</a:t>
            </a:r>
            <a:r>
              <a:rPr lang="en-US" sz="1400" b="0" i="0" u="none" strike="noStrike">
                <a:solidFill>
                  <a:srgbClr val="F3F4F6"/>
                </a:solidFill>
                <a:latin typeface="Poppins"/>
                <a:ea typeface="Poppins"/>
                <a:cs typeface="Poppins"/>
                <a:sym typeface="Poppins"/>
              </a:rPr>
              <a:t>. Disse ændringer bypasser hovedtråden og håndteres direkte af sammensætningstråden.</a:t>
            </a:r>
            <a:endParaRPr lang="en-US" sz="1100"/>
          </a:p>
        </p:txBody>
      </p:sp>
      <p:sp>
        <p:nvSpPr>
          <p:cNvPr id="15" name="AutoShape 15"/>
          <p:cNvSpPr/>
          <p:nvPr/>
        </p:nvSpPr>
        <p:spPr>
          <a:xfrm>
            <a:off x="762000" y="5651500"/>
            <a:ext cx="10668000" cy="444500"/>
          </a:xfrm>
          <a:prstGeom prst="roundRect">
            <a:avLst>
              <a:gd name="adj" fmla="val 0"/>
            </a:avLst>
          </a:prstGeom>
          <a:solidFill>
            <a:srgbClr val="34D399">
              <a:alpha val="15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952500" y="5715000"/>
            <a:ext cx="1041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F2937"/>
                </a:solidFill>
                <a:latin typeface="Poppins"/>
                <a:ea typeface="Poppins"/>
                <a:cs typeface="Poppins"/>
                <a:sym typeface="Poppins"/>
              </a:rPr>
              <a:t>Konklusion:</a:t>
            </a:r>
            <a:r>
              <a:rPr lang="en-US" sz="1200" b="0" i="0" u="none" strike="noStrike">
                <a:solidFill>
                  <a:srgbClr val="374151"/>
                </a:solidFill>
                <a:latin typeface="Poppins"/>
                <a:ea typeface="Poppins"/>
                <a:cs typeface="Poppins"/>
                <a:sym typeface="Poppins"/>
              </a:rPr>
              <a:t>Forståelsen af disse to tråde er afgørende for at forstå browserens rendering-performance og for at udvikle jævne, responsive brugergrænseflader.</a:t>
            </a:r>
            <a:endParaRPr lang="en-US" sz="1100"/>
          </a:p>
        </p:txBody>
      </p:sp>
      <p:sp>
        <p:nvSpPr>
          <p:cNvPr id="17" name="AutoShape 17"/>
          <p:cNvSpPr/>
          <p:nvPr/>
        </p:nvSpPr>
        <p:spPr>
          <a:xfrm>
            <a:off x="762000" y="61976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dirty="0">
                <a:solidFill>
                  <a:srgbClr val="6B7280"/>
                </a:solidFill>
                <a:latin typeface="Poppins"/>
                <a:ea typeface="Poppins"/>
                <a:cs typeface="Poppins"/>
                <a:sym typeface="Poppins"/>
              </a:rPr>
              <a:t> </a:t>
            </a:r>
            <a:endParaRPr lang="en-US" sz="1100" dirty="0"/>
          </a:p>
          <a:p>
            <a:pPr marL="0" indent="0" algn="l">
              <a:lnSpc>
                <a:spcPct val="125000"/>
              </a:lnSpc>
            </a:pPr>
            <a:r>
              <a:rPr lang="en-US" sz="1000" b="0" i="0" u="none" strike="noStrike" dirty="0">
                <a:solidFill>
                  <a:srgbClr val="6B7280"/>
                </a:solidFill>
                <a:latin typeface="Poppins"/>
                <a:ea typeface="Poppins"/>
                <a:cs typeface="Poppins"/>
                <a:sym typeface="Poppins"/>
              </a:rPr>
              <a:t>1. Inside look at modern web browser (Part 1-4) - https://</a:t>
            </a:r>
            <a:r>
              <a:rPr lang="en-US" sz="1000" b="0" i="0" u="none" strike="noStrike" dirty="0" err="1">
                <a:solidFill>
                  <a:srgbClr val="6B7280"/>
                </a:solidFill>
                <a:latin typeface="Poppins"/>
                <a:ea typeface="Poppins"/>
                <a:cs typeface="Poppins"/>
                <a:sym typeface="Poppins"/>
              </a:rPr>
              <a:t>developer.chrome.com</a:t>
            </a:r>
            <a:r>
              <a:rPr lang="en-US" sz="1000" b="0" i="0" u="none" strike="noStrike" dirty="0">
                <a:solidFill>
                  <a:srgbClr val="6B7280"/>
                </a:solidFill>
                <a:latin typeface="Poppins"/>
                <a:ea typeface="Poppins"/>
                <a:cs typeface="Poppins"/>
                <a:sym typeface="Poppins"/>
              </a:rPr>
              <a:t>/blog/inside-browser-part1/ 2. Rendering Performance - https://</a:t>
            </a:r>
            <a:r>
              <a:rPr lang="en-US" sz="1000" b="0" i="0" u="none" strike="noStrike" dirty="0" err="1">
                <a:solidFill>
                  <a:srgbClr val="6B7280"/>
                </a:solidFill>
                <a:latin typeface="Poppins"/>
                <a:ea typeface="Poppins"/>
                <a:cs typeface="Poppins"/>
                <a:sym typeface="Poppins"/>
              </a:rPr>
              <a:t>web.dev</a:t>
            </a:r>
            <a:r>
              <a:rPr lang="en-US" sz="1000" b="0" i="0" u="none" strike="noStrike" dirty="0">
                <a:solidFill>
                  <a:srgbClr val="6B7280"/>
                </a:solidFill>
                <a:latin typeface="Poppins"/>
                <a:ea typeface="Poppins"/>
                <a:cs typeface="Poppins"/>
                <a:sym typeface="Poppins"/>
              </a:rPr>
              <a:t>/rendering-performance/ 3. CSS Triggers - https://</a:t>
            </a:r>
            <a:r>
              <a:rPr lang="en-US" sz="1000" b="0" i="0" u="none" strike="noStrike" dirty="0" err="1">
                <a:solidFill>
                  <a:srgbClr val="6B7280"/>
                </a:solidFill>
                <a:latin typeface="Poppins"/>
                <a:ea typeface="Poppins"/>
                <a:cs typeface="Poppins"/>
                <a:sym typeface="Poppins"/>
              </a:rPr>
              <a:t>csstriggers.com</a:t>
            </a:r>
            <a:r>
              <a:rPr lang="en-US" sz="1000" b="0" i="0" u="none" strike="noStrike" dirty="0">
                <a:solidFill>
                  <a:srgbClr val="6B7280"/>
                </a:solidFill>
                <a:latin typeface="Poppins"/>
                <a:ea typeface="Poppins"/>
                <a:cs typeface="Poppins"/>
                <a:sym typeface="Poppins"/>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F2937"/>
                </a:solidFill>
                <a:latin typeface="Poppins"/>
                <a:ea typeface="Poppins"/>
                <a:cs typeface="Poppins"/>
                <a:sym typeface="Poppins"/>
              </a:rPr>
              <a:t>Øvelse</a:t>
            </a:r>
            <a:r>
              <a:rPr lang="en-US" sz="3200" b="1" i="0" u="none" strike="noStrike" dirty="0">
                <a:solidFill>
                  <a:srgbClr val="1F2937"/>
                </a:solidFill>
                <a:latin typeface="Poppins"/>
                <a:ea typeface="Poppins"/>
                <a:cs typeface="Poppins"/>
                <a:sym typeface="Poppins"/>
              </a:rPr>
              <a:t> - chrome</a:t>
            </a:r>
            <a:endParaRPr lang="en-US" sz="1100" dirty="0"/>
          </a:p>
        </p:txBody>
      </p:sp>
      <p:sp>
        <p:nvSpPr>
          <p:cNvPr id="4" name="AutoShape 4"/>
          <p:cNvSpPr/>
          <p:nvPr/>
        </p:nvSpPr>
        <p:spPr>
          <a:xfrm>
            <a:off x="762000" y="1524000"/>
            <a:ext cx="5207000" cy="1041400"/>
          </a:xfrm>
          <a:prstGeom prst="roundRect">
            <a:avLst>
              <a:gd name="adj" fmla="val 0"/>
            </a:avLst>
          </a:prstGeom>
          <a:solidFill>
            <a:srgbClr val="FFFFFF">
              <a:alpha val="65000"/>
            </a:srgbClr>
          </a:solidFill>
          <a:ln w="12700" cap="flat" cmpd="sng">
            <a:solidFill>
              <a:srgbClr val="D1D5DB">
                <a:alpha val="50000"/>
              </a:srgbClr>
            </a:solidFill>
            <a:prstDash val="solid"/>
            <a:round/>
          </a:ln>
        </p:spPr>
        <p:txBody>
          <a:bodyPr vert="horz" wrap="square" lIns="63500" tIns="63500" rIns="63500" bIns="63500" rtlCol="0" anchor="ctr"/>
          <a:lstStyle/>
          <a:p>
            <a:pPr>
              <a:defRPr/>
            </a:pPr>
            <a:r>
              <a:rPr lang="da-DK" sz="1600" b="1" dirty="0">
                <a:solidFill>
                  <a:srgbClr val="1F2937"/>
                </a:solidFill>
                <a:latin typeface="Poppins"/>
                <a:cs typeface="Poppins"/>
              </a:rPr>
              <a:t>                      </a:t>
            </a:r>
            <a:r>
              <a:rPr lang="da-DK" sz="1600" b="1" dirty="0" err="1">
                <a:solidFill>
                  <a:srgbClr val="1F2937"/>
                </a:solidFill>
                <a:latin typeface="Poppins"/>
                <a:cs typeface="Poppins"/>
              </a:rPr>
              <a:t>Inspect</a:t>
            </a:r>
            <a:r>
              <a:rPr lang="da-DK" dirty="0"/>
              <a:t> </a:t>
            </a:r>
            <a:endParaRPr dirty="0"/>
          </a:p>
        </p:txBody>
      </p:sp>
      <p:sp>
        <p:nvSpPr>
          <p:cNvPr id="6" name="AutoShape 6"/>
          <p:cNvSpPr/>
          <p:nvPr/>
        </p:nvSpPr>
        <p:spPr>
          <a:xfrm>
            <a:off x="1778000" y="1676400"/>
            <a:ext cx="406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1F2937"/>
                </a:solidFill>
                <a:latin typeface="Poppins"/>
                <a:ea typeface="Poppins"/>
                <a:cs typeface="Poppins"/>
                <a:sym typeface="Poppins"/>
              </a:rPr>
              <a:t> </a:t>
            </a:r>
            <a:endParaRPr lang="en-US" sz="1100" dirty="0"/>
          </a:p>
          <a:p>
            <a:pPr marL="0" indent="0" algn="l">
              <a:lnSpc>
                <a:spcPct val="100000"/>
              </a:lnSpc>
            </a:pPr>
            <a:r>
              <a:rPr lang="en-US" sz="1300" b="0" i="0" u="none" strike="noStrike" dirty="0">
                <a:solidFill>
                  <a:srgbClr val="4B5563"/>
                </a:solidFill>
                <a:latin typeface="Poppins"/>
                <a:ea typeface="Poppins"/>
                <a:cs typeface="Poppins"/>
                <a:sym typeface="Poppins"/>
              </a:rPr>
              <a:t> </a:t>
            </a:r>
          </a:p>
        </p:txBody>
      </p:sp>
      <p:sp>
        <p:nvSpPr>
          <p:cNvPr id="10" name="AutoShape 10"/>
          <p:cNvSpPr/>
          <p:nvPr/>
        </p:nvSpPr>
        <p:spPr>
          <a:xfrm>
            <a:off x="762000" y="3810000"/>
            <a:ext cx="5207000" cy="1041400"/>
          </a:xfrm>
          <a:prstGeom prst="roundRect">
            <a:avLst>
              <a:gd name="adj" fmla="val 0"/>
            </a:avLst>
          </a:prstGeom>
          <a:solidFill>
            <a:srgbClr val="FFFFFF">
              <a:alpha val="65000"/>
            </a:srgbClr>
          </a:solidFill>
          <a:ln w="12700" cap="flat" cmpd="sng">
            <a:solidFill>
              <a:srgbClr val="D1D5DB">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778000" y="3962400"/>
            <a:ext cx="406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1F2937"/>
                </a:solidFill>
                <a:latin typeface="Poppins"/>
                <a:ea typeface="Poppins"/>
                <a:cs typeface="Poppins"/>
                <a:sym typeface="Poppins"/>
              </a:rPr>
              <a:t>HTML Parsing</a:t>
            </a:r>
            <a:endParaRPr lang="en-US" sz="1100" dirty="0"/>
          </a:p>
          <a:p>
            <a:pPr marL="0" indent="0" algn="l">
              <a:lnSpc>
                <a:spcPct val="100000"/>
              </a:lnSpc>
            </a:pPr>
            <a:r>
              <a:rPr lang="en-US" sz="1300" dirty="0">
                <a:solidFill>
                  <a:srgbClr val="4B5563"/>
                </a:solidFill>
                <a:latin typeface="Poppins"/>
                <a:ea typeface="Poppins"/>
                <a:cs typeface="Poppins"/>
                <a:sym typeface="Poppins"/>
              </a:rPr>
              <a:t>View page source</a:t>
            </a:r>
            <a:endParaRPr lang="en-US" sz="1300" b="0" i="0" u="none" strike="noStrike" dirty="0">
              <a:solidFill>
                <a:srgbClr val="4B5563"/>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794000"/>
            <a:ext cx="1016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Poppins"/>
                <a:ea typeface="Poppins"/>
                <a:cs typeface="Poppins"/>
                <a:sym typeface="Poppins"/>
              </a:rPr>
              <a:t>Tak for din opmærksomhed!</a:t>
            </a:r>
            <a:endParaRPr lang="en-US" sz="1100"/>
          </a:p>
        </p:txBody>
      </p:sp>
      <p:sp>
        <p:nvSpPr>
          <p:cNvPr id="4" name="AutoShape 4"/>
          <p:cNvSpPr/>
          <p:nvPr/>
        </p:nvSpPr>
        <p:spPr>
          <a:xfrm>
            <a:off x="1016000" y="42545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635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dirty="0" err="1">
                <a:solidFill>
                  <a:srgbClr val="34D399"/>
                </a:solidFill>
                <a:latin typeface="Poppins"/>
                <a:ea typeface="Poppins"/>
                <a:cs typeface="Poppins"/>
                <a:sym typeface="Poppins"/>
              </a:rPr>
              <a:t>Spørgsmål</a:t>
            </a:r>
            <a:endParaRPr lang="en-US" sz="1100" dirty="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270500"/>
            <a:ext cx="304800" cy="304800"/>
          </a:xfrm>
          <a:prstGeom prst="rect">
            <a:avLst/>
          </a:prstGeom>
        </p:spPr>
      </p:pic>
      <p:sp>
        <p:nvSpPr>
          <p:cNvPr id="7" name="AutoShape 7"/>
          <p:cNvSpPr/>
          <p:nvPr/>
        </p:nvSpPr>
        <p:spPr>
          <a:xfrm>
            <a:off x="1460500" y="5283200"/>
            <a:ext cx="889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E5E7EB">
                    <a:alpha val="70196"/>
                  </a:srgbClr>
                </a:solidFill>
                <a:latin typeface="Poppins"/>
                <a:ea typeface="Poppins"/>
                <a:cs typeface="Poppins"/>
                <a:sym typeface="Poppins"/>
              </a:rPr>
              <a:t>Føl dig frit til at dele dine tanker eller udfordringer inden for web-performance.</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2931</Words>
  <Application>Microsoft Macintosh PowerPoint</Application>
  <PresentationFormat>Widescreen</PresentationFormat>
  <Paragraphs>214</Paragraphs>
  <Slides>16</Slides>
  <Notes>14</Notes>
  <HiddenSlides>2</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Noto Sans SC</vt:lpstr>
      <vt:lpstr>Arial</vt:lpstr>
      <vt:lpstr>Poppins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Xiaolei Bi</cp:lastModifiedBy>
  <cp:revision>1</cp:revision>
  <dcterms:modified xsi:type="dcterms:W3CDTF">2026-08-18T11:58:08Z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{"Label":"1","ContentProducer":"001191110102MACQD9K64010000","ProduceID":"7675335453087780031","ReservedCode1":"","ContentPropagator":"","PropagateID":"","ReservedCode2":""}</vt:lpwstr>
  </property>
</Properties>
</file>