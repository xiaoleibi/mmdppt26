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1E_E384707D.xml" ContentType="application/vnd.ms-powerpoint.comment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4"/>
  </p:sldMasterIdLst>
  <p:notesMasterIdLst>
    <p:notesMasterId r:id="rId19"/>
  </p:notesMasterIdLst>
  <p:sldIdLst>
    <p:sldId id="256" r:id="rId5"/>
    <p:sldId id="275" r:id="rId6"/>
    <p:sldId id="264" r:id="rId7"/>
    <p:sldId id="315" r:id="rId8"/>
    <p:sldId id="266" r:id="rId9"/>
    <p:sldId id="268" r:id="rId10"/>
    <p:sldId id="316" r:id="rId11"/>
    <p:sldId id="287" r:id="rId12"/>
    <p:sldId id="286" r:id="rId13"/>
    <p:sldId id="285" r:id="rId14"/>
    <p:sldId id="270" r:id="rId15"/>
    <p:sldId id="277" r:id="rId16"/>
    <p:sldId id="335" r:id="rId17"/>
    <p:sldId id="33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AAA0D2-6709-C93A-598B-B5DCD390E9C8}" name="Sofie Donslund Malling" initials="SM" userId="S::sofma02@eamv.dk::0ada9a24-bdaf-4cba-884d-127c2de7f75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A36FF2-0603-46D0-98D8-4DBFF746FE8E}" v="4" dt="2026-01-20T09:53:07.1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582"/>
    <p:restoredTop sz="94657"/>
  </p:normalViewPr>
  <p:slideViewPr>
    <p:cSldViewPr snapToGrid="0">
      <p:cViewPr varScale="1">
        <p:scale>
          <a:sx n="102" d="100"/>
          <a:sy n="102" d="100"/>
        </p:scale>
        <p:origin x="4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omments/modernComment_11E_E384707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799DEC7-33A0-441A-B9E3-A771500DE24C}" authorId="{14AAA0D2-6709-C93A-598B-B5DCD390E9C8}" created="2025-10-10T08:58:18.20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817107581" sldId="286"/>
      <ac:spMk id="2" creationId="{5A73AD80-8049-3778-C5C5-3E73AD5E0AE4}"/>
    </ac:deMkLst>
    <p188:txBody>
      <a:bodyPr/>
      <a:lstStyle/>
      <a:p>
        <a:r>
          <a:rPr lang="en-US"/>
          <a:t>Meta tags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F272A5-8E49-BE47-B6B4-135D452FC098}" type="datetimeFigureOut">
              <a:rPr lang="en-DK" smtClean="0"/>
              <a:t>18/09/2026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D9633-BFFF-EA42-89DE-7FA32332225C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4553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D9633-BFFF-EA42-89DE-7FA32332225C}" type="slidenum">
              <a:rPr lang="en-DK" smtClean="0"/>
              <a:t>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26110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Why it is better to use- show in photoshop online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D9633-BFFF-EA42-89DE-7FA32332225C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1608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</a:t>
            </a:r>
            <a:r>
              <a:rPr lang="en-DK" dirty="0"/>
              <a:t>tml lang.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D9633-BFFF-EA42-89DE-7FA32332225C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708794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D9633-BFFF-EA42-89DE-7FA32332225C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707061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Giver google </a:t>
            </a:r>
            <a:r>
              <a:rPr lang="en-US" err="1">
                <a:latin typeface="Calibri"/>
                <a:ea typeface="Calibri"/>
                <a:cs typeface="Calibri"/>
              </a:rPr>
              <a:t>og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evt</a:t>
            </a:r>
            <a:r>
              <a:rPr lang="en-US">
                <a:latin typeface="Calibri"/>
                <a:ea typeface="Calibri"/>
                <a:cs typeface="Calibri"/>
              </a:rPr>
              <a:t>. </a:t>
            </a:r>
            <a:r>
              <a:rPr lang="en-US" err="1">
                <a:latin typeface="Calibri"/>
                <a:ea typeface="Calibri"/>
                <a:cs typeface="Calibri"/>
              </a:rPr>
              <a:t>skærmlæser</a:t>
            </a:r>
            <a:r>
              <a:rPr lang="en-US">
                <a:latin typeface="Calibri"/>
                <a:ea typeface="Calibri"/>
                <a:cs typeface="Calibri"/>
              </a:rPr>
              <a:t> information om hvad der er </a:t>
            </a:r>
            <a:r>
              <a:rPr lang="en-US" err="1">
                <a:latin typeface="Calibri"/>
                <a:ea typeface="Calibri"/>
                <a:cs typeface="Calibri"/>
              </a:rPr>
              <a:t>på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billedet</a:t>
            </a:r>
            <a:r>
              <a:rPr lang="en-US">
                <a:latin typeface="Calibri"/>
                <a:ea typeface="Calibri"/>
                <a:cs typeface="Calibri"/>
              </a:rPr>
              <a:t>. </a:t>
            </a:r>
            <a:r>
              <a:rPr lang="en-US" err="1">
                <a:latin typeface="Calibri"/>
                <a:ea typeface="Calibri"/>
                <a:cs typeface="Calibri"/>
              </a:rPr>
              <a:t>Alternativ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tekst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hvis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billeder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ikke</a:t>
            </a:r>
            <a:r>
              <a:rPr lang="en-US">
                <a:latin typeface="Calibri"/>
                <a:ea typeface="Calibri"/>
                <a:cs typeface="Calibri"/>
              </a:rPr>
              <a:t> loader </a:t>
            </a:r>
            <a:r>
              <a:rPr lang="en-US" err="1">
                <a:latin typeface="Calibri"/>
                <a:ea typeface="Calibri"/>
                <a:cs typeface="Calibri"/>
              </a:rPr>
              <a:t>eller</a:t>
            </a:r>
            <a:r>
              <a:rPr lang="en-US">
                <a:latin typeface="Calibri"/>
                <a:ea typeface="Calibri"/>
                <a:cs typeface="Calibri"/>
              </a:rPr>
              <a:t> der er </a:t>
            </a:r>
            <a:r>
              <a:rPr lang="en-US" err="1">
                <a:latin typeface="Calibri"/>
                <a:ea typeface="Calibri"/>
                <a:cs typeface="Calibri"/>
              </a:rPr>
              <a:t>brug</a:t>
            </a:r>
            <a:r>
              <a:rPr lang="en-US">
                <a:latin typeface="Calibri"/>
                <a:ea typeface="Calibri"/>
                <a:cs typeface="Calibri"/>
              </a:rPr>
              <a:t> for </a:t>
            </a:r>
            <a:r>
              <a:rPr lang="en-US" err="1">
                <a:latin typeface="Calibri"/>
                <a:ea typeface="Calibri"/>
                <a:cs typeface="Calibri"/>
              </a:rPr>
              <a:t>oplæsning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af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beskrivelsen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af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billedet</a:t>
            </a:r>
            <a:r>
              <a:rPr lang="en-US">
                <a:latin typeface="Calibri"/>
                <a:ea typeface="Calibri"/>
                <a:cs typeface="Calibri"/>
              </a:rPr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D9633-BFFF-EA42-89DE-7FA32332225C}" type="slidenum">
              <a:rPr lang="en-DK" smtClean="0"/>
              <a:t>11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585516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B61148-0DB5-AE45-9906-B50CBAE9DF76}" type="slidenum">
              <a:rPr lang="en-DK" smtClean="0"/>
              <a:t>14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10267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9/18/26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9/18/26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9/18/26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9/18/26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9/18/26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9/18/26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9/18/26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9/18/26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9/18/26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721" b="1" i="0">
                <a:solidFill>
                  <a:srgbClr val="007FA3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1" y="1577340"/>
            <a:ext cx="53035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1" y="1577340"/>
            <a:ext cx="53035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8267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E_E384707D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://validator.w3.org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5B05F-0CA8-0699-20B5-AB5C04020B6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DK"/>
              <a:t>Repetition HTML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0A4E69-6F3F-73D7-FA50-1EBCC84671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K" dirty="0"/>
              <a:t>xbi@2026</a:t>
            </a:r>
          </a:p>
        </p:txBody>
      </p:sp>
    </p:spTree>
    <p:extLst>
      <p:ext uri="{BB962C8B-B14F-4D97-AF65-F5344CB8AC3E}">
        <p14:creationId xmlns:p14="http://schemas.microsoft.com/office/powerpoint/2010/main" val="555778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E2D7C-9643-1CB2-1E89-B31FE13E9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002" y="537242"/>
            <a:ext cx="7979887" cy="572620"/>
          </a:xfrm>
        </p:spPr>
        <p:txBody>
          <a:bodyPr vert="horz" lIns="0" tIns="0" rIns="0" bIns="0" rtlCol="0" anchor="ctr">
            <a:noAutofit/>
          </a:bodyPr>
          <a:lstStyle/>
          <a:p>
            <a:r>
              <a:rPr lang="en-GB" sz="3700"/>
              <a:t>T</a:t>
            </a:r>
            <a:r>
              <a:rPr lang="en-DK" sz="3700"/>
              <a:t>he Old Div and New html5 element</a:t>
            </a:r>
            <a:endParaRPr lang="en-DK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2241C7-A6A6-FE9E-0C7A-5840632F959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42E073A-1C8B-E8D1-C9BC-D588B21B2FEC}"/>
              </a:ext>
            </a:extLst>
          </p:cNvPr>
          <p:cNvSpPr>
            <a:spLocks noGrp="1"/>
          </p:cNvSpPr>
          <p:nvPr>
            <p:ph sz="half" idx="3"/>
          </p:nvPr>
        </p:nvSpPr>
        <p:spPr/>
        <p:txBody>
          <a:bodyPr/>
          <a:lstStyle/>
          <a:p>
            <a:endParaRPr lang="en-DK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A56D1DE-A5E2-38D1-093A-2BA1F0166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3930" y="1292796"/>
            <a:ext cx="7584141" cy="5567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801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381846" y="772245"/>
            <a:ext cx="1112840" cy="5301983"/>
          </a:xfrm>
          <a:custGeom>
            <a:avLst/>
            <a:gdLst/>
            <a:ahLst/>
            <a:cxnLst/>
            <a:rect l="l" t="t" r="r" b="b"/>
            <a:pathLst>
              <a:path w="1226185" h="5842000">
                <a:moveTo>
                  <a:pt x="0" y="5841999"/>
                </a:moveTo>
                <a:lnTo>
                  <a:pt x="1225854" y="5841999"/>
                </a:lnTo>
                <a:lnTo>
                  <a:pt x="1225854" y="0"/>
                </a:lnTo>
                <a:lnTo>
                  <a:pt x="0" y="0"/>
                </a:lnTo>
                <a:lnTo>
                  <a:pt x="0" y="5841999"/>
                </a:lnTo>
                <a:close/>
              </a:path>
            </a:pathLst>
          </a:custGeom>
          <a:solidFill>
            <a:srgbClr val="E8E3CE"/>
          </a:solidFill>
        </p:spPr>
        <p:txBody>
          <a:bodyPr wrap="square" lIns="0" tIns="0" rIns="0" bIns="0" rtlCol="0"/>
          <a:lstStyle/>
          <a:p>
            <a:endParaRPr sz="1634"/>
          </a:p>
        </p:txBody>
      </p:sp>
      <p:sp>
        <p:nvSpPr>
          <p:cNvPr id="3" name="object 3"/>
          <p:cNvSpPr/>
          <p:nvPr/>
        </p:nvSpPr>
        <p:spPr>
          <a:xfrm>
            <a:off x="6093241" y="772245"/>
            <a:ext cx="4717036" cy="5301983"/>
          </a:xfrm>
          <a:custGeom>
            <a:avLst/>
            <a:gdLst/>
            <a:ahLst/>
            <a:cxnLst/>
            <a:rect l="l" t="t" r="r" b="b"/>
            <a:pathLst>
              <a:path w="5197475" h="5842000">
                <a:moveTo>
                  <a:pt x="0" y="5841999"/>
                </a:moveTo>
                <a:lnTo>
                  <a:pt x="5197340" y="5841999"/>
                </a:lnTo>
                <a:lnTo>
                  <a:pt x="5197340" y="0"/>
                </a:lnTo>
                <a:lnTo>
                  <a:pt x="0" y="0"/>
                </a:lnTo>
                <a:lnTo>
                  <a:pt x="0" y="5841999"/>
                </a:lnTo>
                <a:close/>
              </a:path>
            </a:pathLst>
          </a:custGeom>
          <a:solidFill>
            <a:srgbClr val="E8E3CE"/>
          </a:solidFill>
        </p:spPr>
        <p:txBody>
          <a:bodyPr wrap="square" lIns="0" tIns="0" rIns="0" bIns="0" rtlCol="0"/>
          <a:lstStyle/>
          <a:p>
            <a:endParaRPr sz="1634"/>
          </a:p>
        </p:txBody>
      </p:sp>
      <p:grpSp>
        <p:nvGrpSpPr>
          <p:cNvPr id="4" name="object 4"/>
          <p:cNvGrpSpPr/>
          <p:nvPr/>
        </p:nvGrpSpPr>
        <p:grpSpPr>
          <a:xfrm>
            <a:off x="1381846" y="772245"/>
            <a:ext cx="4711849" cy="5301983"/>
            <a:chOff x="152400" y="850900"/>
            <a:chExt cx="5191760" cy="5842000"/>
          </a:xfrm>
        </p:grpSpPr>
        <p:sp>
          <p:nvSpPr>
            <p:cNvPr id="5" name="object 5"/>
            <p:cNvSpPr/>
            <p:nvPr/>
          </p:nvSpPr>
          <p:spPr>
            <a:xfrm>
              <a:off x="152400" y="850900"/>
              <a:ext cx="1226185" cy="5842000"/>
            </a:xfrm>
            <a:custGeom>
              <a:avLst/>
              <a:gdLst/>
              <a:ahLst/>
              <a:cxnLst/>
              <a:rect l="l" t="t" r="r" b="b"/>
              <a:pathLst>
                <a:path w="1226185" h="5842000">
                  <a:moveTo>
                    <a:pt x="1225854" y="0"/>
                  </a:moveTo>
                  <a:lnTo>
                    <a:pt x="0" y="0"/>
                  </a:lnTo>
                  <a:lnTo>
                    <a:pt x="0" y="5841999"/>
                  </a:lnTo>
                  <a:lnTo>
                    <a:pt x="1225854" y="5841999"/>
                  </a:lnTo>
                  <a:lnTo>
                    <a:pt x="1225854" y="0"/>
                  </a:lnTo>
                  <a:close/>
                </a:path>
              </a:pathLst>
            </a:custGeom>
            <a:solidFill>
              <a:srgbClr val="9BAFB5">
                <a:alpha val="50199"/>
              </a:srgbClr>
            </a:solidFill>
          </p:spPr>
          <p:txBody>
            <a:bodyPr wrap="square" lIns="0" tIns="0" rIns="0" bIns="0" rtlCol="0"/>
            <a:lstStyle/>
            <a:p>
              <a:endParaRPr sz="1634"/>
            </a:p>
          </p:txBody>
        </p:sp>
        <p:sp>
          <p:nvSpPr>
            <p:cNvPr id="6" name="object 6"/>
            <p:cNvSpPr/>
            <p:nvPr/>
          </p:nvSpPr>
          <p:spPr>
            <a:xfrm>
              <a:off x="1378254" y="850900"/>
              <a:ext cx="3965575" cy="5842000"/>
            </a:xfrm>
            <a:custGeom>
              <a:avLst/>
              <a:gdLst/>
              <a:ahLst/>
              <a:cxnLst/>
              <a:rect l="l" t="t" r="r" b="b"/>
              <a:pathLst>
                <a:path w="3965575" h="5842000">
                  <a:moveTo>
                    <a:pt x="3965404" y="0"/>
                  </a:moveTo>
                  <a:lnTo>
                    <a:pt x="0" y="0"/>
                  </a:lnTo>
                  <a:lnTo>
                    <a:pt x="0" y="5841999"/>
                  </a:lnTo>
                  <a:lnTo>
                    <a:pt x="3965404" y="5841999"/>
                  </a:lnTo>
                  <a:lnTo>
                    <a:pt x="3965404" y="0"/>
                  </a:lnTo>
                  <a:close/>
                </a:path>
              </a:pathLst>
            </a:custGeom>
            <a:solidFill>
              <a:srgbClr val="4A5356"/>
            </a:solidFill>
          </p:spPr>
          <p:txBody>
            <a:bodyPr wrap="square" lIns="0" tIns="0" rIns="0" bIns="0" rtlCol="0"/>
            <a:lstStyle/>
            <a:p>
              <a:endParaRPr sz="1634"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6309012" y="2788029"/>
            <a:ext cx="3966064" cy="1280892"/>
          </a:xfrm>
          <a:prstGeom prst="rect">
            <a:avLst/>
          </a:prstGeom>
        </p:spPr>
        <p:txBody>
          <a:bodyPr vert="horz" wrap="square" lIns="0" tIns="10950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86"/>
              </a:spcBef>
            </a:pPr>
            <a:r>
              <a:rPr lang="en-GB" sz="4084" spc="-9">
                <a:latin typeface="Arial"/>
                <a:cs typeface="Arial"/>
              </a:rPr>
              <a:t>HTML5</a:t>
            </a:r>
            <a:endParaRPr lang="en-GB" sz="4084">
              <a:latin typeface="Arial"/>
              <a:cs typeface="Arial"/>
            </a:endParaRPr>
          </a:p>
          <a:p>
            <a:pPr marL="11430">
              <a:lnSpc>
                <a:spcPct val="100000"/>
              </a:lnSpc>
              <a:spcBef>
                <a:spcPts val="91"/>
              </a:spcBef>
            </a:pPr>
            <a:r>
              <a:rPr lang="en-GB" sz="4084" spc="-281">
                <a:latin typeface="Arial"/>
                <a:cs typeface="Arial"/>
              </a:rPr>
              <a:t>Semantic</a:t>
            </a:r>
            <a:endParaRPr lang="en-GB" sz="4084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6AC09-875E-2118-D4B0-A9370F10B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6DD11B-BA4E-FB87-8790-224896BD31E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14324A-4032-649E-32EC-D695913463CB}"/>
              </a:ext>
            </a:extLst>
          </p:cNvPr>
          <p:cNvSpPr>
            <a:spLocks noGrp="1"/>
          </p:cNvSpPr>
          <p:nvPr>
            <p:ph sz="half" idx="3"/>
          </p:nvPr>
        </p:nvSpPr>
        <p:spPr/>
        <p:txBody>
          <a:bodyPr/>
          <a:lstStyle/>
          <a:p>
            <a:endParaRPr lang="en-DK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EC2CF0-9912-8D7B-2493-97F7FB21A1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9873" y="749194"/>
            <a:ext cx="7192255" cy="5359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2990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268429" y="865869"/>
            <a:ext cx="7015215" cy="1098137"/>
          </a:xfrm>
          <a:prstGeom prst="rect">
            <a:avLst/>
          </a:prstGeom>
        </p:spPr>
        <p:txBody>
          <a:bodyPr vert="horz" wrap="square" lIns="0" tIns="24781" rIns="0" bIns="0" rtlCol="0" anchor="ctr">
            <a:spAutoFit/>
          </a:bodyPr>
          <a:lstStyle/>
          <a:p>
            <a:pPr marL="11527" marR="4611">
              <a:lnSpc>
                <a:spcPts val="4447"/>
              </a:lnSpc>
              <a:spcBef>
                <a:spcPts val="195"/>
              </a:spcBef>
            </a:pPr>
            <a:r>
              <a:rPr spc="113"/>
              <a:t>HTML5</a:t>
            </a:r>
            <a:r>
              <a:rPr spc="322"/>
              <a:t> </a:t>
            </a:r>
            <a:r>
              <a:rPr spc="113"/>
              <a:t>Semantic</a:t>
            </a:r>
            <a:r>
              <a:rPr spc="322"/>
              <a:t> </a:t>
            </a:r>
            <a:r>
              <a:rPr spc="118"/>
              <a:t>Structure </a:t>
            </a:r>
            <a:r>
              <a:rPr spc="113"/>
              <a:t>Elements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32441" y="1763933"/>
            <a:ext cx="1335869" cy="3894405"/>
          </a:xfrm>
          <a:prstGeom prst="rect">
            <a:avLst/>
          </a:prstGeom>
        </p:spPr>
        <p:txBody>
          <a:bodyPr vert="horz" wrap="square" lIns="0" tIns="160788" rIns="0" bIns="0" rtlCol="0">
            <a:spAutoFit/>
          </a:bodyPr>
          <a:lstStyle/>
          <a:p>
            <a:pPr marL="364814" indent="-353288">
              <a:spcBef>
                <a:spcPts val="1266"/>
              </a:spcBef>
              <a:buChar char="•"/>
              <a:tabLst>
                <a:tab pos="364814" algn="l"/>
              </a:tabLst>
            </a:pPr>
            <a:r>
              <a:rPr sz="1815" spc="-9">
                <a:latin typeface="Arial"/>
                <a:cs typeface="Arial"/>
              </a:rPr>
              <a:t>Header</a:t>
            </a:r>
            <a:endParaRPr sz="1815">
              <a:latin typeface="Arial"/>
              <a:cs typeface="Arial"/>
            </a:endParaRPr>
          </a:p>
          <a:p>
            <a:pPr marL="364814" indent="-353288">
              <a:spcBef>
                <a:spcPts val="1175"/>
              </a:spcBef>
              <a:buChar char="•"/>
              <a:tabLst>
                <a:tab pos="364814" algn="l"/>
              </a:tabLst>
            </a:pPr>
            <a:r>
              <a:rPr sz="1815" spc="-23">
                <a:latin typeface="Arial"/>
                <a:cs typeface="Arial"/>
              </a:rPr>
              <a:t>Nav</a:t>
            </a:r>
            <a:endParaRPr sz="1815">
              <a:latin typeface="Arial"/>
              <a:cs typeface="Arial"/>
            </a:endParaRPr>
          </a:p>
          <a:p>
            <a:pPr marL="364814" indent="-353288">
              <a:spcBef>
                <a:spcPts val="1089"/>
              </a:spcBef>
              <a:buChar char="•"/>
              <a:tabLst>
                <a:tab pos="364814" algn="l"/>
              </a:tabLst>
            </a:pPr>
            <a:r>
              <a:rPr sz="1815" spc="-18">
                <a:latin typeface="Arial"/>
                <a:cs typeface="Arial"/>
              </a:rPr>
              <a:t>Main</a:t>
            </a:r>
            <a:endParaRPr sz="1815">
              <a:latin typeface="Arial"/>
              <a:cs typeface="Arial"/>
            </a:endParaRPr>
          </a:p>
          <a:p>
            <a:pPr marL="364814" indent="-353288">
              <a:spcBef>
                <a:spcPts val="1175"/>
              </a:spcBef>
              <a:buChar char="•"/>
              <a:tabLst>
                <a:tab pos="364814" algn="l"/>
              </a:tabLst>
            </a:pPr>
            <a:r>
              <a:rPr sz="1815" spc="-9">
                <a:latin typeface="Arial"/>
                <a:cs typeface="Arial"/>
              </a:rPr>
              <a:t>Section</a:t>
            </a:r>
            <a:endParaRPr sz="1815">
              <a:latin typeface="Arial"/>
              <a:cs typeface="Arial"/>
            </a:endParaRPr>
          </a:p>
          <a:p>
            <a:pPr marL="364814" indent="-353288">
              <a:spcBef>
                <a:spcPts val="1180"/>
              </a:spcBef>
              <a:buChar char="•"/>
              <a:tabLst>
                <a:tab pos="364814" algn="l"/>
              </a:tabLst>
            </a:pPr>
            <a:r>
              <a:rPr sz="1815" spc="-9">
                <a:latin typeface="Arial"/>
                <a:cs typeface="Arial"/>
              </a:rPr>
              <a:t>Article</a:t>
            </a:r>
            <a:endParaRPr sz="1815">
              <a:latin typeface="Arial"/>
              <a:cs typeface="Arial"/>
            </a:endParaRPr>
          </a:p>
          <a:p>
            <a:pPr marL="364814" indent="-353288">
              <a:spcBef>
                <a:spcPts val="1198"/>
              </a:spcBef>
              <a:buChar char="•"/>
              <a:tabLst>
                <a:tab pos="364814" algn="l"/>
              </a:tabLst>
            </a:pPr>
            <a:r>
              <a:rPr sz="1815" spc="-9">
                <a:latin typeface="Arial"/>
                <a:cs typeface="Arial"/>
              </a:rPr>
              <a:t>Figure</a:t>
            </a:r>
            <a:endParaRPr sz="1815">
              <a:latin typeface="Arial"/>
              <a:cs typeface="Arial"/>
            </a:endParaRPr>
          </a:p>
          <a:p>
            <a:pPr marL="364814" indent="-353288">
              <a:spcBef>
                <a:spcPts val="1175"/>
              </a:spcBef>
              <a:buChar char="•"/>
              <a:tabLst>
                <a:tab pos="364814" algn="l"/>
              </a:tabLst>
            </a:pPr>
            <a:r>
              <a:rPr sz="1815" spc="-86">
                <a:latin typeface="Arial"/>
                <a:cs typeface="Arial"/>
              </a:rPr>
              <a:t>Figcaption</a:t>
            </a:r>
            <a:endParaRPr sz="1815">
              <a:latin typeface="Arial"/>
              <a:cs typeface="Arial"/>
            </a:endParaRPr>
          </a:p>
          <a:p>
            <a:pPr marL="364814" indent="-353288">
              <a:spcBef>
                <a:spcPts val="1175"/>
              </a:spcBef>
              <a:buChar char="•"/>
              <a:tabLst>
                <a:tab pos="364814" algn="l"/>
              </a:tabLst>
            </a:pPr>
            <a:r>
              <a:rPr sz="1815" spc="-9">
                <a:latin typeface="Arial"/>
                <a:cs typeface="Arial"/>
              </a:rPr>
              <a:t>Aside</a:t>
            </a:r>
            <a:endParaRPr sz="1815">
              <a:latin typeface="Arial"/>
              <a:cs typeface="Arial"/>
            </a:endParaRPr>
          </a:p>
          <a:p>
            <a:pPr marL="364814" indent="-353288">
              <a:spcBef>
                <a:spcPts val="1175"/>
              </a:spcBef>
              <a:buChar char="•"/>
              <a:tabLst>
                <a:tab pos="364814" algn="l"/>
              </a:tabLst>
            </a:pPr>
            <a:r>
              <a:rPr sz="1815" spc="-9">
                <a:latin typeface="Arial"/>
                <a:cs typeface="Arial"/>
              </a:rPr>
              <a:t>Footer</a:t>
            </a:r>
            <a:endParaRPr sz="1815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429185" y="295278"/>
            <a:ext cx="7015215" cy="1011769"/>
          </a:xfrm>
          <a:prstGeom prst="rect">
            <a:avLst/>
          </a:prstGeom>
        </p:spPr>
        <p:txBody>
          <a:bodyPr vert="horz" wrap="square" lIns="0" tIns="575264" rIns="0" bIns="0" rtlCol="0" anchor="ctr">
            <a:spAutoFit/>
          </a:bodyPr>
          <a:lstStyle/>
          <a:p>
            <a:pPr marL="11430">
              <a:lnSpc>
                <a:spcPct val="100000"/>
              </a:lnSpc>
              <a:spcBef>
                <a:spcPts val="86"/>
              </a:spcBef>
            </a:pPr>
            <a:r>
              <a:rPr spc="123"/>
              <a:t>Figure</a:t>
            </a:r>
            <a:r>
              <a:rPr spc="300"/>
              <a:t> </a:t>
            </a:r>
            <a:r>
              <a:rPr spc="100"/>
              <a:t>and</a:t>
            </a:r>
            <a:r>
              <a:rPr spc="295"/>
              <a:t> </a:t>
            </a:r>
            <a:r>
              <a:rPr lang="en-US" spc="123"/>
              <a:t>fig caption</a:t>
            </a:r>
            <a:endParaRPr lang="en-US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29841" y="1716066"/>
            <a:ext cx="7964447" cy="51344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527CA-5FA5-C8F9-21CC-3C3D66D4A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002" y="537242"/>
            <a:ext cx="6500116" cy="387798"/>
          </a:xfr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N</a:t>
            </a:r>
            <a:r>
              <a:rPr lang="en-DK" dirty="0">
                <a:solidFill>
                  <a:schemeClr val="tx1"/>
                </a:solidFill>
              </a:rPr>
              <a:t>ew image formats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6877E-19CE-4AC4-1B42-B3663D820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28780" y="1577341"/>
            <a:ext cx="8734441" cy="1256970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 err="1"/>
              <a:t>WebP</a:t>
            </a:r>
            <a:r>
              <a:rPr lang="en-GB" b="1" dirty="0"/>
              <a:t> Image Format</a:t>
            </a:r>
          </a:p>
          <a:p>
            <a:r>
              <a:rPr lang="en-GB" b="1" dirty="0"/>
              <a:t>File extension:</a:t>
            </a:r>
            <a:r>
              <a:rPr lang="en-GB" dirty="0"/>
              <a:t> .</a:t>
            </a:r>
            <a:r>
              <a:rPr lang="en-GB" dirty="0" err="1"/>
              <a:t>webp</a:t>
            </a:r>
            <a:endParaRPr lang="en-GB" dirty="0"/>
          </a:p>
          <a:p>
            <a:r>
              <a:rPr lang="en-GB" b="1" dirty="0"/>
              <a:t>Developed by:</a:t>
            </a:r>
            <a:r>
              <a:rPr lang="en-GB" dirty="0"/>
              <a:t> Google</a:t>
            </a:r>
          </a:p>
          <a:p>
            <a:r>
              <a:rPr lang="en-GB" b="1" dirty="0"/>
              <a:t>Purpose:</a:t>
            </a:r>
            <a:r>
              <a:rPr lang="en-GB" dirty="0"/>
              <a:t> Provide </a:t>
            </a:r>
            <a:r>
              <a:rPr lang="en-GB" b="1" dirty="0"/>
              <a:t>smaller image file sizes</a:t>
            </a:r>
            <a:r>
              <a:rPr lang="en-GB" dirty="0"/>
              <a:t> with </a:t>
            </a:r>
            <a:r>
              <a:rPr lang="en-GB" b="1" dirty="0"/>
              <a:t>high quality</a:t>
            </a:r>
            <a:r>
              <a:rPr lang="en-GB" dirty="0"/>
              <a:t>, to make websites faster.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557020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7E3E0-370E-C532-12B8-2A3112487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-2927"/>
            <a:ext cx="7729728" cy="1188720"/>
          </a:xfrm>
        </p:spPr>
        <p:txBody>
          <a:bodyPr/>
          <a:lstStyle/>
          <a:p>
            <a:r>
              <a:rPr lang="en-GB" b="1"/>
              <a:t>Title (title tag)</a:t>
            </a:r>
            <a:br>
              <a:rPr lang="en-GB"/>
            </a:b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132838-573F-018D-223F-648CF0C5D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4610" y="2389057"/>
            <a:ext cx="10300970" cy="2400657"/>
          </a:xfrm>
        </p:spPr>
        <p:txBody>
          <a:bodyPr/>
          <a:lstStyle/>
          <a:p>
            <a:r>
              <a:rPr lang="en-GB"/>
              <a:t>Very important:  </a:t>
            </a:r>
          </a:p>
          <a:p>
            <a:r>
              <a:rPr lang="en-GB"/>
              <a:t>The &lt;title&gt; tag is required in HTML documents!</a:t>
            </a:r>
          </a:p>
          <a:p>
            <a:r>
              <a:rPr lang="en-GB"/>
              <a:t>The contents of a page title is very important for search engine optimization (SEO)! The page title is used by search engine algorithms to decide the order when listing pages in search results.</a:t>
            </a:r>
          </a:p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43709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3AD80-8049-3778-C5C5-3E73AD5E0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057" y="307593"/>
            <a:ext cx="9158922" cy="677108"/>
          </a:xfrm>
        </p:spPr>
        <p:txBody>
          <a:bodyPr>
            <a:normAutofit fontScale="90000"/>
          </a:bodyPr>
          <a:lstStyle/>
          <a:p>
            <a:r>
              <a:rPr lang="en-DK"/>
              <a:t>Meta tags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D04759-4F28-69F5-4496-15B725860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7575" y="1702288"/>
            <a:ext cx="10300970" cy="40011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&lt;meta charset="utf-8"&gt;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699A2E-F991-3737-6C1D-18C5D4BB7E0B}"/>
              </a:ext>
            </a:extLst>
          </p:cNvPr>
          <p:cNvSpPr txBox="1"/>
          <p:nvPr/>
        </p:nvSpPr>
        <p:spPr>
          <a:xfrm>
            <a:off x="3048000" y="2967335"/>
            <a:ext cx="6096000" cy="31393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It ensures that text, including special characters (like accents, emojis, or non-Latin scripts), displays correctly in the browser.</a:t>
            </a:r>
          </a:p>
          <a:p>
            <a:pPr>
              <a:buFont typeface="Arial" panose="020B0604020202020204" pitchFamily="34" charset="0"/>
              <a:buChar char="•"/>
            </a:pP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Without it, browsers might misinterpret characters  (e.g., </a:t>
            </a:r>
            <a:r>
              <a:rPr lang="en-GB" dirty="0" err="1"/>
              <a:t>Å</a:t>
            </a:r>
            <a:r>
              <a:rPr lang="en-GB" dirty="0"/>
              <a:t>. © ).</a:t>
            </a:r>
          </a:p>
          <a:p>
            <a:pPr>
              <a:buFont typeface="Arial" panose="020B0604020202020204" pitchFamily="34" charset="0"/>
              <a:buChar char="•"/>
            </a:pP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71075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B02B9-0513-CBBB-21B4-1B4A23F75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057" y="307593"/>
            <a:ext cx="9158922" cy="677108"/>
          </a:xfrm>
        </p:spPr>
        <p:txBody>
          <a:bodyPr>
            <a:normAutofit fontScale="90000"/>
          </a:bodyPr>
          <a:lstStyle/>
          <a:p>
            <a:r>
              <a:rPr lang="en-DK" dirty="0"/>
              <a:t>Meta No index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AA0898-BFE6-6818-761B-8CCC5395B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7575" y="1702288"/>
            <a:ext cx="10300970" cy="320087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DK" dirty="0"/>
              <a:t> &lt;meta name="robots" content="noindex"&gt;</a:t>
            </a:r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DK" dirty="0"/>
              <a:t>tell search engines not to include a page in their search results.</a:t>
            </a:r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655987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7575" y="736023"/>
            <a:ext cx="1640839" cy="44755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pc="-80"/>
              <a:t>Alt</a:t>
            </a:r>
            <a:r>
              <a:rPr spc="-215"/>
              <a:t> </a:t>
            </a:r>
            <a:r>
              <a:rPr lang="da-DK" spc="-215"/>
              <a:t> </a:t>
            </a:r>
            <a:r>
              <a:rPr spc="-70"/>
              <a:t>text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794255"/>
            <a:ext cx="10293350" cy="2111475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241300" marR="415290" indent="-229235">
              <a:lnSpc>
                <a:spcPct val="92200"/>
              </a:lnSpc>
              <a:spcBef>
                <a:spcPts val="385"/>
              </a:spcBef>
              <a:buChar char="•"/>
              <a:tabLst>
                <a:tab pos="241300" algn="l"/>
              </a:tabLst>
            </a:pPr>
            <a:r>
              <a:rPr sz="2750" dirty="0">
                <a:latin typeface="Arial"/>
                <a:cs typeface="Arial"/>
              </a:rPr>
              <a:t>Alt</a:t>
            </a:r>
            <a:r>
              <a:rPr sz="2750" spc="-140" dirty="0">
                <a:latin typeface="Arial"/>
                <a:cs typeface="Arial"/>
              </a:rPr>
              <a:t> </a:t>
            </a:r>
            <a:r>
              <a:rPr sz="2750" spc="-10" dirty="0">
                <a:latin typeface="Arial"/>
                <a:cs typeface="Arial"/>
              </a:rPr>
              <a:t>text</a:t>
            </a:r>
            <a:r>
              <a:rPr sz="2750" spc="-135" dirty="0">
                <a:latin typeface="Arial"/>
                <a:cs typeface="Arial"/>
              </a:rPr>
              <a:t> </a:t>
            </a:r>
            <a:r>
              <a:rPr sz="2750" spc="-50" dirty="0">
                <a:latin typeface="Arial"/>
                <a:cs typeface="Arial"/>
              </a:rPr>
              <a:t>(alternative</a:t>
            </a:r>
            <a:r>
              <a:rPr sz="2750" spc="-125" dirty="0">
                <a:latin typeface="Arial"/>
                <a:cs typeface="Arial"/>
              </a:rPr>
              <a:t> </a:t>
            </a:r>
            <a:r>
              <a:rPr sz="2750" spc="-10" dirty="0">
                <a:latin typeface="Arial"/>
                <a:cs typeface="Arial"/>
              </a:rPr>
              <a:t>text)</a:t>
            </a:r>
            <a:r>
              <a:rPr sz="2750" spc="-114" dirty="0">
                <a:latin typeface="Arial"/>
                <a:cs typeface="Arial"/>
              </a:rPr>
              <a:t> </a:t>
            </a:r>
            <a:r>
              <a:rPr sz="2750" spc="-125" dirty="0">
                <a:latin typeface="Arial"/>
                <a:cs typeface="Arial"/>
              </a:rPr>
              <a:t>is</a:t>
            </a:r>
            <a:r>
              <a:rPr sz="2750" spc="-130" dirty="0">
                <a:latin typeface="Arial"/>
                <a:cs typeface="Arial"/>
              </a:rPr>
              <a:t> </a:t>
            </a:r>
            <a:r>
              <a:rPr sz="2750" spc="-204" dirty="0">
                <a:latin typeface="Arial"/>
                <a:cs typeface="Arial"/>
              </a:rPr>
              <a:t>a</a:t>
            </a:r>
            <a:r>
              <a:rPr sz="2750" spc="-150" dirty="0">
                <a:latin typeface="Arial"/>
                <a:cs typeface="Arial"/>
              </a:rPr>
              <a:t> </a:t>
            </a:r>
            <a:r>
              <a:rPr sz="2750" spc="-40" dirty="0">
                <a:latin typeface="Arial"/>
                <a:cs typeface="Arial"/>
              </a:rPr>
              <a:t>short,</a:t>
            </a:r>
            <a:r>
              <a:rPr sz="2750" spc="-185" dirty="0">
                <a:latin typeface="Arial"/>
                <a:cs typeface="Arial"/>
              </a:rPr>
              <a:t> </a:t>
            </a:r>
            <a:r>
              <a:rPr sz="2750" spc="-75" dirty="0">
                <a:latin typeface="Arial"/>
                <a:cs typeface="Arial"/>
              </a:rPr>
              <a:t>descriptive</a:t>
            </a:r>
            <a:r>
              <a:rPr sz="2750" spc="-125" dirty="0">
                <a:latin typeface="Arial"/>
                <a:cs typeface="Arial"/>
              </a:rPr>
              <a:t> </a:t>
            </a:r>
            <a:r>
              <a:rPr sz="2750" dirty="0">
                <a:latin typeface="Arial"/>
                <a:cs typeface="Arial"/>
              </a:rPr>
              <a:t>text</a:t>
            </a:r>
            <a:r>
              <a:rPr sz="2750" spc="-130" dirty="0">
                <a:latin typeface="Arial"/>
                <a:cs typeface="Arial"/>
              </a:rPr>
              <a:t> </a:t>
            </a:r>
            <a:r>
              <a:rPr sz="2750" spc="-135" dirty="0">
                <a:latin typeface="Arial"/>
                <a:cs typeface="Arial"/>
              </a:rPr>
              <a:t>associated</a:t>
            </a:r>
            <a:r>
              <a:rPr sz="2750" spc="-130" dirty="0">
                <a:latin typeface="Arial"/>
                <a:cs typeface="Arial"/>
              </a:rPr>
              <a:t> </a:t>
            </a:r>
            <a:r>
              <a:rPr sz="2750" spc="-20" dirty="0">
                <a:latin typeface="Arial"/>
                <a:cs typeface="Arial"/>
              </a:rPr>
              <a:t>with </a:t>
            </a:r>
            <a:r>
              <a:rPr sz="2750" spc="-160" dirty="0">
                <a:latin typeface="Arial"/>
                <a:cs typeface="Arial"/>
              </a:rPr>
              <a:t>images</a:t>
            </a:r>
            <a:r>
              <a:rPr sz="2750" spc="-125" dirty="0">
                <a:latin typeface="Arial"/>
                <a:cs typeface="Arial"/>
              </a:rPr>
              <a:t> </a:t>
            </a:r>
            <a:r>
              <a:rPr sz="2750" dirty="0">
                <a:latin typeface="Arial"/>
                <a:cs typeface="Arial"/>
              </a:rPr>
              <a:t>in</a:t>
            </a:r>
            <a:r>
              <a:rPr sz="2750" spc="-125" dirty="0">
                <a:latin typeface="Arial"/>
                <a:cs typeface="Arial"/>
              </a:rPr>
              <a:t> </a:t>
            </a:r>
            <a:r>
              <a:rPr sz="2750" spc="-195" dirty="0">
                <a:latin typeface="Arial"/>
                <a:cs typeface="Arial"/>
              </a:rPr>
              <a:t>HTML,</a:t>
            </a:r>
            <a:r>
              <a:rPr sz="2750" spc="-100" dirty="0">
                <a:latin typeface="Arial"/>
                <a:cs typeface="Arial"/>
              </a:rPr>
              <a:t> </a:t>
            </a:r>
            <a:r>
              <a:rPr sz="2750" spc="-85" dirty="0">
                <a:latin typeface="Arial"/>
                <a:cs typeface="Arial"/>
              </a:rPr>
              <a:t>specified</a:t>
            </a:r>
            <a:r>
              <a:rPr sz="2750" spc="-125" dirty="0">
                <a:latin typeface="Arial"/>
                <a:cs typeface="Arial"/>
              </a:rPr>
              <a:t> </a:t>
            </a:r>
            <a:r>
              <a:rPr sz="2750" spc="-140" dirty="0">
                <a:latin typeface="Arial"/>
                <a:cs typeface="Arial"/>
              </a:rPr>
              <a:t>using</a:t>
            </a:r>
            <a:r>
              <a:rPr sz="2750" spc="-114" dirty="0">
                <a:latin typeface="Arial"/>
                <a:cs typeface="Arial"/>
              </a:rPr>
              <a:t> </a:t>
            </a:r>
            <a:r>
              <a:rPr sz="2750" dirty="0">
                <a:latin typeface="Arial"/>
                <a:cs typeface="Arial"/>
              </a:rPr>
              <a:t>the</a:t>
            </a:r>
            <a:r>
              <a:rPr sz="2750" spc="-120" dirty="0">
                <a:latin typeface="Arial"/>
                <a:cs typeface="Arial"/>
              </a:rPr>
              <a:t> </a:t>
            </a:r>
            <a:r>
              <a:rPr sz="2750" dirty="0">
                <a:latin typeface="Arial"/>
                <a:cs typeface="Arial"/>
              </a:rPr>
              <a:t>alt</a:t>
            </a:r>
            <a:r>
              <a:rPr sz="2750" spc="-114" dirty="0">
                <a:latin typeface="Arial"/>
                <a:cs typeface="Arial"/>
              </a:rPr>
              <a:t> </a:t>
            </a:r>
            <a:r>
              <a:rPr sz="2750" dirty="0">
                <a:latin typeface="Arial"/>
                <a:cs typeface="Arial"/>
              </a:rPr>
              <a:t>attribute</a:t>
            </a:r>
            <a:r>
              <a:rPr sz="2750" spc="-120" dirty="0">
                <a:latin typeface="Arial"/>
                <a:cs typeface="Arial"/>
              </a:rPr>
              <a:t> </a:t>
            </a:r>
            <a:r>
              <a:rPr sz="2750" dirty="0">
                <a:latin typeface="Arial"/>
                <a:cs typeface="Arial"/>
              </a:rPr>
              <a:t>within</a:t>
            </a:r>
            <a:r>
              <a:rPr sz="2750" spc="-45" dirty="0">
                <a:latin typeface="Arial"/>
                <a:cs typeface="Arial"/>
              </a:rPr>
              <a:t> </a:t>
            </a:r>
            <a:r>
              <a:rPr sz="2750" dirty="0">
                <a:latin typeface="Arial"/>
                <a:cs typeface="Arial"/>
              </a:rPr>
              <a:t>the</a:t>
            </a:r>
            <a:r>
              <a:rPr sz="2750" spc="-120" dirty="0">
                <a:latin typeface="Arial"/>
                <a:cs typeface="Arial"/>
              </a:rPr>
              <a:t> </a:t>
            </a:r>
            <a:r>
              <a:rPr sz="2750" spc="-10" dirty="0">
                <a:latin typeface="Arial"/>
                <a:cs typeface="Arial"/>
              </a:rPr>
              <a:t>&lt;</a:t>
            </a:r>
            <a:r>
              <a:rPr sz="2750" spc="-10" dirty="0" err="1">
                <a:latin typeface="Arial"/>
                <a:cs typeface="Arial"/>
              </a:rPr>
              <a:t>img</a:t>
            </a:r>
            <a:r>
              <a:rPr sz="2750" spc="-10" dirty="0">
                <a:latin typeface="Arial"/>
                <a:cs typeface="Arial"/>
              </a:rPr>
              <a:t>&gt; </a:t>
            </a:r>
            <a:r>
              <a:rPr sz="2750" spc="-105" dirty="0">
                <a:latin typeface="Arial"/>
                <a:cs typeface="Arial"/>
              </a:rPr>
              <a:t>tag.</a:t>
            </a:r>
            <a:r>
              <a:rPr sz="2750" spc="-110" dirty="0">
                <a:latin typeface="Arial"/>
                <a:cs typeface="Arial"/>
              </a:rPr>
              <a:t> </a:t>
            </a:r>
            <a:r>
              <a:rPr sz="2750" spc="70" dirty="0">
                <a:latin typeface="Arial"/>
                <a:cs typeface="Arial"/>
              </a:rPr>
              <a:t>It</a:t>
            </a:r>
            <a:r>
              <a:rPr sz="2750" spc="-110" dirty="0">
                <a:latin typeface="Arial"/>
                <a:cs typeface="Arial"/>
              </a:rPr>
              <a:t> </a:t>
            </a:r>
            <a:r>
              <a:rPr sz="2750" spc="-170" dirty="0">
                <a:latin typeface="Arial"/>
                <a:cs typeface="Arial"/>
              </a:rPr>
              <a:t>serves</a:t>
            </a:r>
            <a:r>
              <a:rPr sz="2750" spc="-114" dirty="0">
                <a:latin typeface="Arial"/>
                <a:cs typeface="Arial"/>
              </a:rPr>
              <a:t> </a:t>
            </a:r>
            <a:r>
              <a:rPr sz="2750" spc="-130" dirty="0">
                <a:latin typeface="Arial"/>
                <a:cs typeface="Arial"/>
              </a:rPr>
              <a:t>several</a:t>
            </a:r>
            <a:r>
              <a:rPr sz="2750" spc="-114" dirty="0">
                <a:latin typeface="Arial"/>
                <a:cs typeface="Arial"/>
              </a:rPr>
              <a:t> </a:t>
            </a:r>
            <a:r>
              <a:rPr sz="2750" spc="-10" dirty="0">
                <a:latin typeface="Arial"/>
                <a:cs typeface="Arial"/>
              </a:rPr>
              <a:t>important</a:t>
            </a:r>
            <a:r>
              <a:rPr sz="2750" spc="-114" dirty="0">
                <a:latin typeface="Arial"/>
                <a:cs typeface="Arial"/>
              </a:rPr>
              <a:t> purposes </a:t>
            </a:r>
            <a:r>
              <a:rPr sz="2750" dirty="0">
                <a:latin typeface="Arial"/>
                <a:cs typeface="Arial"/>
              </a:rPr>
              <a:t>for</a:t>
            </a:r>
            <a:r>
              <a:rPr sz="2750" spc="-75" dirty="0">
                <a:latin typeface="Arial"/>
                <a:cs typeface="Arial"/>
              </a:rPr>
              <a:t> </a:t>
            </a:r>
            <a:r>
              <a:rPr sz="2750" spc="-470" dirty="0">
                <a:latin typeface="Arial"/>
                <a:cs typeface="Arial"/>
              </a:rPr>
              <a:t>SEO</a:t>
            </a:r>
            <a:endParaRPr sz="2750" dirty="0">
              <a:latin typeface="Arial"/>
              <a:cs typeface="Arial"/>
            </a:endParaRPr>
          </a:p>
          <a:p>
            <a:pPr marL="241300" marR="279400" indent="-229235">
              <a:lnSpc>
                <a:spcPct val="92200"/>
              </a:lnSpc>
              <a:spcBef>
                <a:spcPts val="940"/>
              </a:spcBef>
              <a:buChar char="•"/>
              <a:tabLst>
                <a:tab pos="241300" algn="l"/>
                <a:tab pos="321945" algn="l"/>
              </a:tabLst>
            </a:pPr>
            <a:r>
              <a:rPr sz="2750" dirty="0">
                <a:latin typeface="Arial"/>
                <a:cs typeface="Arial"/>
              </a:rPr>
              <a:t>	If</a:t>
            </a:r>
            <a:r>
              <a:rPr sz="2750" spc="-100" dirty="0">
                <a:latin typeface="Arial"/>
                <a:cs typeface="Arial"/>
              </a:rPr>
              <a:t> </a:t>
            </a:r>
            <a:r>
              <a:rPr sz="2750" spc="-135" dirty="0">
                <a:latin typeface="Arial"/>
                <a:cs typeface="Arial"/>
              </a:rPr>
              <a:t>an</a:t>
            </a:r>
            <a:r>
              <a:rPr sz="2750" spc="-110" dirty="0">
                <a:latin typeface="Arial"/>
                <a:cs typeface="Arial"/>
              </a:rPr>
              <a:t> </a:t>
            </a:r>
            <a:r>
              <a:rPr sz="2750" spc="-140" dirty="0">
                <a:latin typeface="Arial"/>
                <a:cs typeface="Arial"/>
              </a:rPr>
              <a:t>image</a:t>
            </a:r>
            <a:r>
              <a:rPr sz="2750" spc="-114" dirty="0">
                <a:latin typeface="Arial"/>
                <a:cs typeface="Arial"/>
              </a:rPr>
              <a:t> </a:t>
            </a:r>
            <a:r>
              <a:rPr sz="2750" spc="-85" dirty="0">
                <a:latin typeface="Arial"/>
                <a:cs typeface="Arial"/>
              </a:rPr>
              <a:t>fails</a:t>
            </a:r>
            <a:r>
              <a:rPr sz="2750" spc="-40" dirty="0">
                <a:latin typeface="Arial"/>
                <a:cs typeface="Arial"/>
              </a:rPr>
              <a:t> </a:t>
            </a:r>
            <a:r>
              <a:rPr sz="2750" spc="-25" dirty="0">
                <a:latin typeface="Arial"/>
                <a:cs typeface="Arial"/>
              </a:rPr>
              <a:t>to </a:t>
            </a:r>
            <a:r>
              <a:rPr sz="2750" spc="-70" dirty="0">
                <a:latin typeface="Arial"/>
                <a:cs typeface="Arial"/>
              </a:rPr>
              <a:t>load,</a:t>
            </a:r>
            <a:r>
              <a:rPr sz="2750" spc="-105" dirty="0">
                <a:latin typeface="Arial"/>
                <a:cs typeface="Arial"/>
              </a:rPr>
              <a:t> </a:t>
            </a:r>
            <a:r>
              <a:rPr sz="2750" dirty="0">
                <a:latin typeface="Arial"/>
                <a:cs typeface="Arial"/>
              </a:rPr>
              <a:t>the</a:t>
            </a:r>
            <a:r>
              <a:rPr sz="2750" spc="-120" dirty="0">
                <a:latin typeface="Arial"/>
                <a:cs typeface="Arial"/>
              </a:rPr>
              <a:t> </a:t>
            </a:r>
            <a:r>
              <a:rPr sz="2750" dirty="0">
                <a:latin typeface="Arial"/>
                <a:cs typeface="Arial"/>
              </a:rPr>
              <a:t>alt</a:t>
            </a:r>
            <a:r>
              <a:rPr sz="2750" spc="-114" dirty="0">
                <a:latin typeface="Arial"/>
                <a:cs typeface="Arial"/>
              </a:rPr>
              <a:t> </a:t>
            </a:r>
            <a:r>
              <a:rPr sz="2750" spc="-10" dirty="0">
                <a:latin typeface="Arial"/>
                <a:cs typeface="Arial"/>
              </a:rPr>
              <a:t>text</a:t>
            </a:r>
            <a:r>
              <a:rPr sz="2750" spc="-125" dirty="0">
                <a:latin typeface="Arial"/>
                <a:cs typeface="Arial"/>
              </a:rPr>
              <a:t> </a:t>
            </a:r>
            <a:r>
              <a:rPr sz="2750" spc="-135" dirty="0">
                <a:latin typeface="Arial"/>
                <a:cs typeface="Arial"/>
              </a:rPr>
              <a:t>appears</a:t>
            </a:r>
            <a:r>
              <a:rPr sz="2750" spc="-120" dirty="0">
                <a:latin typeface="Arial"/>
                <a:cs typeface="Arial"/>
              </a:rPr>
              <a:t> </a:t>
            </a:r>
            <a:r>
              <a:rPr sz="2750" dirty="0">
                <a:latin typeface="Arial"/>
                <a:cs typeface="Arial"/>
              </a:rPr>
              <a:t>in</a:t>
            </a:r>
            <a:r>
              <a:rPr sz="2750" spc="-125" dirty="0">
                <a:latin typeface="Arial"/>
                <a:cs typeface="Arial"/>
              </a:rPr>
              <a:t> place</a:t>
            </a:r>
            <a:r>
              <a:rPr sz="2750" spc="-120" dirty="0">
                <a:latin typeface="Arial"/>
                <a:cs typeface="Arial"/>
              </a:rPr>
              <a:t> </a:t>
            </a:r>
            <a:r>
              <a:rPr sz="2750" dirty="0">
                <a:latin typeface="Arial"/>
                <a:cs typeface="Arial"/>
              </a:rPr>
              <a:t>of</a:t>
            </a:r>
            <a:r>
              <a:rPr sz="2750" spc="-180" dirty="0">
                <a:latin typeface="Arial"/>
                <a:cs typeface="Arial"/>
              </a:rPr>
              <a:t> </a:t>
            </a:r>
            <a:r>
              <a:rPr sz="2750" dirty="0">
                <a:latin typeface="Arial"/>
                <a:cs typeface="Arial"/>
              </a:rPr>
              <a:t>the</a:t>
            </a:r>
            <a:r>
              <a:rPr sz="2750" spc="-120" dirty="0">
                <a:latin typeface="Arial"/>
                <a:cs typeface="Arial"/>
              </a:rPr>
              <a:t> </a:t>
            </a:r>
            <a:r>
              <a:rPr sz="2750" spc="-140" dirty="0">
                <a:latin typeface="Arial"/>
                <a:cs typeface="Arial"/>
              </a:rPr>
              <a:t>image,</a:t>
            </a:r>
            <a:r>
              <a:rPr sz="2750" spc="-100" dirty="0">
                <a:latin typeface="Arial"/>
                <a:cs typeface="Arial"/>
              </a:rPr>
              <a:t> </a:t>
            </a:r>
            <a:r>
              <a:rPr sz="2750" spc="-60" dirty="0">
                <a:latin typeface="Arial"/>
                <a:cs typeface="Arial"/>
              </a:rPr>
              <a:t>providing</a:t>
            </a:r>
            <a:r>
              <a:rPr sz="2750" spc="-120" dirty="0">
                <a:latin typeface="Arial"/>
                <a:cs typeface="Arial"/>
              </a:rPr>
              <a:t> </a:t>
            </a:r>
            <a:r>
              <a:rPr sz="2750" spc="-65" dirty="0">
                <a:latin typeface="Arial"/>
                <a:cs typeface="Arial"/>
              </a:rPr>
              <a:t>context</a:t>
            </a:r>
            <a:r>
              <a:rPr sz="2750" spc="-114" dirty="0">
                <a:latin typeface="Arial"/>
                <a:cs typeface="Arial"/>
              </a:rPr>
              <a:t> </a:t>
            </a:r>
            <a:r>
              <a:rPr sz="2750" spc="-25" dirty="0">
                <a:latin typeface="Arial"/>
                <a:cs typeface="Arial"/>
              </a:rPr>
              <a:t>so </a:t>
            </a:r>
            <a:r>
              <a:rPr sz="2750" spc="-165" dirty="0">
                <a:latin typeface="Arial"/>
                <a:cs typeface="Arial"/>
              </a:rPr>
              <a:t>users</a:t>
            </a:r>
            <a:r>
              <a:rPr sz="2750" spc="-90" dirty="0">
                <a:latin typeface="Arial"/>
                <a:cs typeface="Arial"/>
              </a:rPr>
              <a:t> </a:t>
            </a:r>
            <a:r>
              <a:rPr sz="2750" spc="-20" dirty="0">
                <a:latin typeface="Arial"/>
                <a:cs typeface="Arial"/>
              </a:rPr>
              <a:t>aren’t</a:t>
            </a:r>
            <a:r>
              <a:rPr sz="2750" spc="-85" dirty="0">
                <a:latin typeface="Arial"/>
                <a:cs typeface="Arial"/>
              </a:rPr>
              <a:t> </a:t>
            </a:r>
            <a:r>
              <a:rPr sz="2750" dirty="0">
                <a:latin typeface="Arial"/>
                <a:cs typeface="Arial"/>
              </a:rPr>
              <a:t>left</a:t>
            </a:r>
            <a:r>
              <a:rPr sz="2750" spc="-80" dirty="0">
                <a:latin typeface="Arial"/>
                <a:cs typeface="Arial"/>
              </a:rPr>
              <a:t> </a:t>
            </a:r>
            <a:r>
              <a:rPr sz="2750" spc="-35" dirty="0">
                <a:latin typeface="Arial"/>
                <a:cs typeface="Arial"/>
              </a:rPr>
              <a:t>guessing.</a:t>
            </a:r>
            <a:endParaRPr sz="275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E3CAD-1F92-FAC1-1A69-BB5F8694F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002" y="537242"/>
            <a:ext cx="6500116" cy="572620"/>
          </a:xfrm>
        </p:spPr>
        <p:txBody>
          <a:bodyPr>
            <a:normAutofit fontScale="90000"/>
          </a:bodyPr>
          <a:lstStyle/>
          <a:p>
            <a:r>
              <a:rPr lang="en-DK"/>
              <a:t>Validering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7C6769-851B-1D3A-3054-4D1713D7384A}"/>
              </a:ext>
            </a:extLst>
          </p:cNvPr>
          <p:cNvSpPr txBox="1"/>
          <p:nvPr/>
        </p:nvSpPr>
        <p:spPr>
          <a:xfrm>
            <a:off x="2551043" y="1714785"/>
            <a:ext cx="4928804" cy="31282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82988" tIns="41494" rIns="82988" bIns="41494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15366" indent="-315366">
              <a:buFont typeface="Wingdings"/>
              <a:buChar char="§"/>
            </a:pPr>
            <a:r>
              <a:rPr lang="en-US" sz="2541">
                <a:solidFill>
                  <a:srgbClr val="404040"/>
                </a:solidFill>
                <a:latin typeface="Trebuchet MS"/>
              </a:rPr>
              <a:t>Check your code for syntax errors</a:t>
            </a:r>
          </a:p>
          <a:p>
            <a:pPr marL="672227" indent="-257272">
              <a:buFont typeface="Wingdings"/>
              <a:buChar char="§"/>
            </a:pPr>
            <a:r>
              <a:rPr lang="en-US" sz="2178">
                <a:solidFill>
                  <a:srgbClr val="404040"/>
                </a:solidFill>
                <a:latin typeface="Trebuchet MS"/>
              </a:rPr>
              <a:t>Benefit:</a:t>
            </a:r>
          </a:p>
          <a:p>
            <a:pPr marL="1037387" indent="-207477">
              <a:buFont typeface="Wingdings"/>
              <a:buChar char="§"/>
            </a:pPr>
            <a:r>
              <a:rPr lang="en-US" sz="2178">
                <a:solidFill>
                  <a:srgbClr val="404040"/>
                </a:solidFill>
                <a:latin typeface="Trebuchet MS"/>
              </a:rPr>
              <a:t>Valid code </a:t>
            </a:r>
            <a:r>
              <a:rPr lang="en-US" sz="2178">
                <a:solidFill>
                  <a:srgbClr val="404040"/>
                </a:solidFill>
                <a:latin typeface="Trebuchet MS"/>
                <a:sym typeface="Wingdings"/>
              </a:rPr>
              <a:t></a:t>
            </a:r>
            <a:r>
              <a:rPr lang="en-US" sz="2178">
                <a:solidFill>
                  <a:srgbClr val="404040"/>
                </a:solidFill>
                <a:latin typeface="Trebuchet MS"/>
              </a:rPr>
              <a:t> </a:t>
            </a:r>
            <a:br>
              <a:rPr lang="en-US" sz="2178">
                <a:solidFill>
                  <a:srgbClr val="404040"/>
                </a:solidFill>
                <a:latin typeface="Trebuchet MS"/>
              </a:rPr>
            </a:br>
            <a:r>
              <a:rPr lang="en-US" sz="2178">
                <a:solidFill>
                  <a:srgbClr val="404040"/>
                </a:solidFill>
                <a:latin typeface="Trebuchet MS"/>
              </a:rPr>
              <a:t>more consistent browser display</a:t>
            </a:r>
          </a:p>
          <a:p>
            <a:pPr marL="1037387" indent="-207477"/>
            <a:endParaRPr lang="LID4096" sz="1634"/>
          </a:p>
          <a:p>
            <a:pPr marL="315366" indent="-315366">
              <a:buFont typeface="Wingdings"/>
              <a:buChar char="§"/>
            </a:pPr>
            <a:r>
              <a:rPr lang="en-US" sz="2541">
                <a:solidFill>
                  <a:srgbClr val="404040"/>
                </a:solidFill>
                <a:latin typeface="Trebuchet MS"/>
              </a:rPr>
              <a:t>W3C HTML Validation Tool</a:t>
            </a:r>
          </a:p>
          <a:p>
            <a:pPr marL="672227" indent="-257272">
              <a:buFont typeface="Wingdings"/>
              <a:buChar char="§"/>
            </a:pPr>
            <a:r>
              <a:rPr lang="en-US" sz="1815">
                <a:solidFill>
                  <a:srgbClr val="404040"/>
                </a:solidFill>
                <a:latin typeface="Trebuchet MS"/>
                <a:hlinkClick r:id="rId2"/>
              </a:rPr>
              <a:t>http://validator.w3.org</a:t>
            </a:r>
          </a:p>
        </p:txBody>
      </p:sp>
    </p:spTree>
    <p:extLst>
      <p:ext uri="{BB962C8B-B14F-4D97-AF65-F5344CB8AC3E}">
        <p14:creationId xmlns:p14="http://schemas.microsoft.com/office/powerpoint/2010/main" val="900791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381E-143D-70B1-62ED-C95EA5394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opgave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DED0F-BBF3-18E8-08A0-3B62B8CFC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K" dirty="0"/>
              <a:t>Gruppe opave</a:t>
            </a:r>
          </a:p>
        </p:txBody>
      </p:sp>
    </p:spTree>
    <p:extLst>
      <p:ext uri="{BB962C8B-B14F-4D97-AF65-F5344CB8AC3E}">
        <p14:creationId xmlns:p14="http://schemas.microsoft.com/office/powerpoint/2010/main" val="19877805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65B7C-0881-0696-8698-D6AB29709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057" y="307593"/>
            <a:ext cx="9158922" cy="677108"/>
          </a:xfrm>
        </p:spPr>
        <p:txBody>
          <a:bodyPr>
            <a:normAutofit fontScale="90000"/>
          </a:bodyPr>
          <a:lstStyle/>
          <a:p>
            <a:r>
              <a:rPr lang="en-DK"/>
              <a:t>Pre-launch check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B8FA1E-E219-C3C0-04AD-E763371EC650}"/>
              </a:ext>
            </a:extLst>
          </p:cNvPr>
          <p:cNvSpPr txBox="1"/>
          <p:nvPr/>
        </p:nvSpPr>
        <p:spPr>
          <a:xfrm>
            <a:off x="3048000" y="1586823"/>
            <a:ext cx="6096000" cy="175432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buNone/>
            </a:pPr>
            <a:r>
              <a:rPr lang="en-GB" dirty="0"/>
              <a:t>you’ll want to run through a quick checklist:</a:t>
            </a:r>
          </a:p>
          <a:p>
            <a:pPr>
              <a:buFont typeface="+mj-lt"/>
              <a:buAutoNum type="arabicPeriod"/>
            </a:pPr>
            <a:r>
              <a:rPr lang="en-GB" dirty="0"/>
              <a:t>Is your website folder organized  </a:t>
            </a:r>
          </a:p>
          <a:p>
            <a:pPr>
              <a:buFont typeface="+mj-lt"/>
              <a:buAutoNum type="arabicPeriod"/>
            </a:pPr>
            <a:r>
              <a:rPr lang="en-GB" dirty="0"/>
              <a:t>Are all of your links properly formatted? </a:t>
            </a:r>
          </a:p>
          <a:p>
            <a:pPr>
              <a:buFont typeface="+mj-lt"/>
              <a:buAutoNum type="arabicPeriod"/>
            </a:pPr>
            <a:r>
              <a:rPr lang="en-GB" dirty="0"/>
              <a:t>Are there any references to images/videos  works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4601023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849f5a5-735c-42fe-b98c-e71ffb699442">
      <Terms xmlns="http://schemas.microsoft.com/office/infopath/2007/PartnerControls"/>
    </lcf76f155ced4ddcb4097134ff3c332f>
    <TaxCatchAll xmlns="92085a0b-995c-4352-a904-96fa709bce5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EB4FDFDDEF084D824E2343C1FDD94C" ma:contentTypeVersion="12" ma:contentTypeDescription="Create a new document." ma:contentTypeScope="" ma:versionID="c61ce0d62721950094d3f1e82d2b003d">
  <xsd:schema xmlns:xsd="http://www.w3.org/2001/XMLSchema" xmlns:xs="http://www.w3.org/2001/XMLSchema" xmlns:p="http://schemas.microsoft.com/office/2006/metadata/properties" xmlns:ns2="e849f5a5-735c-42fe-b98c-e71ffb699442" xmlns:ns3="92085a0b-995c-4352-a904-96fa709bce5d" targetNamespace="http://schemas.microsoft.com/office/2006/metadata/properties" ma:root="true" ma:fieldsID="6ecf9a8dd387c710eaa4bd46aa8c1577" ns2:_="" ns3:_="">
    <xsd:import namespace="e849f5a5-735c-42fe-b98c-e71ffb699442"/>
    <xsd:import namespace="92085a0b-995c-4352-a904-96fa709bce5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49f5a5-735c-42fe-b98c-e71ffb69944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ad5c13d8-c446-4f20-8680-8f99546cc05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085a0b-995c-4352-a904-96fa709bce5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644ef0c5-35ef-4487-9715-50fcb9f14da1}" ma:internalName="TaxCatchAll" ma:showField="CatchAllData" ma:web="92085a0b-995c-4352-a904-96fa709bce5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87F13CA-5568-495C-B874-4AE9D187D7B2}">
  <ds:schemaRefs>
    <ds:schemaRef ds:uri="92085a0b-995c-4352-a904-96fa709bce5d"/>
    <ds:schemaRef ds:uri="e849f5a5-735c-42fe-b98c-e71ffb699442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DB1F1D0A-E068-4053-891F-90139FC8843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63D11BC-38B6-420C-BF6D-921192027A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849f5a5-735c-42fe-b98c-e71ffb699442"/>
    <ds:schemaRef ds:uri="92085a0b-995c-4352-a904-96fa709bce5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13</TotalTime>
  <Words>377</Words>
  <Application>Microsoft Macintosh PowerPoint</Application>
  <PresentationFormat>Widescreen</PresentationFormat>
  <Paragraphs>65</Paragraphs>
  <Slides>14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Arial</vt:lpstr>
      <vt:lpstr>Calibri</vt:lpstr>
      <vt:lpstr>Gill Sans MT</vt:lpstr>
      <vt:lpstr>Trebuchet MS</vt:lpstr>
      <vt:lpstr>Wingdings</vt:lpstr>
      <vt:lpstr>Parcel</vt:lpstr>
      <vt:lpstr>Repetition HTML</vt:lpstr>
      <vt:lpstr>The Old Div and New html5 element</vt:lpstr>
      <vt:lpstr>HTML5 Semantic</vt:lpstr>
      <vt:lpstr>PowerPoint Presentation</vt:lpstr>
      <vt:lpstr>HTML5 Semantic Structure Elements</vt:lpstr>
      <vt:lpstr>Figure and fig caption</vt:lpstr>
      <vt:lpstr>New image formats</vt:lpstr>
      <vt:lpstr>Title (title tag) </vt:lpstr>
      <vt:lpstr>Meta tags</vt:lpstr>
      <vt:lpstr>Meta No index</vt:lpstr>
      <vt:lpstr>Alt  text</vt:lpstr>
      <vt:lpstr>Validering</vt:lpstr>
      <vt:lpstr>opgave</vt:lpstr>
      <vt:lpstr>Pre-launch check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Xiaolei Bi</dc:creator>
  <cp:lastModifiedBy>Xiaolei Bi</cp:lastModifiedBy>
  <cp:revision>11</cp:revision>
  <dcterms:created xsi:type="dcterms:W3CDTF">2025-09-26T11:54:37Z</dcterms:created>
  <dcterms:modified xsi:type="dcterms:W3CDTF">2026-09-18T08:25:07Z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0x0101008FEB4FDFDDEF084D824E2343C1FDD94C</vt:lpwstr>
  </property>
  <property fmtid="{D5CDD505-2E9C-101B-9397-08002B2CF9AE}" pid="3" name="MediaServiceImageTags">
    <vt:lpwstr/>
  </property>
</Properties>
</file>